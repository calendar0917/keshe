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，让我们了解一下项目的背景。文件传输是计算机网络中最基础和最常用的应用之一。传统的FTP服务器虽然功能完善，但协议复杂度高，对于特定应用场景而言过于庞大。因此，设计一个轻量级、可定制的文件传输服务器具有实际工程价值。本课程设计的目标是综合运用网络编程、多线程并发等核心技术，深入理解C/S架构的工作原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，让我们看看系统的总体架构。本系统采用经典的客户端-服务器架构。服务器端监听指定端口，接受客户端连接请求。客户端通过TCP连接与服务器通信，发送命令请求并接收响应。系统采用多线程并发处理，每个客户端连接由独立的工作线程处理，支持多个客户端同时操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，让我们深入了解自定义协议的设计。系统采用二进制协议，包含15字节的固定头部和可变长度的负载。协议头部包括魔数标识、版本号、消息类型、命令码、状态码、负载长度和CRC32校验值。这种设计相比文本协议具有传输效率高、解析速度快的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协议设计中，状态码和命令码是非常重要的组成部分。状态码用于反馈操作结果，如成功、文件不存在、路径非法等。命令码定义了系统支持的操作，包括创建目录、上传下载文件、列目录、删除和重命名等。这种分段编码设计便于未来扩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系统采用模块化的代码组织方式。协议层负责数据格式化与校验，传输层处理文件上传下载和进度管理，应用层实现命令处理和用户交互，工具层提供路径校验、日志等通用辅助功能。各层职责清晰，接口明确。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并发处理方面，系统采用"每连接一线程"的模型。主线程负责监听和接受连接，每个新连接由pthread_create创建工作线程进行处理。工作线程设置为分离状态，结束后自动回收资源。这种模型实现简单，适合连接数不高的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文件传输是系统的核心功能。系统采用分块传输策略，每块8KB，支持大文件传输。每个数据块都附带CRC32校验值，确保数据完整性。传输过程中实时显示进度条和传输速率，给用户直观的反馈。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安全防护方面，系统实现了多层防护机制。首先是路径遍历防护，禁止使用绝对路径和上级目录引用。其次是文件操作限制，所有操作都限制在服务器根目录范围内。最后是文件创建防护，使用O_EXCL模式防止文件覆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这里展示了CRC32校验算法的核心实现。系统采用查表法，通过预计算256项查找表，将时间复杂度从O(n×32)降低到O(n)。这是性能优化的一个典型例子，体现了算法选择对程序效率的重要影响。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接下来是系统演示部分。请观看实际运行演示，展示文件上传、下载、目录管理等功能。演示将展示系统的交互式Shell界面、进度条显示、大文件传输等核心功能。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这里展示了演示的三个关键场景。文件上传演示展示了进度条和传输速率。目录列出演示展示了文件信息的完整显示。大文件传输演示展示了系统的可靠性和性能。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系统经过了全面的集成测试，10项测试用例全部通过。测试覆盖了文件上传、下载、目录管理、重命名、删除、安全防护和大文件传输等全部功能。测试环境为Arch Linux，使用GCC 16.1.1编译器，本地回环测试。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本次课程设计，我收获了很多。在技术层面，深入理解了网络编程、多线程并发、协议设计和数据校验。在工程层面，掌握了模块化代码组织、测试自动化和编译期断言验证。在安全层面，理解了输入验证和路径校验的重要性。更重要的是，积累了宝贵的实践经验，提升了调试能力和问题解决能力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5000"/>
                </a:srgbClr>
              </a:gs>
              <a:gs pos="100000">
                <a:srgbClr val="1A73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FC3F7">
                  <a:alpha val="10000"/>
                </a:srgbClr>
              </a:gs>
              <a:gs pos="100000">
                <a:srgbClr val="4FC3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noFill/>
          <a:ln w="9525">
            <a:solidFill>
              <a:srgbClr val="1A73E8">
                <a:alpha val="15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048750" y="0"/>
            <a:ext cx="2857500" cy="2857500"/>
          </a:xfrm>
          <a:prstGeom prst="ellipse">
            <a:avLst/>
          </a:prstGeom>
          <a:noFill/>
          <a:ln w="4762">
            <a:solidFill>
              <a:srgbClr val="4FC3F7">
                <a:alpha val="1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571500" y="4572000"/>
            <a:ext cx="2286000" cy="2286000"/>
          </a:xfrm>
          <a:prstGeom prst="ellipse">
            <a:avLst/>
          </a:prstGeom>
          <a:noFill/>
          <a:ln w="4762">
            <a:solidFill>
              <a:srgbClr val="1A73E8">
                <a:alpha val="12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0" y="495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1A73E8">
                <a:alpha val="8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2857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FC3F7">
                <a:alpha val="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020175" y="923925"/>
            <a:ext cx="57150" cy="57150"/>
          </a:xfrm>
          <a:prstGeom prst="ellipse">
            <a:avLst/>
          </a:prstGeom>
          <a:solidFill>
            <a:srgbClr val="4FC3F7">
              <a:alpha val="3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315450" y="742950"/>
            <a:ext cx="38100" cy="38100"/>
          </a:xfrm>
          <a:prstGeom prst="ellipse">
            <a:avLst/>
          </a:prstGeom>
          <a:solidFill>
            <a:srgbClr val="1A73E8">
              <a:alpha val="2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677400" y="1104900"/>
            <a:ext cx="76200" cy="76200"/>
          </a:xfrm>
          <a:prstGeom prst="ellipse">
            <a:avLst/>
          </a:prstGeom>
          <a:solidFill>
            <a:srgbClr val="4FC3F7">
              <a:alpha val="1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23925" y="1876425"/>
            <a:ext cx="57150" cy="57150"/>
          </a:xfrm>
          <a:prstGeom prst="ellipse">
            <a:avLst/>
          </a:prstGeom>
          <a:solidFill>
            <a:srgbClr val="4FC3F7">
              <a:alpha val="2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219200" y="1695450"/>
            <a:ext cx="38100" cy="38100"/>
          </a:xfrm>
          <a:prstGeom prst="ellipse">
            <a:avLst/>
          </a:prstGeom>
          <a:solidFill>
            <a:srgbClr val="1A73E8">
              <a:alpha val="15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521970" y="2571750"/>
            <a:ext cx="8793480" cy="2057400"/>
            <a:chOff x="521970" y="2571750"/>
            <a:chExt cx="8793480" cy="2057400"/>
          </a:xfrm>
        </p:grpSpPr>
        <p:sp>
          <p:nvSpPr>
            <p:cNvPr id="15" name="Rectangle 15"/>
            <p:cNvSpPr/>
            <p:nvPr/>
          </p:nvSpPr>
          <p:spPr>
            <a:xfrm>
              <a:off x="571500" y="26670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1970" y="2912745"/>
              <a:ext cx="341837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基于C语言的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1970" y="3484245"/>
              <a:ext cx="727595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文件传输服务器设计与实现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450" y="4219575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课程设计答辩演示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4619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4FC3F7">
                  <a:alpha val="40000"/>
                </a:srgbClr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829550" y="2571750"/>
              <a:ext cx="1485900" cy="571500"/>
              <a:chOff x="7829550" y="2571750"/>
              <a:chExt cx="1485900" cy="571500"/>
            </a:xfrm>
          </p:grpSpPr>
          <p:sp>
            <p:nvSpPr>
              <p:cNvPr id="20" name="Polygon 20"/>
              <p:cNvSpPr/>
              <p:nvPr/>
            </p:nvSpPr>
            <p:spPr>
              <a:xfrm>
                <a:off x="83248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9525">
                <a:solidFill>
                  <a:srgbClr val="1A73E8">
                    <a:alpha val="20000"/>
                  </a:srgbClr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88201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4762">
                <a:solidFill>
                  <a:srgbClr val="4FC3F7">
                    <a:alpha val="15000"/>
                  </a:srgbClr>
                </a:solidFill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78295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4762">
                <a:solidFill>
                  <a:srgbClr val="1A73E8">
                    <a:alpha val="15000"/>
                  </a:srgbClr>
                </a:solidFill>
              </a:ln>
            </p:spPr>
          </p:sp>
        </p:grpSp>
      </p:grpSp>
      <p:sp>
        <p:nvSpPr>
          <p:cNvPr id="25" name="Rectangle 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D47A1">
              <a:alpha val="6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8165" y="650652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2026年5月 | 网络编程课程设计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59039" y="6538912"/>
            <a:ext cx="2709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666750" cy="276225"/>
            <a:chOff x="571500" y="476250"/>
            <a:chExt cx="666750" cy="276225"/>
          </a:xfrm>
        </p:grpSpPr>
        <p:sp>
          <p:nvSpPr>
            <p:cNvPr id="4" name="Rectangle 4"/>
            <p:cNvSpPr/>
            <p:nvPr/>
          </p:nvSpPr>
          <p:spPr>
            <a:xfrm>
              <a:off x="571500" y="47625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00221" y="56959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904875"/>
            <a:ext cx="2433352" cy="438150"/>
            <a:chOff x="571500" y="904875"/>
            <a:chExt cx="2433352" cy="438150"/>
          </a:xfrm>
        </p:grpSpPr>
        <p:sp>
          <p:nvSpPr>
            <p:cNvPr id="7" name="Rectangle 7"/>
            <p:cNvSpPr/>
            <p:nvPr/>
          </p:nvSpPr>
          <p:spPr>
            <a:xfrm>
              <a:off x="571500" y="904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9163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项目背景与目标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571625"/>
            <a:ext cx="3524250" cy="4572000"/>
            <a:chOff x="571500" y="1571625"/>
            <a:chExt cx="3524250" cy="4572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61202" y="1828800"/>
              <a:ext cx="93449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 dirty="0">
                  <a:solidFill>
                    <a:srgbClr val="E3F2FD"/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8200" y="18383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文件传输的重要性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57250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文件传输是计算机网络中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62" y="26408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最基础、最常用的应用之一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2962" y="3021806"/>
              <a:ext cx="16798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HTTP文件下载与上传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962" y="3259931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远程文件同步与备份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962" y="34980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分布式系统数据交换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962" y="387905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传统的FTP协议虽然功能完善，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962" y="411718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但协议复杂度高，对特定应用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2962" y="43553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场景而言过于庞大。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33875" y="1571625"/>
            <a:ext cx="3524250" cy="4572000"/>
            <a:chOff x="4333875" y="1571625"/>
            <a:chExt cx="3524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4333875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33875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3548" y="182880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 dirty="0">
                  <a:solidFill>
                    <a:srgbClr val="E3F2FD"/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0575" y="18383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轻量级需求与矛盾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619625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4FC3F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05338" y="24026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现有方案的不足：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5338" y="2783681"/>
              <a:ext cx="2246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FTP：协议复杂，依赖双通道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338" y="3021806"/>
              <a:ext cx="26656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TFTP：功能过于简单，无安全机制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5338" y="3259931"/>
              <a:ext cx="1844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HTTP：通用性强但缺乏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95838" y="34980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文件管理功能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5338" y="38790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设计一个轻量级、可定制的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5338" y="4117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文件传输服务器具有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5338" y="4355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实际工程价值。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96250" y="1571625"/>
            <a:ext cx="3524250" cy="4572000"/>
            <a:chOff x="8096250" y="1571625"/>
            <a:chExt cx="3524250" cy="4572000"/>
          </a:xfrm>
        </p:grpSpPr>
        <p:sp>
          <p:nvSpPr>
            <p:cNvPr id="38" name="Rectangle 38"/>
            <p:cNvSpPr/>
            <p:nvPr/>
          </p:nvSpPr>
          <p:spPr>
            <a:xfrm>
              <a:off x="8096250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96250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55924" y="182880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b="1" dirty="0">
                  <a:solidFill>
                    <a:srgbClr val="FDE8E0"/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2950" y="1838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课程设计目标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382000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67712" y="2402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综合运用核心技术：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67712" y="2783681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Socket网络编程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67712" y="30218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多线程并发处理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67712" y="3259931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二进制协议设计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7712" y="34980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数据完整性校验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7712" y="3879056"/>
              <a:ext cx="1449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深入理解C/S架构的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7712" y="4117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工作原理，完整经历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7712" y="43553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网络应用软件开发过程。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3" grpId="0"/>
      <p:bldP spid="37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2000"/>
                </a:srgbClr>
              </a:gs>
              <a:gs pos="100000">
                <a:srgbClr val="1A73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4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11" name="Rectangle 11"/>
            <p:cNvSpPr/>
            <p:nvPr/>
          </p:nvSpPr>
          <p:spPr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0221" y="47434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Part 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809625"/>
            <a:ext cx="2111311" cy="438150"/>
            <a:chOff x="571500" y="809625"/>
            <a:chExt cx="2111311" cy="438150"/>
          </a:xfrm>
        </p:grpSpPr>
        <p:sp>
          <p:nvSpPr>
            <p:cNvPr id="14" name="Rectangle 14"/>
            <p:cNvSpPr/>
            <p:nvPr/>
          </p:nvSpPr>
          <p:spPr>
            <a:xfrm>
              <a:off x="571500" y="8096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30" y="8210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系统总体架构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2381250"/>
            <a:ext cx="2476500" cy="2476500"/>
            <a:chOff x="4857750" y="2381250"/>
            <a:chExt cx="2476500" cy="2476500"/>
          </a:xfrm>
        </p:grpSpPr>
        <p:sp>
          <p:nvSpPr>
            <p:cNvPr id="17" name="Ellipse 17"/>
            <p:cNvSpPr/>
            <p:nvPr/>
          </p:nvSpPr>
          <p:spPr>
            <a:xfrm>
              <a:off x="5143500" y="2667000"/>
              <a:ext cx="1905000" cy="1905000"/>
            </a:xfrm>
            <a:prstGeom prst="ellipse">
              <a:avLst/>
            </a:prstGeom>
            <a:noFill/>
            <a:ln w="1905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334000" y="2857500"/>
              <a:ext cx="1524000" cy="15240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81625" y="2905125"/>
              <a:ext cx="1428750" cy="1428750"/>
            </a:xfrm>
            <a:prstGeom prst="ellipse">
              <a:avLst/>
            </a:prstGeom>
            <a:solidFill>
              <a:srgbClr val="0D47A1">
                <a:alpha val="5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1907" y="336232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服务器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2663" y="3657124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C/S Architecture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048250" y="2571750"/>
              <a:ext cx="2095500" cy="2095500"/>
            </a:xfrm>
            <a:prstGeom prst="ellipse">
              <a:avLst/>
            </a:prstGeom>
            <a:noFill/>
            <a:ln w="4762">
              <a:solidFill>
                <a:srgbClr val="4FC3F7">
                  <a:alpha val="15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857750" y="2381250"/>
              <a:ext cx="2476500" cy="2476500"/>
            </a:xfrm>
            <a:prstGeom prst="ellipse">
              <a:avLst/>
            </a:prstGeom>
            <a:noFill/>
            <a:ln w="2858">
              <a:solidFill>
                <a:srgbClr val="4FC3F7">
                  <a:alpha val="8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52500" y="2190750"/>
            <a:ext cx="1524000" cy="762000"/>
            <a:chOff x="952500" y="2190750"/>
            <a:chExt cx="1524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952500" y="21907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68019" y="2394585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8027" y="2665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交互式Shell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2476500" y="2571750"/>
            <a:ext cx="2857500" cy="952500"/>
          </a:xfrm>
          <a:custGeom>
            <a:avLst/>
            <a:gdLst/>
            <a:ahLst/>
            <a:cxnLst/>
            <a:rect l="l" t="t" r="r" b="b"/>
            <a:pathLst>
              <a:path w="2857500" h="952500">
                <a:moveTo>
                  <a:pt x="0" y="0"/>
                </a:moveTo>
                <a:lnTo>
                  <a:pt x="2857500" y="95250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  <a:custDash>
              <a:ds d="400000" sp="266666"/>
            </a:custDash>
          </a:ln>
        </p:spPr>
      </p:sp>
      <p:sp>
        <p:nvSpPr>
          <p:cNvPr id="30" name="Polygon 30"/>
          <p:cNvSpPr/>
          <p:nvPr/>
        </p:nvSpPr>
        <p:spPr>
          <a:xfrm>
            <a:off x="5219700" y="34766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190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952500" y="4095750"/>
            <a:ext cx="1524000" cy="762000"/>
            <a:chOff x="952500" y="4095750"/>
            <a:chExt cx="1524000" cy="762000"/>
          </a:xfrm>
        </p:grpSpPr>
        <p:sp>
          <p:nvSpPr>
            <p:cNvPr id="31" name="Rectangle 31"/>
            <p:cNvSpPr/>
            <p:nvPr/>
          </p:nvSpPr>
          <p:spPr>
            <a:xfrm>
              <a:off x="952500" y="40957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45016" y="4299585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08735" y="4570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批量上传模式</a:t>
              </a:r>
            </a:p>
          </p:txBody>
        </p:sp>
      </p:grpSp>
      <p:sp>
        <p:nvSpPr>
          <p:cNvPr id="35" name="Line 35"/>
          <p:cNvSpPr/>
          <p:nvPr/>
        </p:nvSpPr>
        <p:spPr>
          <a:xfrm>
            <a:off x="2476500" y="3714750"/>
            <a:ext cx="2857500" cy="762000"/>
          </a:xfrm>
          <a:custGeom>
            <a:avLst/>
            <a:gdLst/>
            <a:ahLst/>
            <a:cxnLst/>
            <a:rect l="l" t="t" r="r" b="b"/>
            <a:pathLst>
              <a:path w="2857500" h="762000">
                <a:moveTo>
                  <a:pt x="0" y="762000"/>
                </a:moveTo>
                <a:lnTo>
                  <a:pt x="2857500" y="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  <a:custDash>
              <a:ds d="400000" sp="266666"/>
            </a:custDash>
          </a:ln>
        </p:spPr>
      </p:sp>
      <p:sp>
        <p:nvSpPr>
          <p:cNvPr id="36" name="Polygon 36"/>
          <p:cNvSpPr/>
          <p:nvPr/>
        </p:nvSpPr>
        <p:spPr>
          <a:xfrm>
            <a:off x="5219700" y="36671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190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9715500" y="3143250"/>
            <a:ext cx="1524000" cy="762000"/>
            <a:chOff x="9715500" y="3143250"/>
            <a:chExt cx="1524000" cy="762000"/>
          </a:xfrm>
        </p:grpSpPr>
        <p:sp>
          <p:nvSpPr>
            <p:cNvPr id="37" name="Rectangle 37"/>
            <p:cNvSpPr/>
            <p:nvPr/>
          </p:nvSpPr>
          <p:spPr>
            <a:xfrm>
              <a:off x="9715500" y="31432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08016" y="3347085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37458" y="36175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命令行模式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6858000" y="3524250"/>
            <a:ext cx="2857500" cy="95250"/>
          </a:xfrm>
          <a:custGeom>
            <a:avLst/>
            <a:gdLst/>
            <a:ahLst/>
            <a:cxnLst/>
            <a:rect l="l" t="t" r="r" b="b"/>
            <a:pathLst>
              <a:path w="2857500" h="95250">
                <a:moveTo>
                  <a:pt x="285750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  <a:custDash>
              <a:ds d="400000" sp="266666"/>
            </a:custDash>
          </a:ln>
        </p:spPr>
      </p:sp>
      <p:sp>
        <p:nvSpPr>
          <p:cNvPr id="42" name="Polygon 42"/>
          <p:cNvSpPr/>
          <p:nvPr/>
        </p:nvSpPr>
        <p:spPr>
          <a:xfrm>
            <a:off x="6858000" y="357187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47625"/>
                </a:moveTo>
                <a:lnTo>
                  <a:pt x="11430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3333750" y="2952750"/>
            <a:ext cx="1333500" cy="304800"/>
          </a:xfrm>
          <a:prstGeom prst="roundRect">
            <a:avLst>
              <a:gd name="adj" fmla="val 50000"/>
            </a:avLst>
          </a:prstGeom>
          <a:solidFill>
            <a:srgbClr val="1A73E8">
              <a:alpha val="25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770959" y="30570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FC3F7"/>
                </a:solidFill>
                <a:latin typeface="Consolas"/>
                <a:ea typeface="Microsoft YaHei"/>
                <a:cs typeface="Consolas"/>
              </a:rPr>
              <a:t>TCP/IP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524750" y="2381250"/>
            <a:ext cx="1238250" cy="2619375"/>
            <a:chOff x="7524750" y="2381250"/>
            <a:chExt cx="1238250" cy="2619375"/>
          </a:xfrm>
        </p:grpSpPr>
        <p:sp>
          <p:nvSpPr>
            <p:cNvPr id="45" name="Rectangle 45"/>
            <p:cNvSpPr/>
            <p:nvPr/>
          </p:nvSpPr>
          <p:spPr>
            <a:xfrm>
              <a:off x="7524750" y="2381250"/>
              <a:ext cx="1238250" cy="476250"/>
            </a:xfrm>
            <a:prstGeom prst="roundRect">
              <a:avLst>
                <a:gd name="adj" fmla="val 160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9429" y="2553652"/>
              <a:ext cx="1008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主线程 listen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24750" y="32385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03975" y="3399949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工作线程 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524750" y="38100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86176" y="397144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工作线程 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24750" y="45720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04296" y="47334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文件存储目录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143875" y="2857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143875" y="366712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143875" y="42386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525000" y="4572000"/>
            <a:ext cx="1905000" cy="952500"/>
            <a:chOff x="9525000" y="4572000"/>
            <a:chExt cx="1905000" cy="952500"/>
          </a:xfrm>
        </p:grpSpPr>
        <p:sp>
          <p:nvSpPr>
            <p:cNvPr id="57" name="Rectangle 57"/>
            <p:cNvSpPr/>
            <p:nvPr/>
          </p:nvSpPr>
          <p:spPr>
            <a:xfrm>
              <a:off x="9525000" y="45720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0D47A1">
                <a:alpha val="3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02165" y="4744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架构特点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725025" y="5029200"/>
              <a:ext cx="76200" cy="762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94570" y="5017770"/>
              <a:ext cx="7655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经典C/S模型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725025" y="5267325"/>
              <a:ext cx="76200" cy="762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94570" y="5255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多线程并发处理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4" grpId="0"/>
      <p:bldP spid="28" grpId="0"/>
      <p:bldP spid="34" grpId="0"/>
      <p:bldP spid="40" grpId="0"/>
      <p:bldP spid="56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82969" y="4743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809625"/>
            <a:ext cx="3399472" cy="438150"/>
            <a:chOff x="571500" y="809625"/>
            <a:chExt cx="3399472" cy="438150"/>
          </a:xfrm>
        </p:grpSpPr>
        <p:sp>
          <p:nvSpPr>
            <p:cNvPr id="7" name="Rectangle 7"/>
            <p:cNvSpPr/>
            <p:nvPr/>
          </p:nvSpPr>
          <p:spPr>
            <a:xfrm>
              <a:off x="571500" y="80962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821055"/>
              <a:ext cx="32737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自定义二进制协议格式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1381125"/>
            <a:ext cx="11049000" cy="1905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762000" y="1571625"/>
            <a:ext cx="1619250" cy="666750"/>
            <a:chOff x="762000" y="1571625"/>
            <a:chExt cx="1619250" cy="666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71625"/>
              <a:ext cx="1619250" cy="666750"/>
            </a:xfrm>
            <a:prstGeom prst="roundRect">
              <a:avLst>
                <a:gd name="adj" fmla="val 8571"/>
              </a:avLst>
            </a:prstGeom>
            <a:solidFill>
              <a:srgbClr val="1A73E8">
                <a:alpha val="9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40913" y="1744028"/>
              <a:ext cx="461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Magic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7398" y="20064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0xF1F2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57450" y="1571625"/>
            <a:ext cx="809625" cy="666750"/>
            <a:chOff x="2457450" y="1571625"/>
            <a:chExt cx="809625" cy="666750"/>
          </a:xfrm>
        </p:grpSpPr>
        <p:sp>
          <p:nvSpPr>
            <p:cNvPr id="15" name="Rectangle 15"/>
            <p:cNvSpPr/>
            <p:nvPr/>
          </p:nvSpPr>
          <p:spPr>
            <a:xfrm>
              <a:off x="2457450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4FC3F7">
                <a:alpha val="9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21765" y="1752124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9544" y="200644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1F5FE"/>
                  </a:solidFill>
                  <a:latin typeface="Arial"/>
                  <a:ea typeface="Microsoft YaHei"/>
                  <a:cs typeface="Arial"/>
                </a:rPr>
                <a:t>0x01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43275" y="1571625"/>
            <a:ext cx="809625" cy="666750"/>
            <a:chOff x="3343275" y="1571625"/>
            <a:chExt cx="809625" cy="666750"/>
          </a:xfrm>
        </p:grpSpPr>
        <p:sp>
          <p:nvSpPr>
            <p:cNvPr id="19" name="Rectangle 19"/>
            <p:cNvSpPr/>
            <p:nvPr/>
          </p:nvSpPr>
          <p:spPr>
            <a:xfrm>
              <a:off x="3343275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0D47A1">
                <a:alpha val="9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66472" y="17521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Type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4283" y="2006441"/>
              <a:ext cx="2980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1字节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29100" y="1571625"/>
            <a:ext cx="809625" cy="666750"/>
            <a:chOff x="4229100" y="1571625"/>
            <a:chExt cx="809625" cy="666750"/>
          </a:xfrm>
        </p:grpSpPr>
        <p:sp>
          <p:nvSpPr>
            <p:cNvPr id="23" name="Rectangle 23"/>
            <p:cNvSpPr/>
            <p:nvPr/>
          </p:nvSpPr>
          <p:spPr>
            <a:xfrm>
              <a:off x="4229100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FF6B35">
                <a:alpha val="9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78463" y="1752124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0108" y="2006441"/>
              <a:ext cx="2980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DE8E0"/>
                  </a:solidFill>
                  <a:latin typeface="Arial"/>
                  <a:ea typeface="Microsoft YaHei"/>
                  <a:cs typeface="Arial"/>
                </a:rPr>
                <a:t>1字节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114925" y="1571625"/>
            <a:ext cx="1428750" cy="666750"/>
            <a:chOff x="5114925" y="1571625"/>
            <a:chExt cx="1428750" cy="666750"/>
          </a:xfrm>
        </p:grpSpPr>
        <p:sp>
          <p:nvSpPr>
            <p:cNvPr id="27" name="Rectangle 27"/>
            <p:cNvSpPr/>
            <p:nvPr/>
          </p:nvSpPr>
          <p:spPr>
            <a:xfrm>
              <a:off x="5114925" y="1571625"/>
              <a:ext cx="1428750" cy="666750"/>
            </a:xfrm>
            <a:prstGeom prst="roundRect">
              <a:avLst>
                <a:gd name="adj" fmla="val 8571"/>
              </a:avLst>
            </a:prstGeom>
            <a:solidFill>
              <a:srgbClr val="1A73E8">
                <a:alpha val="7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70212" y="17521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Status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196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2字节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19875" y="1571625"/>
            <a:ext cx="1714500" cy="666750"/>
            <a:chOff x="6619875" y="1571625"/>
            <a:chExt cx="1714500" cy="666750"/>
          </a:xfrm>
        </p:grpSpPr>
        <p:sp>
          <p:nvSpPr>
            <p:cNvPr id="31" name="Rectangle 31"/>
            <p:cNvSpPr/>
            <p:nvPr/>
          </p:nvSpPr>
          <p:spPr>
            <a:xfrm>
              <a:off x="6619875" y="1571625"/>
              <a:ext cx="1714500" cy="666750"/>
            </a:xfrm>
            <a:prstGeom prst="roundRect">
              <a:avLst>
                <a:gd name="adj" fmla="val 8571"/>
              </a:avLst>
            </a:prstGeom>
            <a:solidFill>
              <a:srgbClr val="4FC3F7">
                <a:alpha val="7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49828" y="1752124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Payload Len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3021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1F5FE"/>
                  </a:solidFill>
                  <a:latin typeface="Arial"/>
                  <a:ea typeface="Microsoft YaHei"/>
                  <a:cs typeface="Arial"/>
                </a:rPr>
                <a:t>4字节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10575" y="1571625"/>
            <a:ext cx="1524000" cy="666750"/>
            <a:chOff x="8410575" y="1571625"/>
            <a:chExt cx="1524000" cy="666750"/>
          </a:xfrm>
        </p:grpSpPr>
        <p:sp>
          <p:nvSpPr>
            <p:cNvPr id="35" name="Rectangle 35"/>
            <p:cNvSpPr/>
            <p:nvPr/>
          </p:nvSpPr>
          <p:spPr>
            <a:xfrm>
              <a:off x="8410575" y="1571625"/>
              <a:ext cx="1524000" cy="666750"/>
            </a:xfrm>
            <a:prstGeom prst="roundRect">
              <a:avLst>
                <a:gd name="adj" fmla="val 8571"/>
              </a:avLst>
            </a:prstGeom>
            <a:solidFill>
              <a:srgbClr val="0D47A1">
                <a:alpha val="7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54604" y="1752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CRC32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08471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4字节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10775" y="1571625"/>
            <a:ext cx="1428750" cy="666750"/>
            <a:chOff x="10010775" y="1571625"/>
            <a:chExt cx="1428750" cy="666750"/>
          </a:xfrm>
        </p:grpSpPr>
        <p:sp>
          <p:nvSpPr>
            <p:cNvPr id="39" name="Rectangle 39"/>
            <p:cNvSpPr/>
            <p:nvPr/>
          </p:nvSpPr>
          <p:spPr>
            <a:xfrm>
              <a:off x="10010775" y="1571625"/>
              <a:ext cx="1428750" cy="666750"/>
            </a:xfrm>
            <a:prstGeom prst="roundRect">
              <a:avLst>
                <a:gd name="adj" fmla="val 8571"/>
              </a:avLst>
            </a:prstGeom>
            <a:solidFill>
              <a:srgbClr val="E0E0E0">
                <a:alpha val="50000"/>
              </a:srgbClr>
            </a:solidFill>
            <a:ln w="9525">
              <a:solidFill>
                <a:srgbClr val="BDBDBD"/>
              </a:solidFill>
              <a:custDash>
                <a:ds d="400000" sp="300000"/>
              </a:custDash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43634" y="175212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Payload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73690" y="2006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可变长度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97305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协议标识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714625" y="23793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版本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69005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消息分类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5483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操作命令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5498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结果反馈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02805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数据大小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832532" y="2379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完整性校验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5083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实际数据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" y="2667000"/>
            <a:ext cx="10668000" cy="2667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907218" y="2744152"/>
            <a:ext cx="23775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固定头部 15 字节 + 可变长度负载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552450" y="3457575"/>
            <a:ext cx="11068050" cy="1590675"/>
            <a:chOff x="552450" y="3457575"/>
            <a:chExt cx="11068050" cy="1590675"/>
          </a:xfrm>
        </p:grpSpPr>
        <p:sp>
          <p:nvSpPr>
            <p:cNvPr id="53" name="TextBox 53"/>
            <p:cNvSpPr txBox="1"/>
            <p:nvPr/>
          </p:nvSpPr>
          <p:spPr>
            <a:xfrm>
              <a:off x="552450" y="3457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消息类型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571500" y="3810000"/>
              <a:ext cx="2667000" cy="1238250"/>
              <a:chOff x="571500" y="3810000"/>
              <a:chExt cx="2667000" cy="12382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5715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530915" y="4061460"/>
                <a:ext cx="7481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Type = 0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5217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请求消息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180624" y="46572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客户端发送的操作请求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3429000" y="3810000"/>
              <a:ext cx="2667000" cy="1238250"/>
              <a:chOff x="3429000" y="3810000"/>
              <a:chExt cx="2667000" cy="12382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34290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34290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411418" y="4061460"/>
                <a:ext cx="702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D47A1"/>
                    </a:solidFill>
                    <a:latin typeface="Consolas"/>
                    <a:ea typeface="Microsoft YaHei"/>
                    <a:cs typeface="Consolas"/>
                  </a:rPr>
                  <a:t>Type = 1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3792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响应消息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109323" y="46572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服务器返回的状态码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286500" y="3810000"/>
              <a:ext cx="2667000" cy="1238250"/>
              <a:chOff x="6286500" y="3810000"/>
              <a:chExt cx="2667000" cy="12382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2865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62865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245915" y="4061460"/>
                <a:ext cx="7481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6B35"/>
                    </a:solidFill>
                    <a:latin typeface="Consolas"/>
                    <a:ea typeface="Microsoft YaHei"/>
                    <a:cs typeface="Consolas"/>
                  </a:rPr>
                  <a:t>Type = 2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2367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数据消息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038023" y="46572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文件数据分块传输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9144000" y="3810000"/>
              <a:ext cx="2476500" cy="1238250"/>
              <a:chOff x="9144000" y="3810000"/>
              <a:chExt cx="2476500" cy="12382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9144000" y="3810000"/>
                <a:ext cx="24765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0022919" y="40219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设计特点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322118" y="4323874"/>
                <a:ext cx="10001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15字节紧凑头部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322118" y="456199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网络字节序跨平台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322118" y="4800124"/>
                <a:ext cx="14131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CRC32数据完整性校验</a:t>
                </a:r>
              </a:p>
            </p:txBody>
          </p:sp>
        </p:grpSp>
      </p:grpSp>
      <p:sp>
        <p:nvSpPr>
          <p:cNvPr id="79" name="Rectangle 79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1129665" y="5649278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二进制协议优势：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844165" y="56492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传输效率高</a:t>
            </a:r>
          </a:p>
        </p:txBody>
      </p:sp>
      <p:sp>
        <p:nvSpPr>
          <p:cNvPr id="82" name="Ellipse 82"/>
          <p:cNvSpPr/>
          <p:nvPr/>
        </p:nvSpPr>
        <p:spPr>
          <a:xfrm>
            <a:off x="3971925" y="5686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4177665" y="56492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解析速度快</a:t>
            </a:r>
          </a:p>
        </p:txBody>
      </p:sp>
      <p:sp>
        <p:nvSpPr>
          <p:cNvPr id="84" name="Ellipse 84"/>
          <p:cNvSpPr/>
          <p:nvPr/>
        </p:nvSpPr>
        <p:spPr>
          <a:xfrm>
            <a:off x="5162550" y="5686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5368290" y="5649278"/>
            <a:ext cx="16752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安全性强（CRC32校验）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  <p:bldP spid="18" grpId="0"/>
      <p:bldP spid="22" grpId="0"/>
      <p:bldP spid="26" grpId="0"/>
      <p:bldP spid="30" grpId="0"/>
      <p:bldP spid="34" grpId="0"/>
      <p:bldP spid="38" grpId="0"/>
      <p:bldP spid="42" grpId="0"/>
      <p:bldP spid="7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3077432" cy="438150"/>
            <a:chOff x="571500" y="523875"/>
            <a:chExt cx="3077432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29517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状态码与命令码设计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095375"/>
            <a:ext cx="5476875" cy="2571750"/>
            <a:chOff x="571500" y="1095375"/>
            <a:chExt cx="5476875" cy="257175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476875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95375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76236" y="1314450"/>
              <a:ext cx="22578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状态码 Status Codes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16964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0x0000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STATUS_OK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操作成功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915" y="1963102"/>
              <a:ext cx="29096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0x0001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FILE_NOT_FOUND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文件不存在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2298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0x0002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EXISTS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文件已存在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2496502"/>
              <a:ext cx="2526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0x0003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INVALID_PATH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非法路径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27632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0x0004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IO_ERROR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磁盘读写错误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3029902"/>
              <a:ext cx="28866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0x0005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CHECKSUM_ERR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CRC校验失败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32966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0x0006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PERMISSION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权限不足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43625" y="1095375"/>
            <a:ext cx="5476875" cy="2571750"/>
            <a:chOff x="6143625" y="1095375"/>
            <a:chExt cx="5476875" cy="2571750"/>
          </a:xfrm>
        </p:grpSpPr>
        <p:sp>
          <p:nvSpPr>
            <p:cNvPr id="18" name="Rectangle 18"/>
            <p:cNvSpPr/>
            <p:nvPr/>
          </p:nvSpPr>
          <p:spPr>
            <a:xfrm>
              <a:off x="6143625" y="1095375"/>
              <a:ext cx="5476875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43625" y="1095375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39098" y="1314450"/>
              <a:ext cx="2476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D47A1"/>
                  </a:solidFill>
                  <a:latin typeface="Georgia"/>
                  <a:ea typeface="Microsoft YaHei"/>
                  <a:cs typeface="Georgia"/>
                </a:rPr>
                <a:t>命令码 Command Codes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6040" y="16964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0x01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CMD_MKDIR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创建目录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6040" y="19631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0x02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CMD_RENAME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重命名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6040" y="2229802"/>
              <a:ext cx="22886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0x10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CMD_UPLOAD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上传文件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6040" y="24965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0x11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CMD_DOWNLOAD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下载文件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6040" y="276320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0x12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CMD_LIST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列出目录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6040" y="3029902"/>
              <a:ext cx="2296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0x20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CMD_DELETE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删除文件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16040" y="3296602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0x13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 xml:space="preserve"> CMD_MKDIR_P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 xml:space="preserve"> ── </a:t>
              </a:r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 xml:space="preserve"> 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递归创建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905250"/>
            <a:ext cx="5476875" cy="2381250"/>
            <a:chOff x="571500" y="3905250"/>
            <a:chExt cx="5476875" cy="2381250"/>
          </a:xfrm>
        </p:grpSpPr>
        <p:sp>
          <p:nvSpPr>
            <p:cNvPr id="29" name="Rectangle 29"/>
            <p:cNvSpPr/>
            <p:nvPr/>
          </p:nvSpPr>
          <p:spPr>
            <a:xfrm>
              <a:off x="571500" y="3905250"/>
              <a:ext cx="5476875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3905250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96039" y="4124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错误处理机制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962" y="4498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每个响应消息包含状态码字段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962" y="4783931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状态码采用网络字节序传输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962" y="5069681"/>
              <a:ext cx="2468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客户端解析状态码决定后续操作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962" y="5355431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异常情况返回对应的错误码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962" y="5641181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保证错误反馈的标准化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43625" y="3905250"/>
            <a:ext cx="5476875" cy="2381250"/>
            <a:chOff x="6143625" y="3905250"/>
            <a:chExt cx="5476875" cy="2381250"/>
          </a:xfrm>
        </p:grpSpPr>
        <p:sp>
          <p:nvSpPr>
            <p:cNvPr id="38" name="Rectangle 38"/>
            <p:cNvSpPr/>
            <p:nvPr/>
          </p:nvSpPr>
          <p:spPr>
            <a:xfrm>
              <a:off x="6143625" y="3905250"/>
              <a:ext cx="5476875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43625" y="3905250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53149" y="41243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命令码设计优势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5088" y="4498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分段编码：管理类 0x01~0x0F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5088" y="4783931"/>
              <a:ext cx="25999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传输类 0x10~0x1F，删除类 0x20+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5088" y="506968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预留编码空间，便于扩展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5088" y="5355431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统一的请求-响应模式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5088" y="5641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解析速度快，适合高性能场景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28" grpId="0"/>
      <p:bldP spid="37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82969" y="4743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809625"/>
            <a:ext cx="2111311" cy="438150"/>
            <a:chOff x="571500" y="809625"/>
            <a:chExt cx="2111311" cy="438150"/>
          </a:xfrm>
        </p:grpSpPr>
        <p:sp>
          <p:nvSpPr>
            <p:cNvPr id="7" name="Rectangle 7"/>
            <p:cNvSpPr/>
            <p:nvPr/>
          </p:nvSpPr>
          <p:spPr>
            <a:xfrm>
              <a:off x="571500" y="80962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8210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系统模块结构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23330" y="1799749"/>
            <a:ext cx="622840" cy="4105751"/>
            <a:chOff x="11023330" y="1799749"/>
            <a:chExt cx="622840" cy="4105751"/>
          </a:xfrm>
        </p:grpSpPr>
        <p:sp>
          <p:nvSpPr>
            <p:cNvPr id="10" name="TextBox 10"/>
            <p:cNvSpPr txBox="1"/>
            <p:nvPr/>
          </p:nvSpPr>
          <p:spPr>
            <a:xfrm>
              <a:off x="11023330" y="1799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调用方向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1334750" y="2047875"/>
              <a:ext cx="9525" cy="3762375"/>
            </a:xfrm>
            <a:custGeom>
              <a:avLst/>
              <a:gdLst/>
              <a:ahLst/>
              <a:cxnLst/>
              <a:rect l="l" t="t" r="r" b="b"/>
              <a:pathLst>
                <a:path w="9525" h="3762375">
                  <a:moveTo>
                    <a:pt x="0" y="0"/>
                  </a:moveTo>
                  <a:lnTo>
                    <a:pt x="0" y="3762375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11268075" y="579120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1333500"/>
            <a:ext cx="10477500" cy="1238250"/>
            <a:chOff x="571500" y="1333500"/>
            <a:chExt cx="10477500" cy="1238250"/>
          </a:xfrm>
        </p:grpSpPr>
        <p:sp>
          <p:nvSpPr>
            <p:cNvPr id="14" name="Rectangle 14"/>
            <p:cNvSpPr/>
            <p:nvPr/>
          </p:nvSpPr>
          <p:spPr>
            <a:xfrm>
              <a:off x="571500" y="1333500"/>
              <a:ext cx="10477500" cy="1238250"/>
            </a:xfrm>
            <a:prstGeom prst="roundRect">
              <a:avLst>
                <a:gd name="adj" fmla="val 7692"/>
              </a:avLst>
            </a:prstGeom>
            <a:solidFill>
              <a:srgbClr val="E3F2FD"/>
            </a:solidFill>
            <a:ln w="9525">
              <a:solidFill>
                <a:srgbClr val="90CAF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333500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480" y="1473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应用层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14500" y="1476375"/>
              <a:ext cx="2286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1A73E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37409" y="1632585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server.c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22444" y="18949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命令处理 · 多线程管理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3643" y="21045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连接监听 · 请求分发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0" y="1476375"/>
              <a:ext cx="2286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1A73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59915" y="1632585"/>
              <a:ext cx="7481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client.c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09945" y="18949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交互式Shell · 命令行模式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0143" y="21045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用户交互 · 结果展示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714500" y="2857500"/>
            <a:ext cx="8191500" cy="1143000"/>
            <a:chOff x="1714500" y="2857500"/>
            <a:chExt cx="81915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1714500" y="2857500"/>
              <a:ext cx="8191500" cy="1143000"/>
            </a:xfrm>
            <a:prstGeom prst="roundRect">
              <a:avLst>
                <a:gd name="adj" fmla="val 8333"/>
              </a:avLst>
            </a:prstGeom>
            <a:solidFill>
              <a:srgbClr val="E8F5E9"/>
            </a:solidFill>
            <a:ln w="9525">
              <a:solidFill>
                <a:srgbClr val="A5D6A7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14500" y="285750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35480" y="2997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传输层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57500" y="29527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4CAF5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31697" y="3156585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transfer.c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92031" y="3418999"/>
              <a:ext cx="31219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文件上传/下载 · 进度条 · 分块传输 · CRC32校验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42222" y="3609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数据完整性保障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857500" y="4286250"/>
            <a:ext cx="5905500" cy="1047750"/>
            <a:chOff x="2857500" y="4286250"/>
            <a:chExt cx="5905500" cy="1047750"/>
          </a:xfrm>
        </p:grpSpPr>
        <p:sp>
          <p:nvSpPr>
            <p:cNvPr id="34" name="Rectangle 34"/>
            <p:cNvSpPr/>
            <p:nvPr/>
          </p:nvSpPr>
          <p:spPr>
            <a:xfrm>
              <a:off x="2857500" y="4286250"/>
              <a:ext cx="5905500" cy="1047750"/>
            </a:xfrm>
            <a:prstGeom prst="roundRect">
              <a:avLst>
                <a:gd name="adj" fmla="val 9091"/>
              </a:avLst>
            </a:prstGeom>
            <a:solidFill>
              <a:srgbClr val="FFF3E0"/>
            </a:solidFill>
            <a:ln w="9525">
              <a:solidFill>
                <a:srgbClr val="FFCC8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57500" y="42862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78480" y="4426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协议层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0" y="4362450"/>
              <a:ext cx="40005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F6B3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11950" y="4566285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6B35"/>
                  </a:solidFill>
                  <a:latin typeface="Consolas"/>
                  <a:ea typeface="Microsoft YaHei"/>
                  <a:cs typeface="Consolas"/>
                </a:rPr>
                <a:t>protocol.c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3361" y="482869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协议序列化/反序列化 · 字节序转换 · 消息打包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000500" y="5619750"/>
            <a:ext cx="3619500" cy="857250"/>
            <a:chOff x="4000500" y="5619750"/>
            <a:chExt cx="3619500" cy="857250"/>
          </a:xfrm>
        </p:grpSpPr>
        <p:sp>
          <p:nvSpPr>
            <p:cNvPr id="41" name="Rectangle 41"/>
            <p:cNvSpPr/>
            <p:nvPr/>
          </p:nvSpPr>
          <p:spPr>
            <a:xfrm>
              <a:off x="4000500" y="5619750"/>
              <a:ext cx="3619500" cy="857250"/>
            </a:xfrm>
            <a:prstGeom prst="roundRect">
              <a:avLst>
                <a:gd name="adj" fmla="val 11111"/>
              </a:avLst>
            </a:prstGeom>
            <a:solidFill>
              <a:srgbClr val="F3E5F5"/>
            </a:solidFill>
            <a:ln w="9525">
              <a:solidFill>
                <a:srgbClr val="CE93D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00500" y="561975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21480" y="57597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C27B0"/>
                  </a:solidFill>
                  <a:latin typeface="Georgia"/>
                  <a:ea typeface="Microsoft YaHei"/>
                  <a:cs typeface="Georgia"/>
                </a:rPr>
                <a:t>工具层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06989" y="6069806"/>
              <a:ext cx="606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9C27B0"/>
                  </a:solidFill>
                  <a:latin typeface="Consolas"/>
                  <a:ea typeface="Microsoft YaHei"/>
                  <a:cs typeface="Consolas"/>
                </a:rPr>
                <a:t>utils.c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08517" y="627649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路径校验 · 日志记录 · 字节序转换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62625" y="2571750"/>
            <a:ext cx="381000" cy="3048000"/>
            <a:chOff x="5762625" y="2571750"/>
            <a:chExt cx="381000" cy="3048000"/>
          </a:xfrm>
        </p:grpSpPr>
        <p:sp>
          <p:nvSpPr>
            <p:cNvPr id="47" name="Line 47"/>
            <p:cNvSpPr/>
            <p:nvPr/>
          </p:nvSpPr>
          <p:spPr>
            <a:xfrm>
              <a:off x="60960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6048375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5810250" y="4000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5762625" y="4191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810250" y="5334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5762625" y="552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667500" y="1333500"/>
            <a:ext cx="4381500" cy="1238250"/>
            <a:chOff x="6667500" y="1333500"/>
            <a:chExt cx="4381500" cy="1238250"/>
          </a:xfrm>
        </p:grpSpPr>
        <p:sp>
          <p:nvSpPr>
            <p:cNvPr id="54" name="Rectangle 54"/>
            <p:cNvSpPr/>
            <p:nvPr/>
          </p:nvSpPr>
          <p:spPr>
            <a:xfrm>
              <a:off x="6667500" y="1333500"/>
              <a:ext cx="4381500" cy="1238250"/>
            </a:xfrm>
            <a:prstGeom prst="roundRect">
              <a:avLst>
                <a:gd name="adj" fmla="val 6154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3712" y="1497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职责划分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58000" y="176212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83742" y="17806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应用层：命令处理与用户交互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58000" y="20002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8F5E9"/>
            </a:solidFill>
            <a:ln w="9525">
              <a:solidFill>
                <a:srgbClr val="4CAF5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3742" y="20188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传输层：文件传输与进度管理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58000" y="223837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 w="9525">
              <a:solidFill>
                <a:srgbClr val="FF6B3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742" y="22569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协议层：数据格式化与校验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176212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F3E5F5"/>
            </a:solidFill>
            <a:ln w="9525">
              <a:solidFill>
                <a:srgbClr val="9C27B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79242" y="17806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工具层：通用辅助功能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25" grpId="0"/>
      <p:bldP spid="33" grpId="0"/>
      <p:bldP spid="40" grpId="0"/>
      <p:bldP spid="46" grpId="0"/>
      <p:bldP spid="53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3077432" cy="438150"/>
            <a:chOff x="571500" y="523875"/>
            <a:chExt cx="3077432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29517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多线程并发处理模型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238250"/>
            <a:ext cx="3208782" cy="3576638"/>
            <a:chOff x="571500" y="1238250"/>
            <a:chExt cx="3208782" cy="3576638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238250"/>
              <a:ext cx="2932748" cy="719138"/>
              <a:chOff x="571500" y="1238250"/>
              <a:chExt cx="2932748" cy="719138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571500" y="1238250"/>
                <a:ext cx="476250" cy="47625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6071" y="1381125"/>
                <a:ext cx="1071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73480" y="1283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每连接一线程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77290" y="1553528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每个新连接创建独立的工作线程，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77290" y="1744028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实现简单，适合连接数不高的场景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1500" y="2190750"/>
              <a:ext cx="3208782" cy="719138"/>
              <a:chOff x="571500" y="2190750"/>
              <a:chExt cx="3208782" cy="719138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571500" y="2190750"/>
                <a:ext cx="476250" cy="47625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27317" y="23336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3480" y="223551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线程分离与回收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7290" y="2506028"/>
                <a:ext cx="26029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pthread_detach()设置为分离状态，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77290" y="2696528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结束后自动释放系统资源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3143250"/>
              <a:ext cx="2779395" cy="719138"/>
              <a:chOff x="571500" y="3143250"/>
              <a:chExt cx="2779395" cy="719138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71500" y="3143250"/>
                <a:ext cx="476250" cy="476250"/>
              </a:xfrm>
              <a:prstGeom prst="ellipse">
                <a:avLst/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7317" y="32861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73480" y="3188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请求循环处理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7290" y="3458528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工作线程循环接收和处理请求，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77290" y="3649028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直到客户端断开连接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71500" y="4095750"/>
              <a:ext cx="3086100" cy="719138"/>
              <a:chOff x="571500" y="4095750"/>
              <a:chExt cx="3086100" cy="719138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71500" y="4095750"/>
                <a:ext cx="476250" cy="47625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27317" y="42386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3480" y="41405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并发优势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7290" y="4411028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多客户端同时操作，请求互不干扰，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77290" y="4601528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稳定的连接管理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3333750" y="1238250"/>
            <a:ext cx="6191250" cy="3905250"/>
            <a:chOff x="3333750" y="1238250"/>
            <a:chExt cx="6191250" cy="3905250"/>
          </a:xfrm>
        </p:grpSpPr>
        <p:sp>
          <p:nvSpPr>
            <p:cNvPr id="32" name="Rectangle 32"/>
            <p:cNvSpPr/>
            <p:nvPr/>
          </p:nvSpPr>
          <p:spPr>
            <a:xfrm>
              <a:off x="4667250" y="1238250"/>
              <a:ext cx="1619250" cy="571500"/>
            </a:xfrm>
            <a:prstGeom prst="roundRect">
              <a:avLst>
                <a:gd name="adj" fmla="val 1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58960" y="1394460"/>
              <a:ext cx="1235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主线程 (main)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8957" y="16173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socket + listen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476875" y="1809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5410200" y="2047875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810125" y="2143125"/>
              <a:ext cx="1333500" cy="428625"/>
            </a:xfrm>
            <a:prstGeom prst="roundRect">
              <a:avLst>
                <a:gd name="adj" fmla="val 17778"/>
              </a:avLst>
            </a:prstGeom>
            <a:solidFill>
              <a:srgbClr val="E3F2FD"/>
            </a:solidFill>
            <a:ln w="14288">
              <a:solidFill>
                <a:srgbClr val="1A73E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83040" y="2288381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accept()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476875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5410200" y="2809875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810125" y="2905125"/>
              <a:ext cx="1333500" cy="381000"/>
            </a:xfrm>
            <a:prstGeom prst="roundRect">
              <a:avLst>
                <a:gd name="adj" fmla="val 20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0159" y="30299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客户端连接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476875" y="3286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5410200" y="35242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67250" y="3619500"/>
              <a:ext cx="1619250" cy="428625"/>
            </a:xfrm>
            <a:prstGeom prst="roundRect">
              <a:avLst>
                <a:gd name="adj" fmla="val 17778"/>
              </a:avLst>
            </a:prstGeom>
            <a:solidFill>
              <a:srgbClr val="4FC3F7">
                <a:alpha val="20000"/>
              </a:srgbClr>
            </a:solidFill>
            <a:ln w="14288">
              <a:solidFill>
                <a:srgbClr val="4FC3F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755051" y="3772852"/>
              <a:ext cx="14436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pthread_create()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095750" y="4048125"/>
              <a:ext cx="952500" cy="428625"/>
            </a:xfrm>
            <a:custGeom>
              <a:avLst/>
              <a:gdLst/>
              <a:ahLst/>
              <a:cxnLst/>
              <a:rect l="l" t="t" r="r" b="b"/>
              <a:pathLst>
                <a:path w="952500" h="428625">
                  <a:moveTo>
                    <a:pt x="95250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476875" y="40481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5905500" y="4048125"/>
              <a:ext cx="952500" cy="428625"/>
            </a:xfrm>
            <a:custGeom>
              <a:avLst/>
              <a:gdLst/>
              <a:ahLst/>
              <a:cxnLst/>
              <a:rect l="l" t="t" r="r" b="b"/>
              <a:pathLst>
                <a:path w="952500" h="428625">
                  <a:moveTo>
                    <a:pt x="0" y="0"/>
                  </a:moveTo>
                  <a:lnTo>
                    <a:pt x="95250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333750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12069" y="4649152"/>
              <a:ext cx="767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35991" y="4903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714875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73066" y="46491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00685" y="4903470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96000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54191" y="46491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1810" y="4903470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处理客户端N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01000" y="4572000"/>
              <a:ext cx="1524000" cy="333375"/>
            </a:xfrm>
            <a:prstGeom prst="roundRect">
              <a:avLst>
                <a:gd name="adj" fmla="val 22857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73212" y="46939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pthread_detach()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0312" y="49591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分离状态，自动回收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6286500" y="1524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1A73E8"/>
              </a:solidFill>
              <a:custDash>
                <a:ds d="400000" sp="300000"/>
              </a:custDash>
            </a:ln>
          </p:spPr>
        </p:sp>
        <p:sp>
          <p:nvSpPr>
            <p:cNvPr id="63" name="Line 63"/>
            <p:cNvSpPr/>
            <p:nvPr/>
          </p:nvSpPr>
          <p:spPr>
            <a:xfrm>
              <a:off x="7429500" y="15240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1A73E8"/>
              </a:solidFill>
              <a:custDash>
                <a:ds d="400000" sp="300000"/>
              </a:custDash>
            </a:ln>
          </p:spPr>
        </p:sp>
        <p:sp>
          <p:nvSpPr>
            <p:cNvPr id="64" name="Line 64"/>
            <p:cNvSpPr/>
            <p:nvPr/>
          </p:nvSpPr>
          <p:spPr>
            <a:xfrm>
              <a:off x="6286500" y="3143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1A73E8"/>
              </a:solidFill>
              <a:custDash>
                <a:ds d="400000" sp="300000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 rot="5400000">
              <a:off x="7183279" y="2538412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继续监听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712714" y="572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模型特点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31607" y="6030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主线程不阻塞</a:t>
            </a:r>
          </a:p>
        </p:txBody>
      </p:sp>
      <p:sp>
        <p:nvSpPr>
          <p:cNvPr id="70" name="Ellipse 70"/>
          <p:cNvSpPr/>
          <p:nvPr/>
        </p:nvSpPr>
        <p:spPr>
          <a:xfrm>
            <a:off x="3209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259931" y="6030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线程间互不干扰</a:t>
            </a:r>
          </a:p>
        </p:txBody>
      </p:sp>
      <p:sp>
        <p:nvSpPr>
          <p:cNvPr id="72" name="Ellipse 72"/>
          <p:cNvSpPr/>
          <p:nvPr/>
        </p:nvSpPr>
        <p:spPr>
          <a:xfrm>
            <a:off x="5114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5432108" y="6030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资源自动回收</a:t>
            </a:r>
          </a:p>
        </p:txBody>
      </p:sp>
      <p:sp>
        <p:nvSpPr>
          <p:cNvPr id="74" name="Ellipse 74"/>
          <p:cNvSpPr/>
          <p:nvPr/>
        </p:nvSpPr>
        <p:spPr>
          <a:xfrm>
            <a:off x="7019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7355681" y="6030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适合低并发场景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1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2111311" cy="438150"/>
            <a:chOff x="571500" y="523875"/>
            <a:chExt cx="2111311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文件传输流程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143000"/>
            <a:ext cx="11049000" cy="2857500"/>
            <a:chOff x="571500" y="1143000"/>
            <a:chExt cx="11049000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428750" cy="571500"/>
            </a:xfrm>
            <a:prstGeom prst="roundRect">
              <a:avLst>
                <a:gd name="adj" fmla="val 1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4600" y="1299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0422" y="1522095"/>
              <a:ext cx="390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Client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000250" y="14287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8575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1238250"/>
              <a:ext cx="762000" cy="190500"/>
            </a:xfrm>
            <a:prstGeom prst="roundRect">
              <a:avLst>
                <a:gd name="adj" fmla="val 2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10573" y="1292066"/>
              <a:ext cx="7318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UPLOAD_REQ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52750" y="1143000"/>
              <a:ext cx="1428750" cy="571500"/>
            </a:xfrm>
            <a:prstGeom prst="roundRect">
              <a:avLst>
                <a:gd name="adj" fmla="val 16667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75850" y="1299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38811" y="15220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Server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381500" y="1428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0D47A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7625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7750" y="1238250"/>
              <a:ext cx="952500" cy="381000"/>
            </a:xfrm>
            <a:prstGeom prst="roundRect">
              <a:avLst>
                <a:gd name="adj" fmla="val 1500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36820" y="1371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路径校验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810250" y="1428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D47A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60960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1238250"/>
              <a:ext cx="952500" cy="381000"/>
            </a:xfrm>
            <a:prstGeom prst="roundRect">
              <a:avLst>
                <a:gd name="adj" fmla="val 1500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0320" y="1371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创建文件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143750" y="14763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620000" y="14763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285875" y="1809750"/>
              <a:ext cx="6334125" cy="9525"/>
            </a:xfrm>
            <a:custGeom>
              <a:avLst/>
              <a:gdLst/>
              <a:ahLst/>
              <a:cxnLst/>
              <a:rect l="l" t="t" r="r" b="b"/>
              <a:pathLst>
                <a:path w="6334125" h="9525">
                  <a:moveTo>
                    <a:pt x="633412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85875" y="17145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238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29407" y="1863566"/>
              <a:ext cx="13041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UPLOAD_RESP (状态码)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2190750"/>
              <a:ext cx="11049000" cy="1809750"/>
            </a:xfrm>
            <a:prstGeom prst="roundRect">
              <a:avLst>
                <a:gd name="adj" fmla="val 5263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57777" y="2330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分块数据传输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952500" y="2667000"/>
              <a:ext cx="9144000" cy="333375"/>
              <a:chOff x="952500" y="2667000"/>
              <a:chExt cx="9144000" cy="33337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2500" y="2667000"/>
                <a:ext cx="19050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1A73E8">
                  <a:alpha val="15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679019" y="2780824"/>
                <a:ext cx="4519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源文件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32385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4243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8862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4FC3F7">
                  <a:alpha val="30000"/>
                </a:srgbClr>
              </a:solidFill>
              <a:ln w="9525">
                <a:solidFill>
                  <a:srgbClr val="4FC3F7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0720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0D47A1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5339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7197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377815" y="2772728"/>
                <a:ext cx="279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...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561975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80560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572250" y="2667000"/>
                <a:ext cx="95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CAF50">
                  <a:alpha val="15000"/>
                </a:srgbClr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800469" y="2788920"/>
                <a:ext cx="496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CRC32 ✓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7620000" y="28384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4288">
                <a:solidFill>
                  <a:srgbClr val="333333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8020050" y="27908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0" y="2667000"/>
                <a:ext cx="19050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CAF50">
                  <a:alpha val="15000"/>
                </a:srgbClr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19624" y="2780824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目标文件（完整写入）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939165" y="3315652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每块独立封装为 DATA 消息，附带偏移量和CRC32校验值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165" y="3601402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接收端逐块校验，校验失败立即终止并返回 CHECKSUM_ERROR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71500" y="4333875"/>
            <a:ext cx="11049000" cy="1905000"/>
            <a:chOff x="571500" y="4333875"/>
            <a:chExt cx="11049000" cy="1905000"/>
          </a:xfrm>
        </p:grpSpPr>
        <p:grpSp>
          <p:nvGrpSpPr>
            <p:cNvPr id="63" name="Group 63"/>
            <p:cNvGrpSpPr/>
            <p:nvPr/>
          </p:nvGrpSpPr>
          <p:grpSpPr>
            <a:xfrm>
              <a:off x="571500" y="4333875"/>
              <a:ext cx="3524250" cy="1905000"/>
              <a:chOff x="571500" y="4333875"/>
              <a:chExt cx="3524250" cy="1905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571500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57250" y="4476750"/>
                <a:ext cx="571500" cy="571500"/>
              </a:xfrm>
              <a:prstGeom prst="ellipse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96823" y="4715828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602105" y="45691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分块传输策略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605915" y="4839652"/>
                <a:ext cx="1813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每块8KB，平衡内存与效率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43915" y="5220652"/>
                <a:ext cx="15371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逐块传输，逐块确认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43915" y="5458778"/>
                <a:ext cx="17902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支持大文件（最大4GB）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3915" y="5696902"/>
                <a:ext cx="10771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内存占用可控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4333875" y="4333875"/>
              <a:ext cx="3524250" cy="1905000"/>
              <a:chOff x="4333875" y="4333875"/>
              <a:chExt cx="3524250" cy="19050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4333875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4333875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4619625" y="4476750"/>
                <a:ext cx="571500" cy="571500"/>
              </a:xfrm>
              <a:prstGeom prst="ellipse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769640" y="4723924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CRC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364480" y="4569142"/>
                <a:ext cx="1493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CRC32 校验机制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368290" y="4839652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每个数据块附带校验值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4606290" y="5220652"/>
                <a:ext cx="16905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接收端重新计算并比对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606290" y="5458778"/>
                <a:ext cx="16905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校验失败立即终止传输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606290" y="5696902"/>
                <a:ext cx="12304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确保数据完整性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096250" y="4333875"/>
              <a:ext cx="3524250" cy="1905000"/>
              <a:chOff x="8096250" y="4333875"/>
              <a:chExt cx="3524250" cy="19050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096250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8096250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8382000" y="4476750"/>
                <a:ext cx="571500" cy="571500"/>
              </a:xfrm>
              <a:prstGeom prst="ellipse">
                <a:avLst/>
              </a:prstGeom>
              <a:solidFill>
                <a:srgbClr val="FDE8E0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601904" y="46996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6B35"/>
                    </a:solidFill>
                    <a:latin typeface="Arial"/>
                    <a:ea typeface="Microsoft YaHei"/>
                    <a:cs typeface="Arial"/>
                  </a:rPr>
                  <a:t>%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126855" y="45691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实时进度显示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130665" y="4839652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进度条实时更新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368665" y="5220652"/>
                <a:ext cx="14911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显示传输速率 MB/s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368665" y="5458778"/>
                <a:ext cx="12304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百分比完成指示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8382000" y="5715000"/>
                <a:ext cx="29527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E0E0E0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8382000" y="5715000"/>
                <a:ext cx="17716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986385" y="5959316"/>
                <a:ext cx="17439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66666"/>
                    </a:solidFill>
                    <a:latin typeface="Consolas"/>
                    <a:ea typeface="Microsoft YaHei"/>
                    <a:cs typeface="Consolas"/>
                  </a:rPr>
                  <a:t>[######......] 60% 1.23MB/s</a:t>
                </a:r>
              </a:p>
            </p:txBody>
          </p:sp>
        </p:grpSp>
      </p:grpSp>
      <p:sp>
        <p:nvSpPr>
          <p:cNvPr id="87" name="TextBox 87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3" grpId="0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2111311" cy="438150"/>
            <a:chOff x="571500" y="523875"/>
            <a:chExt cx="2111311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安全防护机制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095375"/>
            <a:ext cx="3524250" cy="4953000"/>
            <a:chOff x="571500" y="1095375"/>
            <a:chExt cx="3524250" cy="495300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047875" y="1285875"/>
              <a:ext cx="571500" cy="57150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58649" y="1440180"/>
              <a:ext cx="14995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F4444"/>
                  </a:solidFill>
                  <a:latin typeface="Georgia"/>
                  <a:ea typeface="Microsoft YaHei"/>
                  <a:cs typeface="Georgia"/>
                </a:rPr>
                <a:t>1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143125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24489" y="26955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F4444"/>
                  </a:solidFill>
                  <a:latin typeface="Georgia"/>
                  <a:ea typeface="Microsoft YaHei"/>
                  <a:cs typeface="Georgia"/>
                </a:rPr>
                <a:t>路径遍历防护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714500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962" y="31646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禁止使用绝对路径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34189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path[0] != '/'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62" y="37361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禁止上级目录引用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0118" y="399049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strstr(path, "..") == NULL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962" y="43076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路径解析验证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0118" y="456199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validate_path()检查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962" y="487918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防止越权访问根目录外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51334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所有操作限制在根目录内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33875" y="1095375"/>
            <a:ext cx="3524250" cy="4953000"/>
            <a:chOff x="4333875" y="1095375"/>
            <a:chExt cx="3524250" cy="4953000"/>
          </a:xfrm>
        </p:grpSpPr>
        <p:sp>
          <p:nvSpPr>
            <p:cNvPr id="23" name="Rectangle 23"/>
            <p:cNvSpPr/>
            <p:nvPr/>
          </p:nvSpPr>
          <p:spPr>
            <a:xfrm>
              <a:off x="4333875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33875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10250" y="1285875"/>
              <a:ext cx="571500" cy="571500"/>
            </a:xfrm>
            <a:prstGeom prst="ellipse">
              <a:avLst/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80769" y="1440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2</a:t>
              </a:r>
            </a:p>
          </p:txBody>
        </p:sp>
        <p:sp>
          <p:nvSpPr>
            <p:cNvPr id="27" name="Polygon 27"/>
            <p:cNvSpPr/>
            <p:nvPr/>
          </p:nvSpPr>
          <p:spPr>
            <a:xfrm>
              <a:off x="5905500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86864" y="26955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文件操作限制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476875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05338" y="316468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文件名长度限制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2492" y="3418999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MAX_FILENAME = 255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5338" y="37361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删除操作类型检查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02492" y="39904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unlink() / rmdir()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5338" y="430768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权限验证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2492" y="4561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用户权限检查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5338" y="487918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操作原子性保障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02492" y="51334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避免竞态条件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096250" y="1095375"/>
            <a:ext cx="3524250" cy="4953000"/>
            <a:chOff x="8096250" y="1095375"/>
            <a:chExt cx="3524250" cy="4953000"/>
          </a:xfrm>
        </p:grpSpPr>
        <p:sp>
          <p:nvSpPr>
            <p:cNvPr id="39" name="Rectangle 39"/>
            <p:cNvSpPr/>
            <p:nvPr/>
          </p:nvSpPr>
          <p:spPr>
            <a:xfrm>
              <a:off x="8096250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96250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72625" y="1285875"/>
              <a:ext cx="571500" cy="571500"/>
            </a:xfrm>
            <a:prstGeom prst="ellipse">
              <a:avLst/>
            </a:prstGeom>
            <a:solidFill>
              <a:srgbClr val="4CAF50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43144" y="1440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3</a:t>
              </a:r>
            </a:p>
          </p:txBody>
        </p:sp>
        <p:sp>
          <p:nvSpPr>
            <p:cNvPr id="43" name="Polygon 43"/>
            <p:cNvSpPr/>
            <p:nvPr/>
          </p:nvSpPr>
          <p:spPr>
            <a:xfrm>
              <a:off x="9667875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49239" y="26955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文件创建防护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239250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67712" y="3164681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O_EXCL模式创建文件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4868" y="34189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O_WRONLY|O_CREAT|O_EXCL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7712" y="37361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防止文件覆盖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64868" y="39904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文件已存在时返回错误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7712" y="43076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传输中断处理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4868" y="4561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部分文件自动删除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67712" y="487918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完整性验证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4868" y="51334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传输完成后校验字节数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571500" y="62865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477887" y="64127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多层防护链路：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51091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输入验证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463415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4441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路径检查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654040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35040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权限控制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844665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22566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操作限制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35290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16290" y="6420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完整性保障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38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3963043" cy="438150"/>
            <a:chOff x="571500" y="523875"/>
            <a:chExt cx="3963043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3837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核心实现：CRC32校验算法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1009650"/>
            <a:ext cx="3657600" cy="4419600"/>
            <a:chOff x="533400" y="1009650"/>
            <a:chExt cx="3657600" cy="4419600"/>
          </a:xfrm>
        </p:grpSpPr>
        <p:sp>
          <p:nvSpPr>
            <p:cNvPr id="7" name="TextBox 7"/>
            <p:cNvSpPr txBox="1"/>
            <p:nvPr/>
          </p:nvSpPr>
          <p:spPr>
            <a:xfrm>
              <a:off x="533400" y="1009650"/>
              <a:ext cx="1341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CRC32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260" y="14897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循环冗余校验算法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71500" y="1840706"/>
              <a:ext cx="1764840" cy="404813"/>
              <a:chOff x="571500" y="1840706"/>
              <a:chExt cx="1764840" cy="404813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571500" y="1905000"/>
                <a:ext cx="190500" cy="190500"/>
              </a:xfrm>
              <a:prstGeom prst="ellipse">
                <a:avLst/>
              </a:prstGeom>
              <a:solidFill>
                <a:srgbClr val="1A73E8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34617" y="1950720"/>
                <a:ext cx="642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42962" y="1840706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基于多项式除法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44868" y="2047399"/>
                <a:ext cx="14914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IEEE 802.3 标准多项式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1500" y="2412206"/>
              <a:ext cx="1529882" cy="404813"/>
              <a:chOff x="571500" y="2412206"/>
              <a:chExt cx="1529882" cy="404813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571500" y="2476500"/>
                <a:ext cx="190500" cy="190500"/>
              </a:xfrm>
              <a:prstGeom prst="ellipse">
                <a:avLst/>
              </a:prstGeom>
              <a:solidFill>
                <a:srgbClr val="4FC3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17365" y="25222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4FC3F7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42962" y="24122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查表法优化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4868" y="2618899"/>
                <a:ext cx="12565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预计算256项查找表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71500" y="2983706"/>
              <a:ext cx="1121568" cy="426244"/>
              <a:chOff x="571500" y="2983706"/>
              <a:chExt cx="1121568" cy="426244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71500" y="3048000"/>
                <a:ext cx="190500" cy="190500"/>
              </a:xfrm>
              <a:prstGeom prst="ellipse">
                <a:avLst/>
              </a:prstGeom>
              <a:solidFill>
                <a:srgbClr val="0D47A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17365" y="30937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2962" y="29837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时间复杂度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2010" y="3166110"/>
                <a:ext cx="4721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O(n)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3555206"/>
              <a:ext cx="1318879" cy="411956"/>
              <a:chOff x="571500" y="3555206"/>
              <a:chExt cx="1318879" cy="411956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571500" y="3619500"/>
                <a:ext cx="190500" cy="190500"/>
              </a:xfrm>
              <a:prstGeom prst="ellipse">
                <a:avLst/>
              </a:prstGeom>
              <a:solidFill>
                <a:srgbClr val="FF6B3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17365" y="36652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6B35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2962" y="35552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校验值长度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3915" y="3753802"/>
                <a:ext cx="10464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Consolas"/>
                    <a:ea typeface="Microsoft YaHei"/>
                    <a:cs typeface="Consolas"/>
                  </a:rPr>
                  <a:t>32位（4字节）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71500" y="4126706"/>
              <a:ext cx="1515642" cy="404813"/>
              <a:chOff x="571500" y="4126706"/>
              <a:chExt cx="1515642" cy="404813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571500" y="4191000"/>
                <a:ext cx="190500" cy="190500"/>
              </a:xfrm>
              <a:prstGeom prst="ellipse">
                <a:avLst/>
              </a:prstGeom>
              <a:solidFill>
                <a:srgbClr val="4CAF5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17365" y="42367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2962" y="4126706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检错能力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4868" y="4333399"/>
                <a:ext cx="1242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检测单/双比特错误</a:t>
                </a:r>
              </a:p>
            </p:txBody>
          </p:sp>
        </p:grpSp>
        <p:sp>
          <p:nvSpPr>
            <p:cNvPr id="34" name="Rectangle 34"/>
            <p:cNvSpPr/>
            <p:nvPr/>
          </p:nvSpPr>
          <p:spPr>
            <a:xfrm>
              <a:off x="571500" y="4762500"/>
              <a:ext cx="3619500" cy="666750"/>
            </a:xfrm>
            <a:prstGeom prst="roundRect">
              <a:avLst>
                <a:gd name="adj" fmla="val 11429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45875" y="48872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性能对比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0118" y="5181124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暴力法: O(n×32)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54618" y="5181124"/>
              <a:ext cx="959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查表法: O(n)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4476750" y="1047750"/>
            <a:ext cx="7143750" cy="5048250"/>
            <a:chOff x="4476750" y="1047750"/>
            <a:chExt cx="7143750" cy="5048250"/>
          </a:xfrm>
        </p:grpSpPr>
        <p:sp>
          <p:nvSpPr>
            <p:cNvPr id="39" name="Rectangle 39"/>
            <p:cNvSpPr/>
            <p:nvPr/>
          </p:nvSpPr>
          <p:spPr>
            <a:xfrm>
              <a:off x="4476750" y="1047750"/>
              <a:ext cx="7143750" cy="5048250"/>
            </a:xfrm>
            <a:prstGeom prst="roundRect">
              <a:avLst>
                <a:gd name="adj" fmla="val 1887"/>
              </a:avLst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476750" y="1047750"/>
              <a:ext cx="7143750" cy="333375"/>
            </a:xfrm>
            <a:prstGeom prst="roundRect">
              <a:avLst>
                <a:gd name="adj" fmla="val 28571"/>
              </a:avLst>
            </a:prstGeom>
            <a:solidFill>
              <a:srgbClr val="2D2D3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476750" y="1285875"/>
              <a:ext cx="7143750" cy="95250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657725" y="1152525"/>
              <a:ext cx="114300" cy="114300"/>
            </a:xfrm>
            <a:prstGeom prst="ellipse">
              <a:avLst/>
            </a:prstGeom>
            <a:solidFill>
              <a:srgbClr val="EF4444">
                <a:alpha val="70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848225" y="1152525"/>
              <a:ext cx="114300" cy="114300"/>
            </a:xfrm>
            <a:prstGeom prst="ellipse">
              <a:avLst/>
            </a:prstGeom>
            <a:solidFill>
              <a:srgbClr val="FF6B35">
                <a:alpha val="70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038725" y="1152525"/>
              <a:ext cx="114300" cy="114300"/>
            </a:xfrm>
            <a:prstGeom prst="ellipse">
              <a:avLst/>
            </a:prstGeom>
            <a:solidFill>
              <a:srgbClr val="4CAF50">
                <a:alpha val="7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39527" y="1169670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protocol.c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0118" y="156162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35868" y="1561624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9955"/>
                  </a:solidFill>
                  <a:latin typeface="Consolas"/>
                  <a:ea typeface="Microsoft YaHei"/>
                  <a:cs typeface="Consolas"/>
                </a:rPr>
                <a:t>/* CRC32 查表法 */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50118" y="17997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35868" y="179974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static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2118" y="17997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6492" y="179974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DCAA"/>
                  </a:solidFill>
                  <a:latin typeface="Consolas"/>
                  <a:ea typeface="Microsoft YaHei"/>
                  <a:cs typeface="Consolas"/>
                </a:rPr>
                <a:t>crc32_table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26618" y="1799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E9178"/>
                  </a:solidFill>
                  <a:latin typeface="Consolas"/>
                  <a:ea typeface="Microsoft YaHei"/>
                  <a:cs typeface="Consolas"/>
                </a:rPr>
                <a:t>[256]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07618" y="17997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;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50118" y="20378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50118" y="227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35868" y="22759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void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69242" y="2275999"/>
              <a:ext cx="978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DCAA"/>
                  </a:solidFill>
                  <a:latin typeface="Consolas"/>
                  <a:ea typeface="Microsoft YaHei"/>
                  <a:cs typeface="Consolas"/>
                </a:rPr>
                <a:t>crc_fill_table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55118" y="227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50118" y="25141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35868" y="25141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50118" y="2752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178742" y="27522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893118" y="27522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target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16992" y="2752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07492" y="2752249"/>
              <a:ext cx="807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5CEA8"/>
                  </a:solidFill>
                  <a:latin typeface="Consolas"/>
                  <a:ea typeface="Microsoft YaHei"/>
                  <a:cs typeface="Consolas"/>
                </a:rPr>
                <a:t>0xEDB88320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07618" y="2752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750118" y="29903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178742" y="2990374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for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64492" y="29903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559742" y="2990374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4118" y="299037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69368" y="2990374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0; i &lt; 256; i++)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750118" y="3228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178742" y="3228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750118" y="34666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9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321618" y="3466624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35992" y="3466624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74118" y="3466624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i;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750118" y="37047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321618" y="37047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for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07368" y="37047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702618" y="37047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int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940742" y="370474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j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35992" y="370474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0; j &lt; 8; j++)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750118" y="394287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464492" y="39428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if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654992" y="3942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(crc &amp; 1)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4750118" y="41809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607368" y="4180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845492" y="41809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(crc &gt;&gt; 1) ^ target;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750118" y="44191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464492" y="4419124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else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750118" y="46572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07368" y="46572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845492" y="4657249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&gt;&gt;= 1;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750118" y="48953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321618" y="4895374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crc32_table[i] = crc;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750118" y="5133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178742" y="5133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750118" y="53716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17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035868" y="53716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750118" y="56097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18</a:t>
              </a:r>
            </a:p>
          </p:txBody>
        </p:sp>
      </p:grpSp>
      <p:sp>
        <p:nvSpPr>
          <p:cNvPr id="104" name="Rectangle 104"/>
          <p:cNvSpPr/>
          <p:nvPr/>
        </p:nvSpPr>
        <p:spPr>
          <a:xfrm>
            <a:off x="4476750" y="6096000"/>
            <a:ext cx="7143750" cy="333375"/>
          </a:xfrm>
          <a:prstGeom prst="roundRect">
            <a:avLst>
              <a:gd name="adj" fmla="val 1714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5833340" y="6201728"/>
            <a:ext cx="4430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查表法将计算复杂度从 O(n×32) 降低到 O(n)，性能提升显著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8" grpId="0"/>
      <p:bldP spid="1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523875"/>
            <a:ext cx="2796540" cy="590550"/>
            <a:chOff x="571500" y="523875"/>
            <a:chExt cx="2796540" cy="5905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系统演示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08660" y="87058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请在此处添加系统运行的实际截图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1238250"/>
            <a:ext cx="1104900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5149215" y="2916555"/>
            <a:ext cx="18935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BDBDBD"/>
                </a:solidFill>
                <a:latin typeface="Georgia"/>
                <a:ea typeface="Microsoft YaHei"/>
                <a:cs typeface="Georgia"/>
              </a:rPr>
              <a:t>系统运行截图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6830" y="3394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请添加终端实际运行截图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143250" y="4095750"/>
            <a:ext cx="5905500" cy="819150"/>
            <a:chOff x="3143250" y="4095750"/>
            <a:chExt cx="5905500" cy="819150"/>
          </a:xfrm>
        </p:grpSpPr>
        <p:sp>
          <p:nvSpPr>
            <p:cNvPr id="11" name="Rectangle 11"/>
            <p:cNvSpPr/>
            <p:nvPr/>
          </p:nvSpPr>
          <p:spPr>
            <a:xfrm>
              <a:off x="31432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1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9946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4FC3F7">
                <a:alpha val="1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771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文件下载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197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0D47A1">
                <a:alpha val="10000"/>
              </a:srgbClr>
            </a:solidFill>
            <a:ln w="9525">
              <a:solidFill>
                <a:srgbClr val="0D47A1">
                  <a:alpha val="3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7596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目录管理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 w="9525">
              <a:solidFill>
                <a:srgbClr val="FF6B35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37534" y="4211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文件重命名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4CAF50">
                <a:alpha val="10000"/>
              </a:srgbClr>
            </a:solidFill>
            <a:ln w="9525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75784" y="4211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进度条显示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08108" y="46872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错误处理示例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9C27B0">
                <a:alpha val="10000"/>
              </a:srgbClr>
            </a:solidFill>
            <a:ln w="9525">
              <a:solidFill>
                <a:srgbClr val="9C27B0">
                  <a:alpha val="30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32108" y="46872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安全防护测试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1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32784" y="46872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大文件传输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571500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859054" y="5887402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提示：建议使用实际运行截图展示系统功能，确保清晰度和可读性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26178" y="6586538"/>
            <a:ext cx="3038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23875"/>
            <a:ext cx="2111311" cy="438150"/>
            <a:chOff x="571500" y="523875"/>
            <a:chExt cx="2111311" cy="438150"/>
          </a:xfrm>
        </p:grpSpPr>
        <p:sp>
          <p:nvSpPr>
            <p:cNvPr id="4" name="Rectangle 4"/>
            <p:cNvSpPr/>
            <p:nvPr/>
          </p:nvSpPr>
          <p:spPr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演示结果示例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3524250" cy="4667250"/>
            <a:chOff x="571500" y="1143000"/>
            <a:chExt cx="352425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333500"/>
              <a:ext cx="285750" cy="285750"/>
            </a:xfrm>
            <a:prstGeom prst="ellipse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3787" y="1420178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1105" y="1378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文件上传演示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1762125"/>
              <a:ext cx="3048000" cy="3238500"/>
            </a:xfrm>
            <a:prstGeom prst="roundRect">
              <a:avLst>
                <a:gd name="adj" fmla="val 25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  <a:custDash>
                <a:ds d="600000" sp="4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80235" y="32994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DBDBD"/>
                  </a:solidFill>
                  <a:latin typeface="Arial"/>
                  <a:ea typeface="Microsoft YaHei"/>
                  <a:cs typeface="Arial"/>
                </a:rPr>
                <a:t>请添加截图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1647" y="37047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上传命令执行过程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2847" y="39428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进度条显示效果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4046" y="4180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上传成功提示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9211" y="52287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进度条 · 传输速率 · CRC校验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33875" y="1333500"/>
            <a:ext cx="3524250" cy="4667250"/>
            <a:chOff x="4333875" y="1333500"/>
            <a:chExt cx="3524250" cy="4667250"/>
          </a:xfrm>
        </p:grpSpPr>
        <p:sp>
          <p:nvSpPr>
            <p:cNvPr id="19" name="Rectangle 19"/>
            <p:cNvSpPr/>
            <p:nvPr/>
          </p:nvSpPr>
          <p:spPr>
            <a:xfrm>
              <a:off x="4333875" y="133350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333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19625" y="1524000"/>
              <a:ext cx="285750" cy="285750"/>
            </a:xfrm>
            <a:prstGeom prst="ellipse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6993" y="161067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83480" y="1568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目录列出演示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0" y="1952625"/>
              <a:ext cx="3048000" cy="3238500"/>
            </a:xfrm>
            <a:prstGeom prst="roundRect">
              <a:avLst>
                <a:gd name="adj" fmla="val 25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  <a:custDash>
                <a:ds d="600000" sp="400000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42610" y="34899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DBDBD"/>
                  </a:solidFill>
                  <a:latin typeface="Arial"/>
                  <a:ea typeface="Microsoft YaHei"/>
                  <a:cs typeface="Arial"/>
                </a:rPr>
                <a:t>请添加截图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77781" y="3895249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list命令输出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71624" y="413337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文件类型、大小、时间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85222" y="4371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子目录内容展示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36666" y="541924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文件信息 · 类型标识 · 时间戳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96250" y="1143000"/>
            <a:ext cx="3524250" cy="4667250"/>
            <a:chOff x="8096250" y="1143000"/>
            <a:chExt cx="3524250" cy="4667250"/>
          </a:xfrm>
        </p:grpSpPr>
        <p:sp>
          <p:nvSpPr>
            <p:cNvPr id="31" name="Rectangle 31"/>
            <p:cNvSpPr/>
            <p:nvPr/>
          </p:nvSpPr>
          <p:spPr>
            <a:xfrm>
              <a:off x="8096250" y="114300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96250" y="11430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382000" y="1333500"/>
              <a:ext cx="285750" cy="285750"/>
            </a:xfrm>
            <a:prstGeom prst="ellipse">
              <a:avLst/>
            </a:prstGeom>
            <a:solidFill>
              <a:srgbClr val="FDE8E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69368" y="142017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45855" y="13782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大文件传输演示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34375" y="1762125"/>
              <a:ext cx="3048000" cy="3238500"/>
            </a:xfrm>
            <a:prstGeom prst="roundRect">
              <a:avLst>
                <a:gd name="adj" fmla="val 25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  <a:custDash>
                <a:ds d="600000" sp="4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04985" y="32994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DBDBD"/>
                  </a:solidFill>
                  <a:latin typeface="Arial"/>
                  <a:ea typeface="Microsoft YaHei"/>
                  <a:cs typeface="Arial"/>
                </a:rPr>
                <a:t>请添加截图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08437" y="3704749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大文件上传/下载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47597" y="39428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实时进度和速率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47597" y="4180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完整性校验结果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10042" y="5228749"/>
              <a:ext cx="20966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2MB+文件 · 分块传输 · cmp验证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71500" y="60960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3552349" y="6230302"/>
            <a:ext cx="50873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提示：截图应展示系统实际运行状态，包含命令输入、处理过程和结果输出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30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AF50">
                  <a:alpha val="8000"/>
                </a:srgbClr>
              </a:gs>
              <a:gs pos="100000">
                <a:srgbClr val="4CAF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40957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19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381000"/>
            <a:ext cx="2111311" cy="438150"/>
            <a:chOff x="571500" y="381000"/>
            <a:chExt cx="2111311" cy="438150"/>
          </a:xfrm>
        </p:grpSpPr>
        <p:sp>
          <p:nvSpPr>
            <p:cNvPr id="9" name="Rectangle 9"/>
            <p:cNvSpPr/>
            <p:nvPr/>
          </p:nvSpPr>
          <p:spPr>
            <a:xfrm>
              <a:off x="571500" y="381000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392430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集成测试结果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904875"/>
            <a:ext cx="5186839" cy="2664619"/>
            <a:chOff x="571500" y="904875"/>
            <a:chExt cx="5186839" cy="2664619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904875"/>
              <a:ext cx="1467802" cy="300037"/>
              <a:chOff x="571500" y="904875"/>
              <a:chExt cx="1467802" cy="300037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71500" y="9048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56759" y="9915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165" y="982028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mkdir 创建目录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952750" y="904875"/>
              <a:ext cx="1161097" cy="300037"/>
              <a:chOff x="2952750" y="904875"/>
              <a:chExt cx="1161097" cy="30003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952750" y="9048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038009" y="9915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20415" y="982028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单文件上传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71500" y="1333500"/>
              <a:ext cx="1161097" cy="300038"/>
              <a:chOff x="571500" y="1333500"/>
              <a:chExt cx="1161097" cy="300038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571500" y="133350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56759" y="14201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9165" y="14106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多文件上传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952750" y="1333500"/>
              <a:ext cx="1007745" cy="300038"/>
              <a:chOff x="2952750" y="1333500"/>
              <a:chExt cx="1007745" cy="300038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2952750" y="133350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038009" y="14201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20415" y="14106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文件下载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1762125"/>
              <a:ext cx="1007745" cy="300037"/>
              <a:chOff x="571500" y="1762125"/>
              <a:chExt cx="1007745" cy="300037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71500" y="176212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6759" y="1848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39165" y="18392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列根目录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952750" y="1762125"/>
              <a:ext cx="1007745" cy="300037"/>
              <a:chOff x="2952750" y="1762125"/>
              <a:chExt cx="1007745" cy="300037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2952750" y="176212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038009" y="1848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20415" y="18392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列子目录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2190750"/>
              <a:ext cx="1161097" cy="300038"/>
              <a:chOff x="571500" y="2190750"/>
              <a:chExt cx="1161097" cy="30003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571500" y="219075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56759" y="227742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39165" y="226790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文件重命名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952750" y="2190750"/>
              <a:ext cx="1398794" cy="300038"/>
              <a:chOff x="2952750" y="2190750"/>
              <a:chExt cx="1398794" cy="300038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2952750" y="219075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038009" y="227742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320415" y="2267902"/>
                <a:ext cx="10311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删除文件/目录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71500" y="2619375"/>
              <a:ext cx="1314450" cy="300037"/>
              <a:chOff x="571500" y="2619375"/>
              <a:chExt cx="1314450" cy="300037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571500" y="26193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56759" y="27060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9165" y="2696528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路径遍历防护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952750" y="2619375"/>
              <a:ext cx="1659493" cy="300037"/>
              <a:chOff x="2952750" y="2619375"/>
              <a:chExt cx="1659493" cy="300037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2952750" y="26193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038009" y="27060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20415" y="2696528"/>
                <a:ext cx="1291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大文件传输 (2MB)</a:t>
                </a:r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749618" y="3133249"/>
              <a:ext cx="50087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测试覆盖：文件上传、下载、目录管理、重命名、删除、安全防护、大文件传输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618" y="3371374"/>
              <a:ext cx="4275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数据完整性验证：cmp命令逐字节对比，确保传输前后内容完全一致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0" y="904875"/>
            <a:ext cx="5905500" cy="2857500"/>
            <a:chOff x="5715000" y="904875"/>
            <a:chExt cx="5905500" cy="2857500"/>
          </a:xfrm>
        </p:grpSpPr>
        <p:sp>
          <p:nvSpPr>
            <p:cNvPr id="55" name="Rectangle 55"/>
            <p:cNvSpPr/>
            <p:nvPr/>
          </p:nvSpPr>
          <p:spPr>
            <a:xfrm>
              <a:off x="5715000" y="904875"/>
              <a:ext cx="5905500" cy="2857500"/>
            </a:xfrm>
            <a:prstGeom prst="roundRect">
              <a:avLst>
                <a:gd name="adj" fmla="val 4000"/>
              </a:avLst>
            </a:prstGeom>
            <a:solidFill>
              <a:srgbClr val="0D47A1">
                <a:alpha val="3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87700" y="12506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测试结果汇总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34155" y="1889760"/>
              <a:ext cx="266719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10/10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92821" y="29489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77000" y="3333750"/>
              <a:ext cx="4381500" cy="762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7000" y="3333750"/>
              <a:ext cx="4381500" cy="7620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</p:grpSp>
      <p:sp>
        <p:nvSpPr>
          <p:cNvPr id="62" name="Rectangle 62"/>
          <p:cNvSpPr/>
          <p:nvPr/>
        </p:nvSpPr>
        <p:spPr>
          <a:xfrm>
            <a:off x="571500" y="409575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0D47A1">
              <a:alpha val="30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712714" y="4299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测试环境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23587" y="4601528"/>
            <a:ext cx="3944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EC5"/>
                </a:solidFill>
                <a:latin typeface="Consolas"/>
                <a:ea typeface="Microsoft YaHei"/>
                <a:cs typeface="Consolas"/>
              </a:rPr>
              <a:t>Arch Linux | GCC 16.1.1 | C11 Standard | 127.0.0.1:18888</a:t>
            </a:r>
          </a:p>
        </p:txBody>
      </p:sp>
      <p:sp>
        <p:nvSpPr>
          <p:cNvPr id="65" name="Rectangle 6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D47A1">
              <a:alpha val="40000"/>
            </a:srgbClr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549140" y="6506528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所有测试用例通过，系统功能完整、稳定可靠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4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0000"/>
                </a:srgbClr>
              </a:gs>
              <a:gs pos="100000">
                <a:srgbClr val="1A73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52500" y="476250"/>
            <a:ext cx="1905000" cy="1905000"/>
          </a:xfrm>
          <a:prstGeom prst="ellipse">
            <a:avLst/>
          </a:prstGeom>
          <a:noFill/>
          <a:ln w="4762">
            <a:solidFill>
              <a:srgbClr val="4FC3F7">
                <a:alpha val="1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525000" y="4953000"/>
            <a:ext cx="1524000" cy="1524000"/>
          </a:xfrm>
          <a:prstGeom prst="ellipse">
            <a:avLst/>
          </a:prstGeom>
          <a:noFill/>
          <a:ln w="4762">
            <a:solidFill>
              <a:srgbClr val="1A73E8">
                <a:alpha val="1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819555" y="756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课程设计总结</a:t>
            </a:r>
          </a:p>
        </p:txBody>
      </p:sp>
      <p:sp>
        <p:nvSpPr>
          <p:cNvPr id="7" name="Line 7"/>
          <p:cNvSpPr/>
          <p:nvPr/>
        </p:nvSpPr>
        <p:spPr>
          <a:xfrm>
            <a:off x="3810000" y="11906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4FC3F7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077605" y="1330642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巩固理论知识 · 提升实践能力 · 培养工程思维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905000"/>
            <a:ext cx="2571750" cy="2381250"/>
            <a:chOff x="762000" y="1905000"/>
            <a:chExt cx="2571750" cy="2381250"/>
          </a:xfrm>
        </p:grpSpPr>
        <p:sp>
          <p:nvSpPr>
            <p:cNvPr id="9" name="Rectangle 9"/>
            <p:cNvSpPr/>
            <p:nvPr/>
          </p:nvSpPr>
          <p:spPr>
            <a:xfrm>
              <a:off x="76200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0975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4FC3F7">
                  <a:alpha val="5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88965" y="2231708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FC3F7"/>
                  </a:solidFill>
                  <a:latin typeface="Georgia"/>
                  <a:ea typeface="Microsoft YaHei"/>
                  <a:cs typeface="Georgia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876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技术层面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31251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网络编程与Socket 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33918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多线程并发处理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415" y="36585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二进制协议设计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3925252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CRC32数据校验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524250" y="1905000"/>
            <a:ext cx="2571750" cy="2381250"/>
            <a:chOff x="3524250" y="1905000"/>
            <a:chExt cx="2571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352425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57200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1958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101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工程层面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666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模块化代码组织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6665" y="33918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测试自动化执行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96665" y="36585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编译期断言验证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96665" y="39252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接口设计规范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905000"/>
            <a:ext cx="2571750" cy="2381250"/>
            <a:chOff x="6286500" y="1905000"/>
            <a:chExt cx="2571750" cy="2381250"/>
          </a:xfrm>
        </p:grpSpPr>
        <p:sp>
          <p:nvSpPr>
            <p:cNvPr id="27" name="Rectangle 27"/>
            <p:cNvSpPr/>
            <p:nvPr/>
          </p:nvSpPr>
          <p:spPr>
            <a:xfrm>
              <a:off x="628650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33425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FF6B35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8183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326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安全层面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8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输入验证与防护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8915" y="33918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路径遍历攻击防护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6585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文件操作权限控制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8915" y="39252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数据完整性保障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48750" y="1905000"/>
            <a:ext cx="2571750" cy="2381250"/>
            <a:chOff x="9048750" y="1905000"/>
            <a:chExt cx="2571750" cy="2381250"/>
          </a:xfrm>
        </p:grpSpPr>
        <p:sp>
          <p:nvSpPr>
            <p:cNvPr id="36" name="Rectangle 36"/>
            <p:cNvSpPr/>
            <p:nvPr/>
          </p:nvSpPr>
          <p:spPr>
            <a:xfrm>
              <a:off x="904875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09650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4CAF50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4408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5551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实践收获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21165" y="31251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调试能力提升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1165" y="33918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问题解决经验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21165" y="36585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工程思维培养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1165" y="392525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SIGPIPE等实战经验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62000" y="4572000"/>
            <a:ext cx="10858500" cy="952500"/>
          </a:xfrm>
          <a:prstGeom prst="roundRect">
            <a:avLst>
              <a:gd name="adj" fmla="val 10000"/>
            </a:avLst>
          </a:prstGeom>
          <a:solidFill>
            <a:srgbClr val="1A73E8">
              <a:alpha val="15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712142" y="47434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关键收获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42680" y="5117306"/>
            <a:ext cx="56971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从协议设计到功能实现的完整开发经历 · 深入理解TCP/IP协议栈和Socket编程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794522" y="5326856"/>
            <a:ext cx="4793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积累实践经验：SIGPIPE、内存泄漏、TCP粘包等问题的调试与解决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5810250"/>
            <a:ext cx="10858500" cy="476250"/>
          </a:xfrm>
          <a:prstGeom prst="roundRect">
            <a:avLst>
              <a:gd name="adj" fmla="val 16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712142" y="59531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谢谢老师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95908" y="6458902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FC3F7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5" grpId="0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