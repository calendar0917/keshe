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7B897C-AD5E-5090-7060-6DC14A6BA6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360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76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首先，让我们了解一下项目的背景。文件传输是计算机网络中最基础和最常用的应用之一。传统的FTP服务器虽然功能完善，但协议复杂度高，对于特定应用场景而言过于庞大。因此，设计一个轻量级、可定制的文件传输服务器具有实际工程价值。本课程设计的目标是综合运用网络编程、多线程并发等核心技术，深入理解C/S架构的工作原理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221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33186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接下来，让我们看看系统的总体架构。本系统采用经典的客户端-服务器架构。服务器端监听指定端口，接受客户端连接请求。客户端通过TCP连接与服务器通信，发送命令请求并接收响应。系统采用多线程并发处理，每个客户端连接由独立的工作线程处理，支持多个客户端同时操作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716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658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现在，让我们深入了解自定义协议的设计。系统采用二进制协议，包含15字节的固定头部和可变长度的负载。协议头部包括魔数标识、版本号、消息类型、命令码、状态码、负载长度和CRC32校验值。这种设计相比文本协议具有传输效率高、解析速度快的优点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411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4113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在协议设计中，状态码和命令码是非常重要的组成部分。状态码用于反馈操作结果，如成功、文件不存在、路径非法等。命令码定义了系统支持的操作，包括创建目录、上传下载文件、列目录、删除和重命名等。这种分段编码设计便于未来扩展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275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3229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系统采用模块化的代码组织方式。协议层负责数据格式化与校验，传输层处理文件上传下载和进度管理，应用层实现命令处理和用户交互，工具层提供路径校验、日志等通用辅助功能。各层职责清晰，接口明确。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42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755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在并发处理方面，系统采用"每连接一线程"的模型。主线程负责监听和接受连接，每个新连接由pthread_create创建工作线程进行处理。工作线程设置为分离状态，结束后自动回收资源。这种模型实现简单，适合连接数不高的场景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311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862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文件传输是系统的核心功能。系统采用分块传输策略，每块8KB，支持大文件传输。每个数据块都附带CRC32校验值，确保数据完整性。传输过程中实时显示进度条和传输速率，给用户直观的反馈。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6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523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在安全防护方面，系统实现了多层防护机制。首先是路径遍历防护，禁止使用绝对路径和上级目录引用。其次是文件操作限制，所有操作都限制在服务器根目录范围内。最后是文件创建防护，使用O_EXCL模式防止文件覆盖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228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63468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这里展示了CRC32校验算法的核心实现。系统采用查表法，通过预计算256项查找表，将时间复杂度从O(n×32)降低到O(n)。这是性能优化的一个典型例子，体现了算法选择对程序效率的重要影响。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3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3183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接下来是系统演示部分。请观看实际运行演示，展示文件上传、下载、目录管理等功能。演示将展示系统的交互式Shell界面、进度条显示、大文件传输等核心功能。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040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9827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这里展示了演示的三个关键场景。文件上传演示展示了进度条和传输速率。目录列出演示展示了文件信息的完整显示。大文件传输演示展示了系统的可靠性和性能。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160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35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系统经过了全面的集成测试，10项测试用例全部通过。测试覆盖了文件上传、下载、目录管理、重命名、删除、安全防护和大文件传输等全部功能。测试环境为Arch Linux，使用GCC 16.1.1编译器，本地回环测试。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561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1139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通过本次课程设计，我收获了很多。在技术层面，深入理解了网络编程、多线程并发、协议设计和数据校验。在工程层面，掌握了模块化代码组织、测试自动化和编译期断言验证。在安全层面，理解了输入验证和路径校验的重要性。更重要的是，积累了宝贵的实践经验，提升了调试能力和问题解决能力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3285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51688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319816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24049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03733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2501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00606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0568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399505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2347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24462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1080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66569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276981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8171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689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36219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541108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56421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497909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35658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1703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7450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43979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784395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084009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490461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4209503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083066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0154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440626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2174991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41077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48591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794230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92891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7135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834068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65915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74460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795695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56931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65139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742166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039158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2532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949843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3746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5567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61839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2590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311164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33790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7632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542395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76629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886910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42530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73814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63445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268032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631233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605845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859295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37998178" name="Rectangle 3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5000"/>
                </a:srgbClr>
              </a:gs>
              <a:gs pos="100000">
                <a:srgbClr val="1A73E8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726798988" name="Rectangle 4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FC3F7">
                  <a:alpha val="10000"/>
                </a:srgbClr>
              </a:gs>
              <a:gs pos="100000">
                <a:srgbClr val="4FC3F7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1724010819" name="Ellipse 5"/>
          <p:cNvSpPr/>
          <p:nvPr/>
        </p:nvSpPr>
        <p:spPr bwMode="auto">
          <a:xfrm>
            <a:off x="8572500" y="-476250"/>
            <a:ext cx="3810000" cy="3810000"/>
          </a:xfrm>
          <a:prstGeom prst="ellipse">
            <a:avLst/>
          </a:prstGeom>
          <a:noFill/>
          <a:ln w="9525">
            <a:solidFill>
              <a:srgbClr val="1A73E8">
                <a:alpha val="15000"/>
              </a:srgbClr>
            </a:solidFill>
          </a:ln>
        </p:spPr>
      </p:sp>
      <p:sp>
        <p:nvSpPr>
          <p:cNvPr id="1714514415" name="Ellipse 6"/>
          <p:cNvSpPr/>
          <p:nvPr/>
        </p:nvSpPr>
        <p:spPr bwMode="auto">
          <a:xfrm>
            <a:off x="9048750" y="0"/>
            <a:ext cx="2857500" cy="2857500"/>
          </a:xfrm>
          <a:prstGeom prst="ellipse">
            <a:avLst/>
          </a:prstGeom>
          <a:noFill/>
          <a:ln w="4762">
            <a:solidFill>
              <a:srgbClr val="4FC3F7">
                <a:alpha val="10000"/>
              </a:srgbClr>
            </a:solidFill>
          </a:ln>
        </p:spPr>
      </p:sp>
      <p:sp>
        <p:nvSpPr>
          <p:cNvPr id="283969021" name="Ellipse 7"/>
          <p:cNvSpPr/>
          <p:nvPr/>
        </p:nvSpPr>
        <p:spPr bwMode="auto">
          <a:xfrm>
            <a:off x="571500" y="4572000"/>
            <a:ext cx="2286000" cy="2286000"/>
          </a:xfrm>
          <a:prstGeom prst="ellipse">
            <a:avLst/>
          </a:prstGeom>
          <a:noFill/>
          <a:ln w="4762">
            <a:solidFill>
              <a:srgbClr val="1A73E8">
                <a:alpha val="12000"/>
              </a:srgbClr>
            </a:solidFill>
          </a:ln>
        </p:spPr>
      </p:sp>
      <p:sp>
        <p:nvSpPr>
          <p:cNvPr id="889985961" name="Line 8"/>
          <p:cNvSpPr/>
          <p:nvPr/>
        </p:nvSpPr>
        <p:spPr bwMode="auto">
          <a:xfrm>
            <a:off x="0" y="495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 fill="norm" stroke="1" extrusionOk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1A73E8">
                <a:alpha val="7999"/>
              </a:srgbClr>
            </a:solidFill>
          </a:ln>
        </p:spPr>
      </p:sp>
      <p:sp>
        <p:nvSpPr>
          <p:cNvPr id="379468020" name="Line 9"/>
          <p:cNvSpPr/>
          <p:nvPr/>
        </p:nvSpPr>
        <p:spPr bwMode="auto">
          <a:xfrm>
            <a:off x="2857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 fill="norm" stroke="1" extrusionOk="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4FC3F7">
                <a:alpha val="5000"/>
              </a:srgbClr>
            </a:solidFill>
          </a:ln>
        </p:spPr>
      </p:sp>
      <p:sp>
        <p:nvSpPr>
          <p:cNvPr id="1011824049" name="Ellipse 10"/>
          <p:cNvSpPr/>
          <p:nvPr/>
        </p:nvSpPr>
        <p:spPr bwMode="auto">
          <a:xfrm>
            <a:off x="9020175" y="923925"/>
            <a:ext cx="57150" cy="57150"/>
          </a:xfrm>
          <a:prstGeom prst="ellipse">
            <a:avLst/>
          </a:prstGeom>
          <a:solidFill>
            <a:srgbClr val="4FC3F7">
              <a:alpha val="30000"/>
            </a:srgbClr>
          </a:solidFill>
          <a:ln>
            <a:noFill/>
          </a:ln>
        </p:spPr>
      </p:sp>
      <p:sp>
        <p:nvSpPr>
          <p:cNvPr id="39371535" name="Ellipse 11"/>
          <p:cNvSpPr/>
          <p:nvPr/>
        </p:nvSpPr>
        <p:spPr bwMode="auto">
          <a:xfrm>
            <a:off x="9315450" y="742950"/>
            <a:ext cx="38100" cy="38100"/>
          </a:xfrm>
          <a:prstGeom prst="ellipse">
            <a:avLst/>
          </a:prstGeom>
          <a:solidFill>
            <a:srgbClr val="1A73E8">
              <a:alpha val="20000"/>
            </a:srgbClr>
          </a:solidFill>
          <a:ln>
            <a:noFill/>
          </a:ln>
        </p:spPr>
      </p:sp>
      <p:sp>
        <p:nvSpPr>
          <p:cNvPr id="417106909" name="Ellipse 12"/>
          <p:cNvSpPr/>
          <p:nvPr/>
        </p:nvSpPr>
        <p:spPr bwMode="auto">
          <a:xfrm>
            <a:off x="9677400" y="1104900"/>
            <a:ext cx="76200" cy="76200"/>
          </a:xfrm>
          <a:prstGeom prst="ellipse">
            <a:avLst/>
          </a:prstGeom>
          <a:solidFill>
            <a:srgbClr val="4FC3F7">
              <a:alpha val="15000"/>
            </a:srgbClr>
          </a:solidFill>
          <a:ln>
            <a:noFill/>
          </a:ln>
        </p:spPr>
      </p:sp>
      <p:sp>
        <p:nvSpPr>
          <p:cNvPr id="1424863059" name="Ellipse 13"/>
          <p:cNvSpPr/>
          <p:nvPr/>
        </p:nvSpPr>
        <p:spPr bwMode="auto">
          <a:xfrm>
            <a:off x="923925" y="1876425"/>
            <a:ext cx="57150" cy="57150"/>
          </a:xfrm>
          <a:prstGeom prst="ellipse">
            <a:avLst/>
          </a:prstGeom>
          <a:solidFill>
            <a:srgbClr val="4FC3F7">
              <a:alpha val="20000"/>
            </a:srgbClr>
          </a:solidFill>
          <a:ln>
            <a:noFill/>
          </a:ln>
        </p:spPr>
      </p:sp>
      <p:sp>
        <p:nvSpPr>
          <p:cNvPr id="548968307" name="Ellipse 14"/>
          <p:cNvSpPr/>
          <p:nvPr/>
        </p:nvSpPr>
        <p:spPr bwMode="auto">
          <a:xfrm>
            <a:off x="1219200" y="1695450"/>
            <a:ext cx="38100" cy="38100"/>
          </a:xfrm>
          <a:prstGeom prst="ellipse">
            <a:avLst/>
          </a:prstGeom>
          <a:solidFill>
            <a:srgbClr val="1A73E8">
              <a:alpha val="15000"/>
            </a:srgbClr>
          </a:solidFill>
          <a:ln>
            <a:noFill/>
          </a:ln>
        </p:spPr>
      </p:sp>
      <p:grpSp>
        <p:nvGrpSpPr>
          <p:cNvPr id="1048009271" name="Group 24"/>
          <p:cNvGrpSpPr/>
          <p:nvPr/>
        </p:nvGrpSpPr>
        <p:grpSpPr bwMode="auto">
          <a:xfrm>
            <a:off x="521970" y="2571750"/>
            <a:ext cx="8793480" cy="2057400"/>
            <a:chOff x="521970" y="2571750"/>
            <a:chExt cx="8793480" cy="2057400"/>
          </a:xfrm>
        </p:grpSpPr>
        <p:sp>
          <p:nvSpPr>
            <p:cNvPr id="15" name="Rectangle 15"/>
            <p:cNvSpPr/>
            <p:nvPr/>
          </p:nvSpPr>
          <p:spPr bwMode="auto">
            <a:xfrm>
              <a:off x="571500" y="266700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521970" y="2912745"/>
              <a:ext cx="341837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39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基于C语言的</a:t>
              </a:r>
              <a:endParaRPr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521970" y="3484245"/>
              <a:ext cx="727595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39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文件传输服务器设计与实现</a:t>
              </a: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552450" y="4219575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50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课程设计答辩演示</a:t>
              </a:r>
              <a:endParaRPr/>
            </a:p>
          </p:txBody>
        </p:sp>
        <p:sp>
          <p:nvSpPr>
            <p:cNvPr id="19" name="Line 19"/>
            <p:cNvSpPr/>
            <p:nvPr/>
          </p:nvSpPr>
          <p:spPr bwMode="auto">
            <a:xfrm>
              <a:off x="571500" y="4619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 fill="norm" stroke="1" extrusionOk="0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4FC3F7">
                  <a:alpha val="40000"/>
                </a:srgbClr>
              </a:solidFill>
            </a:ln>
          </p:spPr>
        </p:sp>
        <p:grpSp>
          <p:nvGrpSpPr>
            <p:cNvPr id="23" name="Group 23"/>
            <p:cNvGrpSpPr/>
            <p:nvPr/>
          </p:nvGrpSpPr>
          <p:grpSpPr bwMode="auto">
            <a:xfrm>
              <a:off x="7829550" y="2571750"/>
              <a:ext cx="1485900" cy="571500"/>
              <a:chOff x="7829550" y="2571750"/>
              <a:chExt cx="1485900" cy="571500"/>
            </a:xfrm>
          </p:grpSpPr>
          <p:sp>
            <p:nvSpPr>
              <p:cNvPr id="20" name="Polygon 20"/>
              <p:cNvSpPr/>
              <p:nvPr/>
            </p:nvSpPr>
            <p:spPr bwMode="auto">
              <a:xfrm>
                <a:off x="8324850" y="2571750"/>
                <a:ext cx="4953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71500" fill="norm" stroke="1" extrusionOk="0">
                    <a:moveTo>
                      <a:pt x="247650" y="571500"/>
                    </a:moveTo>
                    <a:lnTo>
                      <a:pt x="495300" y="428625"/>
                    </a:lnTo>
                    <a:lnTo>
                      <a:pt x="495300" y="142875"/>
                    </a:lnTo>
                    <a:lnTo>
                      <a:pt x="247650" y="0"/>
                    </a:lnTo>
                    <a:lnTo>
                      <a:pt x="0" y="142875"/>
                    </a:lnTo>
                    <a:lnTo>
                      <a:pt x="0" y="428625"/>
                    </a:lnTo>
                    <a:close/>
                  </a:path>
                </a:pathLst>
              </a:custGeom>
              <a:noFill/>
              <a:ln w="9525">
                <a:solidFill>
                  <a:srgbClr val="1A73E8">
                    <a:alpha val="20000"/>
                  </a:srgbClr>
                </a:solidFill>
              </a:ln>
            </p:spPr>
          </p:sp>
          <p:sp>
            <p:nvSpPr>
              <p:cNvPr id="21" name="Polygon 21"/>
              <p:cNvSpPr/>
              <p:nvPr/>
            </p:nvSpPr>
            <p:spPr bwMode="auto">
              <a:xfrm>
                <a:off x="8820150" y="2571750"/>
                <a:ext cx="4953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71500" fill="norm" stroke="1" extrusionOk="0">
                    <a:moveTo>
                      <a:pt x="247650" y="571500"/>
                    </a:moveTo>
                    <a:lnTo>
                      <a:pt x="495300" y="428625"/>
                    </a:lnTo>
                    <a:lnTo>
                      <a:pt x="495300" y="142875"/>
                    </a:lnTo>
                    <a:lnTo>
                      <a:pt x="247650" y="0"/>
                    </a:lnTo>
                    <a:lnTo>
                      <a:pt x="0" y="142875"/>
                    </a:lnTo>
                    <a:lnTo>
                      <a:pt x="0" y="428625"/>
                    </a:lnTo>
                    <a:close/>
                  </a:path>
                </a:pathLst>
              </a:custGeom>
              <a:noFill/>
              <a:ln w="4762">
                <a:solidFill>
                  <a:srgbClr val="4FC3F7">
                    <a:alpha val="15000"/>
                  </a:srgbClr>
                </a:solidFill>
              </a:ln>
            </p:spPr>
          </p:sp>
          <p:sp>
            <p:nvSpPr>
              <p:cNvPr id="22" name="Polygon 22"/>
              <p:cNvSpPr/>
              <p:nvPr/>
            </p:nvSpPr>
            <p:spPr bwMode="auto">
              <a:xfrm>
                <a:off x="7829550" y="2571750"/>
                <a:ext cx="4953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571500" fill="norm" stroke="1" extrusionOk="0">
                    <a:moveTo>
                      <a:pt x="247650" y="571500"/>
                    </a:moveTo>
                    <a:lnTo>
                      <a:pt x="495300" y="428625"/>
                    </a:lnTo>
                    <a:lnTo>
                      <a:pt x="495300" y="142875"/>
                    </a:lnTo>
                    <a:lnTo>
                      <a:pt x="247650" y="0"/>
                    </a:lnTo>
                    <a:lnTo>
                      <a:pt x="0" y="142875"/>
                    </a:lnTo>
                    <a:lnTo>
                      <a:pt x="0" y="428625"/>
                    </a:lnTo>
                    <a:close/>
                  </a:path>
                </a:pathLst>
              </a:custGeom>
              <a:noFill/>
              <a:ln w="4762">
                <a:solidFill>
                  <a:srgbClr val="1A73E8">
                    <a:alpha val="15000"/>
                  </a:srgbClr>
                </a:solidFill>
              </a:ln>
            </p:spPr>
          </p:sp>
        </p:grpSp>
      </p:grpSp>
      <p:sp>
        <p:nvSpPr>
          <p:cNvPr id="1557202744" name="Rectangle 25"/>
          <p:cNvSpPr/>
          <p:nvPr/>
        </p:nvSpPr>
        <p:spPr bwMode="auto">
          <a:xfrm>
            <a:off x="0" y="6286500"/>
            <a:ext cx="12192000" cy="571500"/>
          </a:xfrm>
          <a:prstGeom prst="rect">
            <a:avLst/>
          </a:prstGeom>
          <a:solidFill>
            <a:srgbClr val="0D47A1">
              <a:alpha val="60000"/>
            </a:srgbClr>
          </a:solidFill>
          <a:ln>
            <a:noFill/>
          </a:ln>
        </p:spPr>
      </p:sp>
      <p:sp>
        <p:nvSpPr>
          <p:cNvPr id="1362292573" name="TextBox 26"/>
          <p:cNvSpPr txBox="1"/>
          <p:nvPr/>
        </p:nvSpPr>
        <p:spPr bwMode="auto">
          <a:xfrm>
            <a:off x="558165" y="6506528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2026年5月 | 网络编程课程设计</a:t>
            </a:r>
            <a:endParaRPr/>
          </a:p>
        </p:txBody>
      </p:sp>
      <p:sp>
        <p:nvSpPr>
          <p:cNvPr id="1383084586" name="TextBox 27"/>
          <p:cNvSpPr txBox="1"/>
          <p:nvPr/>
        </p:nvSpPr>
        <p:spPr bwMode="auto">
          <a:xfrm>
            <a:off x="11359039" y="6538912"/>
            <a:ext cx="2709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1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00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4800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0092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0862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4946643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548770731" name="Group 6"/>
          <p:cNvGrpSpPr/>
          <p:nvPr/>
        </p:nvGrpSpPr>
        <p:grpSpPr bwMode="auto">
          <a:xfrm>
            <a:off x="571500" y="476250"/>
            <a:ext cx="666750" cy="276225"/>
            <a:chOff x="571500" y="476250"/>
            <a:chExt cx="666750" cy="276225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47625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700221" y="569595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Part 1</a:t>
              </a:r>
              <a:endParaRPr/>
            </a:p>
          </p:txBody>
        </p:sp>
      </p:grpSp>
      <p:grpSp>
        <p:nvGrpSpPr>
          <p:cNvPr id="1862313600" name="Group 9"/>
          <p:cNvGrpSpPr/>
          <p:nvPr/>
        </p:nvGrpSpPr>
        <p:grpSpPr bwMode="auto">
          <a:xfrm>
            <a:off x="571500" y="904875"/>
            <a:ext cx="2433352" cy="438149"/>
            <a:chOff x="571500" y="904875"/>
            <a:chExt cx="2433352" cy="438149"/>
          </a:xfrm>
        </p:grpSpPr>
        <p:sp>
          <p:nvSpPr>
            <p:cNvPr id="7" name="Rectangle 7"/>
            <p:cNvSpPr/>
            <p:nvPr/>
          </p:nvSpPr>
          <p:spPr bwMode="auto">
            <a:xfrm>
              <a:off x="571500" y="904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697230" y="9163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项目背景与目标</a:t>
              </a:r>
              <a:endParaRPr/>
            </a:p>
          </p:txBody>
        </p:sp>
      </p:grpSp>
      <p:grpSp>
        <p:nvGrpSpPr>
          <p:cNvPr id="525986692" name="Group 23"/>
          <p:cNvGrpSpPr/>
          <p:nvPr/>
        </p:nvGrpSpPr>
        <p:grpSpPr bwMode="auto">
          <a:xfrm>
            <a:off x="571500" y="1571625"/>
            <a:ext cx="3524250" cy="4572000"/>
            <a:chOff x="571500" y="1571625"/>
            <a:chExt cx="3524250" cy="4572000"/>
          </a:xfrm>
        </p:grpSpPr>
        <p:sp>
          <p:nvSpPr>
            <p:cNvPr id="10" name="Rectangle 10"/>
            <p:cNvSpPr/>
            <p:nvPr/>
          </p:nvSpPr>
          <p:spPr bwMode="auto">
            <a:xfrm>
              <a:off x="571500" y="1571625"/>
              <a:ext cx="3524250" cy="4572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1" name="Rectangle 11"/>
            <p:cNvSpPr/>
            <p:nvPr/>
          </p:nvSpPr>
          <p:spPr bwMode="auto">
            <a:xfrm>
              <a:off x="571500" y="1571625"/>
              <a:ext cx="38100" cy="45720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2761202" y="1828800"/>
              <a:ext cx="934498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defRPr/>
              </a:pPr>
              <a:r>
                <a:rPr lang="zh-CN" sz="6000" b="1">
                  <a:solidFill>
                    <a:srgbClr val="E3F2FD"/>
                  </a:solidFill>
                  <a:latin typeface="Georgia"/>
                  <a:ea typeface="Microsoft YaHei"/>
                  <a:cs typeface="Georgia"/>
                </a:rPr>
                <a:t>01</a:t>
              </a:r>
              <a:endParaRPr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838200" y="18383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5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文件传输的重要性</a:t>
              </a:r>
              <a:endParaRPr/>
            </a:p>
          </p:txBody>
        </p:sp>
        <p:sp>
          <p:nvSpPr>
            <p:cNvPr id="14" name="Line 14"/>
            <p:cNvSpPr/>
            <p:nvPr/>
          </p:nvSpPr>
          <p:spPr bwMode="auto">
            <a:xfrm>
              <a:off x="857250" y="21431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 fill="norm" stroke="1" extrusionOk="0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842962" y="2402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文件传输是计算机网络中</a:t>
              </a:r>
              <a:endParaRPr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842962" y="26408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最基础、最常用的应用之一</a:t>
              </a:r>
              <a:endParaRPr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842962" y="3021806"/>
              <a:ext cx="16798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HTTP文件下载与上传</a:t>
              </a: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842962" y="3259931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远程文件同步与备份</a:t>
              </a:r>
              <a:endParaRPr/>
            </a:p>
          </p:txBody>
        </p:sp>
        <p:sp>
          <p:nvSpPr>
            <p:cNvPr id="19" name="TextBox 19"/>
            <p:cNvSpPr txBox="1"/>
            <p:nvPr/>
          </p:nvSpPr>
          <p:spPr bwMode="auto">
            <a:xfrm>
              <a:off x="842962" y="34980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分布式系统数据交换</a:t>
              </a:r>
              <a:endParaRPr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842962" y="3879056"/>
              <a:ext cx="22713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传统的FTP协议虽然功能完善，</a:t>
              </a:r>
              <a:endParaRPr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842962" y="4117181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但协议复杂度高，对特定应用</a:t>
              </a:r>
              <a:endParaRPr/>
            </a:p>
          </p:txBody>
        </p:sp>
        <p:sp>
          <p:nvSpPr>
            <p:cNvPr id="22" name="TextBox 22"/>
            <p:cNvSpPr txBox="1"/>
            <p:nvPr/>
          </p:nvSpPr>
          <p:spPr bwMode="auto">
            <a:xfrm>
              <a:off x="842962" y="43553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场景而言过于庞大。</a:t>
              </a:r>
              <a:endParaRPr/>
            </a:p>
          </p:txBody>
        </p:sp>
      </p:grpSp>
      <p:grpSp>
        <p:nvGrpSpPr>
          <p:cNvPr id="804870054" name="Group 37"/>
          <p:cNvGrpSpPr/>
          <p:nvPr/>
        </p:nvGrpSpPr>
        <p:grpSpPr bwMode="auto">
          <a:xfrm>
            <a:off x="4333875" y="1571625"/>
            <a:ext cx="3524250" cy="4572000"/>
            <a:chOff x="4333875" y="1571625"/>
            <a:chExt cx="3524250" cy="4572000"/>
          </a:xfrm>
        </p:grpSpPr>
        <p:sp>
          <p:nvSpPr>
            <p:cNvPr id="24" name="Rectangle 24"/>
            <p:cNvSpPr/>
            <p:nvPr/>
          </p:nvSpPr>
          <p:spPr bwMode="auto">
            <a:xfrm>
              <a:off x="4333875" y="1571625"/>
              <a:ext cx="3524250" cy="4572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5" name="Rectangle 25"/>
            <p:cNvSpPr/>
            <p:nvPr/>
          </p:nvSpPr>
          <p:spPr bwMode="auto">
            <a:xfrm>
              <a:off x="4333875" y="1571625"/>
              <a:ext cx="38100" cy="457200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6293548" y="1828800"/>
              <a:ext cx="116452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defRPr/>
              </a:pPr>
              <a:r>
                <a:rPr lang="zh-CN" sz="6000" b="1">
                  <a:solidFill>
                    <a:srgbClr val="E3F2FD"/>
                  </a:solidFill>
                  <a:latin typeface="Georgia"/>
                  <a:ea typeface="Microsoft YaHei"/>
                  <a:cs typeface="Georgia"/>
                </a:rPr>
                <a:t>02</a:t>
              </a:r>
              <a:endParaRPr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4600575" y="18383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5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轻量级需求与矛盾</a:t>
              </a:r>
              <a:endParaRPr/>
            </a:p>
          </p:txBody>
        </p:sp>
        <p:sp>
          <p:nvSpPr>
            <p:cNvPr id="28" name="Line 28"/>
            <p:cNvSpPr/>
            <p:nvPr/>
          </p:nvSpPr>
          <p:spPr bwMode="auto">
            <a:xfrm>
              <a:off x="4619625" y="21431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 fill="norm" stroke="1" extrusionOk="0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4FC3F7"/>
              </a:solidFill>
            </a:ln>
          </p:spPr>
        </p:sp>
        <p:sp>
          <p:nvSpPr>
            <p:cNvPr id="29" name="TextBox 29"/>
            <p:cNvSpPr txBox="1"/>
            <p:nvPr/>
          </p:nvSpPr>
          <p:spPr bwMode="auto">
            <a:xfrm>
              <a:off x="4605338" y="24026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现有方案的不足：</a:t>
              </a:r>
              <a:endParaRPr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4605338" y="2783681"/>
              <a:ext cx="2246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FTP：协议复杂，依赖双通道</a:t>
              </a:r>
              <a:endParaRPr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4605338" y="3021806"/>
              <a:ext cx="26656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TFTP：功能过于简单，无安全机制</a:t>
              </a: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4605338" y="3259931"/>
              <a:ext cx="18441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HTTP：通用性强但缺乏</a:t>
              </a:r>
              <a:endParaRPr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4795838" y="34980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文件管理功能</a:t>
              </a:r>
              <a:endParaRPr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4605338" y="38790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设计一个轻量级、可定制的</a:t>
              </a:r>
              <a:endParaRPr/>
            </a:p>
          </p:txBody>
        </p:sp>
        <p:sp>
          <p:nvSpPr>
            <p:cNvPr id="35" name="TextBox 35"/>
            <p:cNvSpPr txBox="1"/>
            <p:nvPr/>
          </p:nvSpPr>
          <p:spPr bwMode="auto">
            <a:xfrm>
              <a:off x="4605338" y="4117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文件传输服务器具有</a:t>
              </a:r>
              <a:endParaRPr/>
            </a:p>
          </p:txBody>
        </p:sp>
        <p:sp>
          <p:nvSpPr>
            <p:cNvPr id="36" name="TextBox 36"/>
            <p:cNvSpPr txBox="1"/>
            <p:nvPr/>
          </p:nvSpPr>
          <p:spPr bwMode="auto">
            <a:xfrm>
              <a:off x="4605338" y="43553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实际工程价值。</a:t>
              </a:r>
              <a:endParaRPr/>
            </a:p>
          </p:txBody>
        </p:sp>
      </p:grpSp>
      <p:grpSp>
        <p:nvGrpSpPr>
          <p:cNvPr id="685172178" name="Group 51"/>
          <p:cNvGrpSpPr/>
          <p:nvPr/>
        </p:nvGrpSpPr>
        <p:grpSpPr bwMode="auto">
          <a:xfrm>
            <a:off x="8096250" y="1571625"/>
            <a:ext cx="3524250" cy="4572000"/>
            <a:chOff x="8096250" y="1571625"/>
            <a:chExt cx="3524250" cy="4572000"/>
          </a:xfrm>
        </p:grpSpPr>
        <p:sp>
          <p:nvSpPr>
            <p:cNvPr id="38" name="Rectangle 38"/>
            <p:cNvSpPr/>
            <p:nvPr/>
          </p:nvSpPr>
          <p:spPr bwMode="auto">
            <a:xfrm>
              <a:off x="8096250" y="1571625"/>
              <a:ext cx="3524250" cy="4572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Rectangle 39"/>
            <p:cNvSpPr/>
            <p:nvPr/>
          </p:nvSpPr>
          <p:spPr bwMode="auto">
            <a:xfrm>
              <a:off x="8096250" y="1571625"/>
              <a:ext cx="38100" cy="457200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 bwMode="auto">
            <a:xfrm>
              <a:off x="10055924" y="1828800"/>
              <a:ext cx="116452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defRPr/>
              </a:pPr>
              <a:r>
                <a:rPr lang="zh-CN" sz="6000" b="1">
                  <a:solidFill>
                    <a:srgbClr val="FDE8E0"/>
                  </a:solidFill>
                  <a:latin typeface="Georgia"/>
                  <a:ea typeface="Microsoft YaHei"/>
                  <a:cs typeface="Georgia"/>
                </a:rPr>
                <a:t>03</a:t>
              </a:r>
              <a:endParaRPr/>
            </a:p>
          </p:txBody>
        </p:sp>
        <p:sp>
          <p:nvSpPr>
            <p:cNvPr id="41" name="TextBox 41"/>
            <p:cNvSpPr txBox="1"/>
            <p:nvPr/>
          </p:nvSpPr>
          <p:spPr bwMode="auto">
            <a:xfrm>
              <a:off x="8362950" y="1838325"/>
              <a:ext cx="141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5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课程设计目标</a:t>
              </a:r>
              <a:endParaRPr/>
            </a:p>
          </p:txBody>
        </p:sp>
        <p:sp>
          <p:nvSpPr>
            <p:cNvPr id="42" name="Line 42"/>
            <p:cNvSpPr/>
            <p:nvPr/>
          </p:nvSpPr>
          <p:spPr bwMode="auto">
            <a:xfrm>
              <a:off x="8382000" y="214312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 fill="norm" stroke="1" extrusionOk="0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43" name="TextBox 43"/>
            <p:cNvSpPr txBox="1"/>
            <p:nvPr/>
          </p:nvSpPr>
          <p:spPr bwMode="auto">
            <a:xfrm>
              <a:off x="8367712" y="24026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综合运用核心技术：</a:t>
              </a:r>
              <a:endParaRPr/>
            </a:p>
          </p:txBody>
        </p:sp>
        <p:sp>
          <p:nvSpPr>
            <p:cNvPr id="44" name="TextBox 44"/>
            <p:cNvSpPr txBox="1"/>
            <p:nvPr/>
          </p:nvSpPr>
          <p:spPr bwMode="auto">
            <a:xfrm>
              <a:off x="8367712" y="2783681"/>
              <a:ext cx="1367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Socket网络编程</a:t>
              </a:r>
              <a:endParaRPr/>
            </a:p>
          </p:txBody>
        </p:sp>
        <p:sp>
          <p:nvSpPr>
            <p:cNvPr id="45" name="TextBox 45"/>
            <p:cNvSpPr txBox="1"/>
            <p:nvPr/>
          </p:nvSpPr>
          <p:spPr bwMode="auto">
            <a:xfrm>
              <a:off x="8367712" y="302180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多线程并发处理</a:t>
              </a:r>
              <a:endParaRPr/>
            </a:p>
          </p:txBody>
        </p:sp>
        <p:sp>
          <p:nvSpPr>
            <p:cNvPr id="46" name="TextBox 46"/>
            <p:cNvSpPr txBox="1"/>
            <p:nvPr/>
          </p:nvSpPr>
          <p:spPr bwMode="auto">
            <a:xfrm>
              <a:off x="8367712" y="3259931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二进制协议设计</a:t>
              </a:r>
              <a:endParaRPr/>
            </a:p>
          </p:txBody>
        </p:sp>
        <p:sp>
          <p:nvSpPr>
            <p:cNvPr id="47" name="TextBox 47"/>
            <p:cNvSpPr txBox="1"/>
            <p:nvPr/>
          </p:nvSpPr>
          <p:spPr bwMode="auto">
            <a:xfrm>
              <a:off x="8367712" y="3498056"/>
              <a:ext cx="13183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- 数据完整性校验</a:t>
              </a:r>
              <a:endParaRPr/>
            </a:p>
          </p:txBody>
        </p:sp>
        <p:sp>
          <p:nvSpPr>
            <p:cNvPr id="48" name="TextBox 48"/>
            <p:cNvSpPr txBox="1"/>
            <p:nvPr/>
          </p:nvSpPr>
          <p:spPr bwMode="auto">
            <a:xfrm>
              <a:off x="8367712" y="3879056"/>
              <a:ext cx="1449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深入理解C/S架构的</a:t>
              </a:r>
              <a:endParaRPr/>
            </a:p>
          </p:txBody>
        </p:sp>
        <p:sp>
          <p:nvSpPr>
            <p:cNvPr id="49" name="TextBox 49"/>
            <p:cNvSpPr txBox="1"/>
            <p:nvPr/>
          </p:nvSpPr>
          <p:spPr bwMode="auto">
            <a:xfrm>
              <a:off x="8367712" y="41171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工作原理，完整经历</a:t>
              </a:r>
              <a:endParaRPr/>
            </a:p>
          </p:txBody>
        </p:sp>
        <p:sp>
          <p:nvSpPr>
            <p:cNvPr id="50" name="TextBox 50"/>
            <p:cNvSpPr txBox="1"/>
            <p:nvPr/>
          </p:nvSpPr>
          <p:spPr bwMode="auto">
            <a:xfrm>
              <a:off x="8367712" y="43553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网络应用软件开发过程。</a:t>
              </a:r>
              <a:endParaRPr/>
            </a:p>
          </p:txBody>
        </p:sp>
      </p:grpSp>
      <p:sp>
        <p:nvSpPr>
          <p:cNvPr id="1896662247" name="TextBox 52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7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4877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31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86231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8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2598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80487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7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8517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8770731" grpId="0"/>
      <p:bldP spid="1862313600" grpId="0"/>
      <p:bldP spid="525986692" grpId="0"/>
      <p:bldP spid="804870054" grpId="0"/>
      <p:bldP spid="6851721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935497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1817373266" name="Rectangle 3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2000"/>
                </a:srgbClr>
              </a:gs>
              <a:gs pos="100000">
                <a:srgbClr val="1A73E8">
                  <a:alpha val="0"/>
                </a:srgbClr>
              </a:gs>
            </a:gsLst>
            <a:path path="circle"/>
          </a:gradFill>
          <a:ln>
            <a:noFill/>
          </a:ln>
        </p:spPr>
      </p:sp>
      <p:grpSp>
        <p:nvGrpSpPr>
          <p:cNvPr id="1633272678" name="Group 10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Line 4"/>
            <p:cNvSpPr/>
            <p:nvPr/>
          </p:nvSpPr>
          <p:spPr bwMode="auto"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 fill="norm" stroke="1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3999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 bwMode="auto"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 fill="norm" stroke="1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3999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 bwMode="auto"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 fill="norm" stroke="1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3999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 bwMode="auto"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 fill="norm" stroke="1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3999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 bwMode="auto"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 fill="norm" stroke="1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3999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 bwMode="auto"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 fill="norm" stroke="1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3999"/>
                </a:srgbClr>
              </a:solidFill>
            </a:ln>
          </p:spPr>
        </p:sp>
      </p:grpSp>
      <p:grpSp>
        <p:nvGrpSpPr>
          <p:cNvPr id="1911843027" name="Group 13"/>
          <p:cNvGrpSpPr/>
          <p:nvPr/>
        </p:nvGrpSpPr>
        <p:grpSpPr bwMode="auto">
          <a:xfrm>
            <a:off x="571500" y="381000"/>
            <a:ext cx="666750" cy="276225"/>
            <a:chOff x="571500" y="381000"/>
            <a:chExt cx="666750" cy="276225"/>
          </a:xfrm>
        </p:grpSpPr>
        <p:sp>
          <p:nvSpPr>
            <p:cNvPr id="11" name="Rectangle 11"/>
            <p:cNvSpPr/>
            <p:nvPr/>
          </p:nvSpPr>
          <p:spPr bwMode="auto">
            <a:xfrm>
              <a:off x="571500" y="38100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00221" y="474345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 b="1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Part 1</a:t>
              </a:r>
              <a:endParaRPr/>
            </a:p>
          </p:txBody>
        </p:sp>
      </p:grpSp>
      <p:grpSp>
        <p:nvGrpSpPr>
          <p:cNvPr id="1196997404" name="Group 16"/>
          <p:cNvGrpSpPr/>
          <p:nvPr/>
        </p:nvGrpSpPr>
        <p:grpSpPr bwMode="auto">
          <a:xfrm>
            <a:off x="571500" y="809625"/>
            <a:ext cx="2111311" cy="438149"/>
            <a:chOff x="571500" y="809625"/>
            <a:chExt cx="2111311" cy="438149"/>
          </a:xfrm>
        </p:grpSpPr>
        <p:sp>
          <p:nvSpPr>
            <p:cNvPr id="14" name="Rectangle 14"/>
            <p:cNvSpPr/>
            <p:nvPr/>
          </p:nvSpPr>
          <p:spPr bwMode="auto">
            <a:xfrm>
              <a:off x="571500" y="8096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697230" y="8210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系统总体架构</a:t>
              </a:r>
              <a:endParaRPr/>
            </a:p>
          </p:txBody>
        </p:sp>
      </p:grpSp>
      <p:grpSp>
        <p:nvGrpSpPr>
          <p:cNvPr id="1733205173" name="Group 24"/>
          <p:cNvGrpSpPr/>
          <p:nvPr/>
        </p:nvGrpSpPr>
        <p:grpSpPr bwMode="auto">
          <a:xfrm>
            <a:off x="4857750" y="2381250"/>
            <a:ext cx="2476500" cy="2476500"/>
            <a:chOff x="4857750" y="2381250"/>
            <a:chExt cx="2476500" cy="2476500"/>
          </a:xfrm>
        </p:grpSpPr>
        <p:sp>
          <p:nvSpPr>
            <p:cNvPr id="17" name="Ellipse 17"/>
            <p:cNvSpPr/>
            <p:nvPr/>
          </p:nvSpPr>
          <p:spPr bwMode="auto">
            <a:xfrm>
              <a:off x="5143500" y="2667000"/>
              <a:ext cx="1905000" cy="1905000"/>
            </a:xfrm>
            <a:prstGeom prst="ellipse">
              <a:avLst/>
            </a:prstGeom>
            <a:noFill/>
            <a:ln w="19050">
              <a:solidFill>
                <a:srgbClr val="1A73E8">
                  <a:alpha val="40000"/>
                </a:srgbClr>
              </a:solidFill>
            </a:ln>
          </p:spPr>
        </p:sp>
        <p:sp>
          <p:nvSpPr>
            <p:cNvPr id="18" name="Ellipse 18"/>
            <p:cNvSpPr/>
            <p:nvPr/>
          </p:nvSpPr>
          <p:spPr bwMode="auto">
            <a:xfrm>
              <a:off x="5334000" y="2857500"/>
              <a:ext cx="1524000" cy="15240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 bwMode="auto">
            <a:xfrm>
              <a:off x="5381625" y="2905125"/>
              <a:ext cx="1428750" cy="1428750"/>
            </a:xfrm>
            <a:prstGeom prst="ellipse">
              <a:avLst/>
            </a:prstGeom>
            <a:solidFill>
              <a:srgbClr val="0D47A1">
                <a:alpha val="5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5731907" y="3362324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服务器</a:t>
              </a:r>
              <a:endParaRPr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5492663" y="3657124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C/S Architecture</a:t>
              </a:r>
              <a:endParaRPr/>
            </a:p>
          </p:txBody>
        </p:sp>
        <p:sp>
          <p:nvSpPr>
            <p:cNvPr id="22" name="Ellipse 22"/>
            <p:cNvSpPr/>
            <p:nvPr/>
          </p:nvSpPr>
          <p:spPr bwMode="auto">
            <a:xfrm>
              <a:off x="5048250" y="2571750"/>
              <a:ext cx="2095500" cy="2095500"/>
            </a:xfrm>
            <a:prstGeom prst="ellipse">
              <a:avLst/>
            </a:prstGeom>
            <a:noFill/>
            <a:ln w="4762">
              <a:solidFill>
                <a:srgbClr val="4FC3F7">
                  <a:alpha val="15000"/>
                </a:srgbClr>
              </a:solidFill>
            </a:ln>
          </p:spPr>
        </p:sp>
        <p:sp>
          <p:nvSpPr>
            <p:cNvPr id="23" name="Ellipse 23"/>
            <p:cNvSpPr/>
            <p:nvPr/>
          </p:nvSpPr>
          <p:spPr bwMode="auto">
            <a:xfrm>
              <a:off x="4857750" y="2381250"/>
              <a:ext cx="2476500" cy="2476500"/>
            </a:xfrm>
            <a:prstGeom prst="ellipse">
              <a:avLst/>
            </a:prstGeom>
            <a:noFill/>
            <a:ln w="2858">
              <a:solidFill>
                <a:srgbClr val="4FC3F7">
                  <a:alpha val="7999"/>
                </a:srgbClr>
              </a:solidFill>
            </a:ln>
          </p:spPr>
        </p:sp>
      </p:grpSp>
      <p:grpSp>
        <p:nvGrpSpPr>
          <p:cNvPr id="1474308398" name="Group 28"/>
          <p:cNvGrpSpPr/>
          <p:nvPr/>
        </p:nvGrpSpPr>
        <p:grpSpPr bwMode="auto">
          <a:xfrm>
            <a:off x="952500" y="2190750"/>
            <a:ext cx="1524000" cy="762000"/>
            <a:chOff x="952500" y="2190750"/>
            <a:chExt cx="1524000" cy="762000"/>
          </a:xfrm>
        </p:grpSpPr>
        <p:sp>
          <p:nvSpPr>
            <p:cNvPr id="25" name="Rectangle 25"/>
            <p:cNvSpPr/>
            <p:nvPr/>
          </p:nvSpPr>
          <p:spPr bwMode="auto">
            <a:xfrm>
              <a:off x="952500" y="2190750"/>
              <a:ext cx="1524000" cy="762000"/>
            </a:xfrm>
            <a:prstGeom prst="roundRect">
              <a:avLst>
                <a:gd name="adj" fmla="val 125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1368019" y="2394585"/>
              <a:ext cx="692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 1</a:t>
              </a:r>
              <a:endParaRPr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1358027" y="26650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交互式Shell</a:t>
              </a:r>
              <a:endParaRPr/>
            </a:p>
          </p:txBody>
        </p:sp>
      </p:grpSp>
      <p:sp>
        <p:nvSpPr>
          <p:cNvPr id="371936516" name="Line 29"/>
          <p:cNvSpPr/>
          <p:nvPr/>
        </p:nvSpPr>
        <p:spPr bwMode="auto">
          <a:xfrm>
            <a:off x="2476500" y="2571750"/>
            <a:ext cx="2857500" cy="952500"/>
          </a:xfrm>
          <a:custGeom>
            <a:avLst/>
            <a:gdLst/>
            <a:ahLst/>
            <a:cxnLst/>
            <a:rect l="l" t="t" r="r" b="b"/>
            <a:pathLst>
              <a:path w="2857500" h="952500" fill="norm" stroke="1" extrusionOk="0">
                <a:moveTo>
                  <a:pt x="0" y="0"/>
                </a:moveTo>
                <a:lnTo>
                  <a:pt x="2857500" y="952500"/>
                </a:lnTo>
              </a:path>
            </a:pathLst>
          </a:custGeom>
          <a:noFill/>
          <a:ln w="14288">
            <a:solidFill>
              <a:srgbClr val="4FC3F7">
                <a:alpha val="50000"/>
              </a:srgbClr>
            </a:solidFill>
          </a:ln>
        </p:spPr>
      </p:sp>
      <p:sp>
        <p:nvSpPr>
          <p:cNvPr id="911366143" name="Polygon 30"/>
          <p:cNvSpPr/>
          <p:nvPr/>
        </p:nvSpPr>
        <p:spPr bwMode="auto">
          <a:xfrm>
            <a:off x="5219700" y="347662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 fill="norm" stroke="1" extrusionOk="0">
                <a:moveTo>
                  <a:pt x="114300" y="47625"/>
                </a:moveTo>
                <a:lnTo>
                  <a:pt x="0" y="0"/>
                </a:lnTo>
                <a:lnTo>
                  <a:pt x="19050" y="95250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>
            <a:noFill/>
          </a:ln>
        </p:spPr>
      </p:sp>
      <p:grpSp>
        <p:nvGrpSpPr>
          <p:cNvPr id="104174076" name="Group 34"/>
          <p:cNvGrpSpPr/>
          <p:nvPr/>
        </p:nvGrpSpPr>
        <p:grpSpPr bwMode="auto">
          <a:xfrm>
            <a:off x="952500" y="4095750"/>
            <a:ext cx="1524000" cy="762000"/>
            <a:chOff x="952500" y="4095750"/>
            <a:chExt cx="1524000" cy="762000"/>
          </a:xfrm>
        </p:grpSpPr>
        <p:sp>
          <p:nvSpPr>
            <p:cNvPr id="31" name="Rectangle 31"/>
            <p:cNvSpPr/>
            <p:nvPr/>
          </p:nvSpPr>
          <p:spPr bwMode="auto">
            <a:xfrm>
              <a:off x="952500" y="4095750"/>
              <a:ext cx="1524000" cy="762000"/>
            </a:xfrm>
            <a:prstGeom prst="roundRect">
              <a:avLst>
                <a:gd name="adj" fmla="val 125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1345016" y="4299585"/>
              <a:ext cx="7389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 2</a:t>
              </a:r>
              <a:endParaRPr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1308735" y="45700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批量上传模式</a:t>
              </a:r>
              <a:endParaRPr/>
            </a:p>
          </p:txBody>
        </p:sp>
      </p:grpSp>
      <p:sp>
        <p:nvSpPr>
          <p:cNvPr id="860983393" name="Line 35"/>
          <p:cNvSpPr/>
          <p:nvPr/>
        </p:nvSpPr>
        <p:spPr bwMode="auto">
          <a:xfrm>
            <a:off x="2476500" y="3714750"/>
            <a:ext cx="2857500" cy="762000"/>
          </a:xfrm>
          <a:custGeom>
            <a:avLst/>
            <a:gdLst/>
            <a:ahLst/>
            <a:cxnLst/>
            <a:rect l="l" t="t" r="r" b="b"/>
            <a:pathLst>
              <a:path w="2857500" h="762000" fill="norm" stroke="1" extrusionOk="0">
                <a:moveTo>
                  <a:pt x="0" y="762000"/>
                </a:moveTo>
                <a:lnTo>
                  <a:pt x="2857500" y="0"/>
                </a:lnTo>
              </a:path>
            </a:pathLst>
          </a:custGeom>
          <a:noFill/>
          <a:ln w="14288">
            <a:solidFill>
              <a:srgbClr val="4FC3F7">
                <a:alpha val="50000"/>
              </a:srgbClr>
            </a:solidFill>
          </a:ln>
        </p:spPr>
      </p:sp>
      <p:sp>
        <p:nvSpPr>
          <p:cNvPr id="1511270387" name="Polygon 36"/>
          <p:cNvSpPr/>
          <p:nvPr/>
        </p:nvSpPr>
        <p:spPr bwMode="auto">
          <a:xfrm>
            <a:off x="5219700" y="366712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 fill="norm" stroke="1" extrusionOk="0">
                <a:moveTo>
                  <a:pt x="114300" y="47625"/>
                </a:moveTo>
                <a:lnTo>
                  <a:pt x="0" y="0"/>
                </a:lnTo>
                <a:lnTo>
                  <a:pt x="19050" y="95250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>
            <a:noFill/>
          </a:ln>
        </p:spPr>
      </p:sp>
      <p:grpSp>
        <p:nvGrpSpPr>
          <p:cNvPr id="1222375971" name="Group 40"/>
          <p:cNvGrpSpPr/>
          <p:nvPr/>
        </p:nvGrpSpPr>
        <p:grpSpPr bwMode="auto">
          <a:xfrm>
            <a:off x="9715500" y="3143250"/>
            <a:ext cx="1524000" cy="762000"/>
            <a:chOff x="9715500" y="3143250"/>
            <a:chExt cx="1524000" cy="762000"/>
          </a:xfrm>
        </p:grpSpPr>
        <p:sp>
          <p:nvSpPr>
            <p:cNvPr id="37" name="Rectangle 37"/>
            <p:cNvSpPr/>
            <p:nvPr/>
          </p:nvSpPr>
          <p:spPr bwMode="auto">
            <a:xfrm>
              <a:off x="9715500" y="3143250"/>
              <a:ext cx="1524000" cy="762000"/>
            </a:xfrm>
            <a:prstGeom prst="roundRect">
              <a:avLst>
                <a:gd name="adj" fmla="val 125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10108016" y="3347085"/>
              <a:ext cx="7389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 3</a:t>
              </a:r>
              <a:endParaRPr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10137458" y="36175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命令行模式</a:t>
              </a:r>
              <a:endParaRPr/>
            </a:p>
          </p:txBody>
        </p:sp>
      </p:grpSp>
      <p:sp>
        <p:nvSpPr>
          <p:cNvPr id="1175595057" name="Line 41"/>
          <p:cNvSpPr/>
          <p:nvPr/>
        </p:nvSpPr>
        <p:spPr bwMode="auto">
          <a:xfrm>
            <a:off x="6858000" y="3524250"/>
            <a:ext cx="2857500" cy="95250"/>
          </a:xfrm>
          <a:custGeom>
            <a:avLst/>
            <a:gdLst/>
            <a:ahLst/>
            <a:cxnLst/>
            <a:rect l="l" t="t" r="r" b="b"/>
            <a:pathLst>
              <a:path w="2857500" h="95250" fill="norm" stroke="1" extrusionOk="0">
                <a:moveTo>
                  <a:pt x="285750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4FC3F7">
                <a:alpha val="50000"/>
              </a:srgbClr>
            </a:solidFill>
          </a:ln>
        </p:spPr>
      </p:sp>
      <p:sp>
        <p:nvSpPr>
          <p:cNvPr id="1540320721" name="Polygon 42"/>
          <p:cNvSpPr/>
          <p:nvPr/>
        </p:nvSpPr>
        <p:spPr bwMode="auto">
          <a:xfrm>
            <a:off x="6858000" y="3571875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 fill="norm" stroke="1" extrusionOk="0">
                <a:moveTo>
                  <a:pt x="0" y="47625"/>
                </a:moveTo>
                <a:lnTo>
                  <a:pt x="114300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4FC3F7">
              <a:alpha val="60000"/>
            </a:srgbClr>
          </a:solidFill>
          <a:ln>
            <a:noFill/>
          </a:ln>
        </p:spPr>
      </p:sp>
      <p:sp>
        <p:nvSpPr>
          <p:cNvPr id="1215817972" name="Rectangle 43"/>
          <p:cNvSpPr/>
          <p:nvPr/>
        </p:nvSpPr>
        <p:spPr bwMode="auto">
          <a:xfrm>
            <a:off x="3333750" y="2952750"/>
            <a:ext cx="1333500" cy="304800"/>
          </a:xfrm>
          <a:prstGeom prst="roundRect">
            <a:avLst>
              <a:gd name="adj" fmla="val 50000"/>
            </a:avLst>
          </a:prstGeom>
          <a:solidFill>
            <a:srgbClr val="1A73E8">
              <a:alpha val="25000"/>
            </a:srgbClr>
          </a:solidFill>
          <a:ln>
            <a:noFill/>
          </a:ln>
        </p:spPr>
      </p:sp>
      <p:sp>
        <p:nvSpPr>
          <p:cNvPr id="1711778497" name="TextBox 44"/>
          <p:cNvSpPr txBox="1"/>
          <p:nvPr/>
        </p:nvSpPr>
        <p:spPr bwMode="auto">
          <a:xfrm>
            <a:off x="3770959" y="305704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00">
                <a:solidFill>
                  <a:srgbClr val="4FC3F7"/>
                </a:solidFill>
                <a:latin typeface="Consolas"/>
                <a:ea typeface="Microsoft YaHei"/>
                <a:cs typeface="Consolas"/>
              </a:rPr>
              <a:t>TCP/IP</a:t>
            </a:r>
            <a:endParaRPr/>
          </a:p>
        </p:txBody>
      </p:sp>
      <p:grpSp>
        <p:nvGrpSpPr>
          <p:cNvPr id="1791857516" name="Group 56"/>
          <p:cNvGrpSpPr/>
          <p:nvPr/>
        </p:nvGrpSpPr>
        <p:grpSpPr bwMode="auto">
          <a:xfrm>
            <a:off x="7524750" y="2381250"/>
            <a:ext cx="1238250" cy="2619375"/>
            <a:chOff x="7524750" y="2381250"/>
            <a:chExt cx="1238250" cy="2619375"/>
          </a:xfrm>
        </p:grpSpPr>
        <p:sp>
          <p:nvSpPr>
            <p:cNvPr id="45" name="Rectangle 45"/>
            <p:cNvSpPr/>
            <p:nvPr/>
          </p:nvSpPr>
          <p:spPr bwMode="auto">
            <a:xfrm>
              <a:off x="7524750" y="2381250"/>
              <a:ext cx="1238250" cy="476250"/>
            </a:xfrm>
            <a:prstGeom prst="roundRect">
              <a:avLst>
                <a:gd name="adj" fmla="val 16000"/>
              </a:avLst>
            </a:prstGeom>
            <a:solidFill>
              <a:srgbClr val="0D47A1">
                <a:alpha val="40000"/>
              </a:srgbClr>
            </a:solidFill>
            <a:ln w="9525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 bwMode="auto">
            <a:xfrm>
              <a:off x="7639429" y="2553652"/>
              <a:ext cx="10088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 b="1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主线程 listen</a:t>
              </a:r>
              <a:endParaRPr/>
            </a:p>
          </p:txBody>
        </p:sp>
        <p:sp>
          <p:nvSpPr>
            <p:cNvPr id="47" name="Rectangle 47"/>
            <p:cNvSpPr/>
            <p:nvPr/>
          </p:nvSpPr>
          <p:spPr bwMode="auto">
            <a:xfrm>
              <a:off x="7524750" y="3238500"/>
              <a:ext cx="1238250" cy="428625"/>
            </a:xfrm>
            <a:prstGeom prst="roundRect">
              <a:avLst>
                <a:gd name="adj" fmla="val 17778"/>
              </a:avLst>
            </a:prstGeom>
            <a:solidFill>
              <a:srgbClr val="0D47A1">
                <a:alpha val="30000"/>
              </a:srgbClr>
            </a:solidFill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48" name="TextBox 48"/>
            <p:cNvSpPr txBox="1"/>
            <p:nvPr/>
          </p:nvSpPr>
          <p:spPr bwMode="auto">
            <a:xfrm>
              <a:off x="7803975" y="3399949"/>
              <a:ext cx="679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工作线程 1</a:t>
              </a:r>
              <a:endParaRPr/>
            </a:p>
          </p:txBody>
        </p:sp>
        <p:sp>
          <p:nvSpPr>
            <p:cNvPr id="49" name="Rectangle 49"/>
            <p:cNvSpPr/>
            <p:nvPr/>
          </p:nvSpPr>
          <p:spPr bwMode="auto">
            <a:xfrm>
              <a:off x="7524750" y="3810000"/>
              <a:ext cx="1238250" cy="428625"/>
            </a:xfrm>
            <a:prstGeom prst="roundRect">
              <a:avLst>
                <a:gd name="adj" fmla="val 17778"/>
              </a:avLst>
            </a:prstGeom>
            <a:solidFill>
              <a:srgbClr val="0D47A1">
                <a:alpha val="30000"/>
              </a:srgbClr>
            </a:solidFill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 bwMode="auto">
            <a:xfrm>
              <a:off x="7786176" y="397144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工作线程 2</a:t>
              </a:r>
              <a:endParaRPr/>
            </a:p>
          </p:txBody>
        </p:sp>
        <p:sp>
          <p:nvSpPr>
            <p:cNvPr id="51" name="Rectangle 51"/>
            <p:cNvSpPr/>
            <p:nvPr/>
          </p:nvSpPr>
          <p:spPr bwMode="auto">
            <a:xfrm>
              <a:off x="7524750" y="4572000"/>
              <a:ext cx="1238250" cy="428625"/>
            </a:xfrm>
            <a:prstGeom prst="roundRect">
              <a:avLst>
                <a:gd name="adj" fmla="val 17778"/>
              </a:avLst>
            </a:prstGeom>
            <a:solidFill>
              <a:srgbClr val="0D47A1">
                <a:alpha val="30000"/>
              </a:srgbClr>
            </a:solidFill>
            <a:ln w="9525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 bwMode="auto">
            <a:xfrm>
              <a:off x="7704296" y="47334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文件存储目录</a:t>
              </a:r>
              <a:endParaRPr/>
            </a:p>
          </p:txBody>
        </p:sp>
        <p:sp>
          <p:nvSpPr>
            <p:cNvPr id="53" name="Line 53"/>
            <p:cNvSpPr/>
            <p:nvPr/>
          </p:nvSpPr>
          <p:spPr bwMode="auto">
            <a:xfrm>
              <a:off x="8143875" y="2857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 fill="norm" stroke="1" extrusionOk="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 bwMode="auto">
            <a:xfrm>
              <a:off x="8143875" y="3667125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 fill="norm" stroke="1" extrusionOk="0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 bwMode="auto">
            <a:xfrm>
              <a:off x="8143875" y="42386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 fill="norm" stroke="1" extrusionOk="0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9525">
              <a:solidFill>
                <a:srgbClr val="4FC3F7">
                  <a:alpha val="30000"/>
                </a:srgbClr>
              </a:solidFill>
            </a:ln>
          </p:spPr>
        </p:sp>
      </p:grpSp>
      <p:grpSp>
        <p:nvGrpSpPr>
          <p:cNvPr id="338663862" name="Group 63"/>
          <p:cNvGrpSpPr/>
          <p:nvPr/>
        </p:nvGrpSpPr>
        <p:grpSpPr bwMode="auto">
          <a:xfrm>
            <a:off x="9525000" y="4572000"/>
            <a:ext cx="1905000" cy="952500"/>
            <a:chOff x="9525000" y="4572000"/>
            <a:chExt cx="1905000" cy="952500"/>
          </a:xfrm>
        </p:grpSpPr>
        <p:sp>
          <p:nvSpPr>
            <p:cNvPr id="57" name="Rectangle 57"/>
            <p:cNvSpPr/>
            <p:nvPr/>
          </p:nvSpPr>
          <p:spPr bwMode="auto">
            <a:xfrm>
              <a:off x="9525000" y="4572000"/>
              <a:ext cx="1905000" cy="952500"/>
            </a:xfrm>
            <a:prstGeom prst="roundRect">
              <a:avLst>
                <a:gd name="adj" fmla="val 8000"/>
              </a:avLst>
            </a:prstGeom>
            <a:solidFill>
              <a:srgbClr val="0D47A1">
                <a:alpha val="3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 bwMode="auto">
            <a:xfrm>
              <a:off x="9702165" y="4744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架构特点</a:t>
              </a:r>
              <a:endParaRPr/>
            </a:p>
          </p:txBody>
        </p:sp>
        <p:sp>
          <p:nvSpPr>
            <p:cNvPr id="59" name="Ellipse 59"/>
            <p:cNvSpPr/>
            <p:nvPr/>
          </p:nvSpPr>
          <p:spPr bwMode="auto">
            <a:xfrm>
              <a:off x="9725025" y="5029200"/>
              <a:ext cx="76200" cy="76200"/>
            </a:xfrm>
            <a:prstGeom prst="ellipse">
              <a:avLst/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 bwMode="auto">
            <a:xfrm>
              <a:off x="9894570" y="5017770"/>
              <a:ext cx="7655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9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经典C/S模型</a:t>
              </a:r>
              <a:endParaRPr/>
            </a:p>
          </p:txBody>
        </p:sp>
        <p:sp>
          <p:nvSpPr>
            <p:cNvPr id="61" name="Ellipse 61"/>
            <p:cNvSpPr/>
            <p:nvPr/>
          </p:nvSpPr>
          <p:spPr bwMode="auto">
            <a:xfrm>
              <a:off x="9725025" y="5267325"/>
              <a:ext cx="76200" cy="762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 bwMode="auto">
            <a:xfrm>
              <a:off x="9894570" y="52558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9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多线程并发处理</a:t>
              </a:r>
              <a:endParaRPr/>
            </a:p>
          </p:txBody>
        </p:sp>
      </p:grpSp>
      <p:sp>
        <p:nvSpPr>
          <p:cNvPr id="290745530" name="TextBox 64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3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8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118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99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19699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20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73320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30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147430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7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10417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37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122237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85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179185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6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400"/>
                                        <p:tgtEl>
                                          <p:spTgt spid="33866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1843027" grpId="0"/>
      <p:bldP spid="1196997404" grpId="0"/>
      <p:bldP spid="1733205173" grpId="0"/>
      <p:bldP spid="1474308398" grpId="0"/>
      <p:bldP spid="104174076" grpId="0"/>
      <p:bldP spid="1222375971" grpId="0"/>
      <p:bldP spid="1791857516" grpId="0"/>
      <p:bldP spid="33866386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055205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17286227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735994410" name="Group 6"/>
          <p:cNvGrpSpPr/>
          <p:nvPr/>
        </p:nvGrpSpPr>
        <p:grpSpPr bwMode="auto">
          <a:xfrm>
            <a:off x="571500" y="381000"/>
            <a:ext cx="666750" cy="276225"/>
            <a:chOff x="571500" y="381000"/>
            <a:chExt cx="666750" cy="276225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38100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82969" y="4743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Part 2</a:t>
              </a:r>
              <a:endParaRPr/>
            </a:p>
          </p:txBody>
        </p:sp>
      </p:grpSp>
      <p:grpSp>
        <p:nvGrpSpPr>
          <p:cNvPr id="1948088850" name="Group 9"/>
          <p:cNvGrpSpPr/>
          <p:nvPr/>
        </p:nvGrpSpPr>
        <p:grpSpPr bwMode="auto">
          <a:xfrm>
            <a:off x="571500" y="809625"/>
            <a:ext cx="3399472" cy="438149"/>
            <a:chOff x="571500" y="809625"/>
            <a:chExt cx="3399472" cy="438149"/>
          </a:xfrm>
        </p:grpSpPr>
        <p:sp>
          <p:nvSpPr>
            <p:cNvPr id="7" name="Rectangle 7"/>
            <p:cNvSpPr/>
            <p:nvPr/>
          </p:nvSpPr>
          <p:spPr bwMode="auto">
            <a:xfrm>
              <a:off x="571500" y="80962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697230" y="821055"/>
              <a:ext cx="32737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自定义二进制协议格式</a:t>
              </a:r>
              <a:endParaRPr/>
            </a:p>
          </p:txBody>
        </p:sp>
      </p:grpSp>
      <p:sp>
        <p:nvSpPr>
          <p:cNvPr id="1944512768" name="Rectangle 10"/>
          <p:cNvSpPr/>
          <p:nvPr/>
        </p:nvSpPr>
        <p:spPr bwMode="auto">
          <a:xfrm>
            <a:off x="571500" y="1381125"/>
            <a:ext cx="11049000" cy="1905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grpSp>
        <p:nvGrpSpPr>
          <p:cNvPr id="705348306" name="Group 14"/>
          <p:cNvGrpSpPr/>
          <p:nvPr/>
        </p:nvGrpSpPr>
        <p:grpSpPr bwMode="auto">
          <a:xfrm>
            <a:off x="762000" y="1571625"/>
            <a:ext cx="1619250" cy="666750"/>
            <a:chOff x="762000" y="1571625"/>
            <a:chExt cx="1619250" cy="666750"/>
          </a:xfrm>
        </p:grpSpPr>
        <p:sp>
          <p:nvSpPr>
            <p:cNvPr id="11" name="Rectangle 11"/>
            <p:cNvSpPr/>
            <p:nvPr/>
          </p:nvSpPr>
          <p:spPr bwMode="auto">
            <a:xfrm>
              <a:off x="762000" y="1571625"/>
              <a:ext cx="1619250" cy="666750"/>
            </a:xfrm>
            <a:prstGeom prst="roundRect">
              <a:avLst>
                <a:gd name="adj" fmla="val 8571"/>
              </a:avLst>
            </a:prstGeom>
            <a:solidFill>
              <a:srgbClr val="1A73E8">
                <a:alpha val="9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1340913" y="1744028"/>
              <a:ext cx="461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Magic</a:t>
              </a:r>
              <a:endParaRPr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1377398" y="200644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0xF1F2</a:t>
              </a:r>
              <a:endParaRPr/>
            </a:p>
          </p:txBody>
        </p:sp>
      </p:grpSp>
      <p:grpSp>
        <p:nvGrpSpPr>
          <p:cNvPr id="1387410579" name="Group 18"/>
          <p:cNvGrpSpPr/>
          <p:nvPr/>
        </p:nvGrpSpPr>
        <p:grpSpPr bwMode="auto">
          <a:xfrm>
            <a:off x="2457450" y="1571625"/>
            <a:ext cx="809625" cy="666750"/>
            <a:chOff x="2457450" y="1571625"/>
            <a:chExt cx="809625" cy="666750"/>
          </a:xfrm>
        </p:grpSpPr>
        <p:sp>
          <p:nvSpPr>
            <p:cNvPr id="15" name="Rectangle 15"/>
            <p:cNvSpPr/>
            <p:nvPr/>
          </p:nvSpPr>
          <p:spPr bwMode="auto">
            <a:xfrm>
              <a:off x="2457450" y="1571625"/>
              <a:ext cx="809625" cy="666750"/>
            </a:xfrm>
            <a:prstGeom prst="roundRect">
              <a:avLst>
                <a:gd name="adj" fmla="val 8571"/>
              </a:avLst>
            </a:prstGeom>
            <a:solidFill>
              <a:srgbClr val="4FC3F7">
                <a:alpha val="9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2721765" y="1752124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Ver</a:t>
              </a:r>
              <a:endParaRPr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2729544" y="200644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E1F5FE"/>
                  </a:solidFill>
                  <a:latin typeface="Arial"/>
                  <a:ea typeface="Microsoft YaHei"/>
                  <a:cs typeface="Arial"/>
                </a:rPr>
                <a:t>0x01</a:t>
              </a:r>
              <a:endParaRPr/>
            </a:p>
          </p:txBody>
        </p:sp>
      </p:grpSp>
      <p:grpSp>
        <p:nvGrpSpPr>
          <p:cNvPr id="1644483144" name="Group 22"/>
          <p:cNvGrpSpPr/>
          <p:nvPr/>
        </p:nvGrpSpPr>
        <p:grpSpPr bwMode="auto">
          <a:xfrm>
            <a:off x="3343275" y="1571625"/>
            <a:ext cx="809625" cy="666750"/>
            <a:chOff x="3343275" y="1571625"/>
            <a:chExt cx="809625" cy="666750"/>
          </a:xfrm>
        </p:grpSpPr>
        <p:sp>
          <p:nvSpPr>
            <p:cNvPr id="19" name="Rectangle 19"/>
            <p:cNvSpPr/>
            <p:nvPr/>
          </p:nvSpPr>
          <p:spPr bwMode="auto">
            <a:xfrm>
              <a:off x="3343275" y="1571625"/>
              <a:ext cx="809625" cy="666750"/>
            </a:xfrm>
            <a:prstGeom prst="roundRect">
              <a:avLst>
                <a:gd name="adj" fmla="val 8571"/>
              </a:avLst>
            </a:prstGeom>
            <a:solidFill>
              <a:srgbClr val="0D47A1">
                <a:alpha val="9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3566472" y="17521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Type</a:t>
              </a:r>
              <a:endParaRPr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3594283" y="2006441"/>
              <a:ext cx="2980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1字节</a:t>
              </a:r>
              <a:endParaRPr/>
            </a:p>
          </p:txBody>
        </p:sp>
      </p:grpSp>
      <p:grpSp>
        <p:nvGrpSpPr>
          <p:cNvPr id="1523799771" name="Group 26"/>
          <p:cNvGrpSpPr/>
          <p:nvPr/>
        </p:nvGrpSpPr>
        <p:grpSpPr bwMode="auto">
          <a:xfrm>
            <a:off x="4229100" y="1571625"/>
            <a:ext cx="809625" cy="666750"/>
            <a:chOff x="4229100" y="1571625"/>
            <a:chExt cx="809625" cy="666750"/>
          </a:xfrm>
        </p:grpSpPr>
        <p:sp>
          <p:nvSpPr>
            <p:cNvPr id="23" name="Rectangle 23"/>
            <p:cNvSpPr/>
            <p:nvPr/>
          </p:nvSpPr>
          <p:spPr bwMode="auto">
            <a:xfrm>
              <a:off x="4229100" y="1571625"/>
              <a:ext cx="809625" cy="666750"/>
            </a:xfrm>
            <a:prstGeom prst="roundRect">
              <a:avLst>
                <a:gd name="adj" fmla="val 8571"/>
              </a:avLst>
            </a:prstGeom>
            <a:solidFill>
              <a:srgbClr val="FF6B35">
                <a:alpha val="9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4478463" y="1752124"/>
              <a:ext cx="3013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Cmd</a:t>
              </a:r>
              <a:endParaRPr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4480108" y="2006441"/>
              <a:ext cx="2980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FDE8E0"/>
                  </a:solidFill>
                  <a:latin typeface="Arial"/>
                  <a:ea typeface="Microsoft YaHei"/>
                  <a:cs typeface="Arial"/>
                </a:rPr>
                <a:t>1字节</a:t>
              </a:r>
              <a:endParaRPr/>
            </a:p>
          </p:txBody>
        </p:sp>
      </p:grpSp>
      <p:grpSp>
        <p:nvGrpSpPr>
          <p:cNvPr id="1696229038" name="Group 30"/>
          <p:cNvGrpSpPr/>
          <p:nvPr/>
        </p:nvGrpSpPr>
        <p:grpSpPr bwMode="auto">
          <a:xfrm>
            <a:off x="5114925" y="1571625"/>
            <a:ext cx="1428750" cy="666750"/>
            <a:chOff x="5114925" y="1571625"/>
            <a:chExt cx="1428750" cy="666750"/>
          </a:xfrm>
        </p:grpSpPr>
        <p:sp>
          <p:nvSpPr>
            <p:cNvPr id="27" name="Rectangle 27"/>
            <p:cNvSpPr/>
            <p:nvPr/>
          </p:nvSpPr>
          <p:spPr bwMode="auto">
            <a:xfrm>
              <a:off x="5114925" y="1571625"/>
              <a:ext cx="1428750" cy="666750"/>
            </a:xfrm>
            <a:prstGeom prst="roundRect">
              <a:avLst>
                <a:gd name="adj" fmla="val 8571"/>
              </a:avLst>
            </a:prstGeom>
            <a:solidFill>
              <a:srgbClr val="1A73E8">
                <a:alpha val="7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5570212" y="17521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Status</a:t>
              </a: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5665196" y="2006441"/>
              <a:ext cx="328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2字节</a:t>
              </a:r>
              <a:endParaRPr/>
            </a:p>
          </p:txBody>
        </p:sp>
      </p:grpSp>
      <p:grpSp>
        <p:nvGrpSpPr>
          <p:cNvPr id="1049254709" name="Group 34"/>
          <p:cNvGrpSpPr/>
          <p:nvPr/>
        </p:nvGrpSpPr>
        <p:grpSpPr bwMode="auto">
          <a:xfrm>
            <a:off x="6619875" y="1571625"/>
            <a:ext cx="1714500" cy="666750"/>
            <a:chOff x="6619875" y="1571625"/>
            <a:chExt cx="1714500" cy="666750"/>
          </a:xfrm>
        </p:grpSpPr>
        <p:sp>
          <p:nvSpPr>
            <p:cNvPr id="31" name="Rectangle 31"/>
            <p:cNvSpPr/>
            <p:nvPr/>
          </p:nvSpPr>
          <p:spPr bwMode="auto">
            <a:xfrm>
              <a:off x="6619875" y="1571625"/>
              <a:ext cx="1714500" cy="666750"/>
            </a:xfrm>
            <a:prstGeom prst="roundRect">
              <a:avLst>
                <a:gd name="adj" fmla="val 8571"/>
              </a:avLst>
            </a:prstGeom>
            <a:solidFill>
              <a:srgbClr val="4FC3F7">
                <a:alpha val="7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7049828" y="1752124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Payload Len</a:t>
              </a:r>
              <a:endParaRPr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313021" y="2006441"/>
              <a:ext cx="328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E1F5FE"/>
                  </a:solidFill>
                  <a:latin typeface="Arial"/>
                  <a:ea typeface="Microsoft YaHei"/>
                  <a:cs typeface="Arial"/>
                </a:rPr>
                <a:t>4字节</a:t>
              </a:r>
              <a:endParaRPr/>
            </a:p>
          </p:txBody>
        </p:sp>
      </p:grpSp>
      <p:grpSp>
        <p:nvGrpSpPr>
          <p:cNvPr id="1787640584" name="Group 38"/>
          <p:cNvGrpSpPr/>
          <p:nvPr/>
        </p:nvGrpSpPr>
        <p:grpSpPr bwMode="auto">
          <a:xfrm>
            <a:off x="8410575" y="1571625"/>
            <a:ext cx="1524000" cy="666750"/>
            <a:chOff x="8410575" y="1571625"/>
            <a:chExt cx="1524000" cy="666750"/>
          </a:xfrm>
        </p:grpSpPr>
        <p:sp>
          <p:nvSpPr>
            <p:cNvPr id="35" name="Rectangle 35"/>
            <p:cNvSpPr/>
            <p:nvPr/>
          </p:nvSpPr>
          <p:spPr bwMode="auto">
            <a:xfrm>
              <a:off x="8410575" y="1571625"/>
              <a:ext cx="1524000" cy="666750"/>
            </a:xfrm>
            <a:prstGeom prst="roundRect">
              <a:avLst>
                <a:gd name="adj" fmla="val 8571"/>
              </a:avLst>
            </a:prstGeom>
            <a:solidFill>
              <a:srgbClr val="0D47A1">
                <a:alpha val="7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8954604" y="17521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CRC32</a:t>
              </a:r>
              <a:endParaRPr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9008471" y="2006441"/>
              <a:ext cx="328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4字节</a:t>
              </a:r>
              <a:endParaRPr/>
            </a:p>
          </p:txBody>
        </p:sp>
      </p:grpSp>
      <p:grpSp>
        <p:nvGrpSpPr>
          <p:cNvPr id="1899025338" name="Group 42"/>
          <p:cNvGrpSpPr/>
          <p:nvPr/>
        </p:nvGrpSpPr>
        <p:grpSpPr bwMode="auto">
          <a:xfrm>
            <a:off x="10010775" y="1571625"/>
            <a:ext cx="1428750" cy="666750"/>
            <a:chOff x="10010775" y="1571625"/>
            <a:chExt cx="1428750" cy="666750"/>
          </a:xfrm>
        </p:grpSpPr>
        <p:sp>
          <p:nvSpPr>
            <p:cNvPr id="39" name="Rectangle 39"/>
            <p:cNvSpPr/>
            <p:nvPr/>
          </p:nvSpPr>
          <p:spPr bwMode="auto">
            <a:xfrm>
              <a:off x="10010775" y="1571625"/>
              <a:ext cx="1428750" cy="666750"/>
            </a:xfrm>
            <a:prstGeom prst="roundRect">
              <a:avLst>
                <a:gd name="adj" fmla="val 8571"/>
              </a:avLst>
            </a:prstGeom>
            <a:solidFill>
              <a:srgbClr val="E0E0E0">
                <a:alpha val="50000"/>
              </a:srgbClr>
            </a:solidFill>
            <a:ln w="9525">
              <a:solidFill>
                <a:srgbClr val="BDBDBD"/>
              </a:solidFill>
            </a:ln>
          </p:spPr>
        </p:sp>
        <p:sp>
          <p:nvSpPr>
            <p:cNvPr id="40" name="TextBox 40"/>
            <p:cNvSpPr txBox="1"/>
            <p:nvPr/>
          </p:nvSpPr>
          <p:spPr bwMode="auto">
            <a:xfrm>
              <a:off x="10443634" y="1752124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Payload</a:t>
              </a:r>
              <a:endParaRPr/>
            </a:p>
          </p:txBody>
        </p:sp>
        <p:sp>
          <p:nvSpPr>
            <p:cNvPr id="41" name="TextBox 41"/>
            <p:cNvSpPr txBox="1"/>
            <p:nvPr/>
          </p:nvSpPr>
          <p:spPr bwMode="auto">
            <a:xfrm>
              <a:off x="10473690" y="200644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可变长度</a:t>
              </a:r>
              <a:endParaRPr/>
            </a:p>
          </p:txBody>
        </p:sp>
      </p:grpSp>
      <p:sp>
        <p:nvSpPr>
          <p:cNvPr id="895524992" name="TextBox 43"/>
          <p:cNvSpPr txBox="1"/>
          <p:nvPr/>
        </p:nvSpPr>
        <p:spPr bwMode="auto">
          <a:xfrm>
            <a:off x="1297305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协议标识</a:t>
            </a:r>
            <a:endParaRPr/>
          </a:p>
        </p:txBody>
      </p:sp>
      <p:sp>
        <p:nvSpPr>
          <p:cNvPr id="1228628155" name="TextBox 44"/>
          <p:cNvSpPr txBox="1"/>
          <p:nvPr/>
        </p:nvSpPr>
        <p:spPr bwMode="auto">
          <a:xfrm>
            <a:off x="2714625" y="23793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版本</a:t>
            </a:r>
            <a:endParaRPr/>
          </a:p>
        </p:txBody>
      </p:sp>
      <p:sp>
        <p:nvSpPr>
          <p:cNvPr id="1334825724" name="TextBox 45"/>
          <p:cNvSpPr txBox="1"/>
          <p:nvPr/>
        </p:nvSpPr>
        <p:spPr bwMode="auto">
          <a:xfrm>
            <a:off x="3469005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消息分类</a:t>
            </a:r>
            <a:endParaRPr/>
          </a:p>
        </p:txBody>
      </p:sp>
      <p:sp>
        <p:nvSpPr>
          <p:cNvPr id="2033685866" name="TextBox 46"/>
          <p:cNvSpPr txBox="1"/>
          <p:nvPr/>
        </p:nvSpPr>
        <p:spPr bwMode="auto">
          <a:xfrm>
            <a:off x="4354830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操作命令</a:t>
            </a:r>
            <a:endParaRPr/>
          </a:p>
        </p:txBody>
      </p:sp>
      <p:sp>
        <p:nvSpPr>
          <p:cNvPr id="803006111" name="TextBox 47"/>
          <p:cNvSpPr txBox="1"/>
          <p:nvPr/>
        </p:nvSpPr>
        <p:spPr bwMode="auto">
          <a:xfrm>
            <a:off x="5554980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结果反馈</a:t>
            </a:r>
            <a:endParaRPr/>
          </a:p>
        </p:txBody>
      </p:sp>
      <p:sp>
        <p:nvSpPr>
          <p:cNvPr id="1486585571" name="TextBox 48"/>
          <p:cNvSpPr txBox="1"/>
          <p:nvPr/>
        </p:nvSpPr>
        <p:spPr bwMode="auto">
          <a:xfrm>
            <a:off x="7202804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数据大小</a:t>
            </a:r>
            <a:endParaRPr/>
          </a:p>
        </p:txBody>
      </p:sp>
      <p:sp>
        <p:nvSpPr>
          <p:cNvPr id="1215042996" name="TextBox 49"/>
          <p:cNvSpPr txBox="1"/>
          <p:nvPr/>
        </p:nvSpPr>
        <p:spPr bwMode="auto">
          <a:xfrm>
            <a:off x="8832532" y="23793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完整性校验</a:t>
            </a:r>
            <a:endParaRPr/>
          </a:p>
        </p:txBody>
      </p:sp>
      <p:sp>
        <p:nvSpPr>
          <p:cNvPr id="1425781756" name="TextBox 50"/>
          <p:cNvSpPr txBox="1"/>
          <p:nvPr/>
        </p:nvSpPr>
        <p:spPr bwMode="auto">
          <a:xfrm>
            <a:off x="10450830" y="23793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90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实际数据</a:t>
            </a:r>
            <a:endParaRPr/>
          </a:p>
        </p:txBody>
      </p:sp>
      <p:sp>
        <p:nvSpPr>
          <p:cNvPr id="953634532" name="Rectangle 51"/>
          <p:cNvSpPr/>
          <p:nvPr/>
        </p:nvSpPr>
        <p:spPr bwMode="auto">
          <a:xfrm>
            <a:off x="762000" y="2667000"/>
            <a:ext cx="10668000" cy="266700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95663835" name="TextBox 52"/>
          <p:cNvSpPr txBox="1"/>
          <p:nvPr/>
        </p:nvSpPr>
        <p:spPr bwMode="auto">
          <a:xfrm>
            <a:off x="4907218" y="2744152"/>
            <a:ext cx="23775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 b="1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固定头部 15 字节 + 可变长度负载</a:t>
            </a:r>
            <a:endParaRPr/>
          </a:p>
        </p:txBody>
      </p:sp>
      <p:grpSp>
        <p:nvGrpSpPr>
          <p:cNvPr id="159206060" name="Group 78"/>
          <p:cNvGrpSpPr/>
          <p:nvPr/>
        </p:nvGrpSpPr>
        <p:grpSpPr bwMode="auto">
          <a:xfrm>
            <a:off x="552450" y="3457575"/>
            <a:ext cx="11068050" cy="1590675"/>
            <a:chOff x="552450" y="3457575"/>
            <a:chExt cx="11068050" cy="1590675"/>
          </a:xfrm>
        </p:grpSpPr>
        <p:sp>
          <p:nvSpPr>
            <p:cNvPr id="53" name="TextBox 53"/>
            <p:cNvSpPr txBox="1"/>
            <p:nvPr/>
          </p:nvSpPr>
          <p:spPr bwMode="auto">
            <a:xfrm>
              <a:off x="552450" y="3457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5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消息类型</a:t>
              </a:r>
              <a:endParaRPr/>
            </a:p>
          </p:txBody>
        </p:sp>
        <p:grpSp>
          <p:nvGrpSpPr>
            <p:cNvPr id="59" name="Group 59"/>
            <p:cNvGrpSpPr/>
            <p:nvPr/>
          </p:nvGrpSpPr>
          <p:grpSpPr bwMode="auto">
            <a:xfrm>
              <a:off x="571500" y="3810000"/>
              <a:ext cx="2667000" cy="1238250"/>
              <a:chOff x="571500" y="3810000"/>
              <a:chExt cx="2667000" cy="1238250"/>
            </a:xfrm>
          </p:grpSpPr>
          <p:sp>
            <p:nvSpPr>
              <p:cNvPr id="54" name="Rectangle 54"/>
              <p:cNvSpPr/>
              <p:nvPr/>
            </p:nvSpPr>
            <p:spPr bwMode="auto">
              <a:xfrm>
                <a:off x="571500" y="3810000"/>
                <a:ext cx="26670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 bwMode="auto">
              <a:xfrm>
                <a:off x="571500" y="3810000"/>
                <a:ext cx="2667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 bwMode="auto">
              <a:xfrm>
                <a:off x="1530915" y="4061460"/>
                <a:ext cx="7481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200" b="1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Type = 0</a:t>
                </a:r>
                <a:endParaRPr/>
              </a:p>
            </p:txBody>
          </p:sp>
          <p:sp>
            <p:nvSpPr>
              <p:cNvPr id="57" name="TextBox 57"/>
              <p:cNvSpPr txBox="1"/>
              <p:nvPr/>
            </p:nvSpPr>
            <p:spPr bwMode="auto">
              <a:xfrm>
                <a:off x="1521714" y="4347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20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请求消息</a:t>
                </a:r>
                <a:endParaRPr/>
              </a:p>
            </p:txBody>
          </p:sp>
          <p:sp>
            <p:nvSpPr>
              <p:cNvPr id="58" name="TextBox 58"/>
              <p:cNvSpPr txBox="1"/>
              <p:nvPr/>
            </p:nvSpPr>
            <p:spPr bwMode="auto">
              <a:xfrm>
                <a:off x="1180624" y="465724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0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客户端发送的操作请求</a:t>
                </a: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 bwMode="auto">
            <a:xfrm>
              <a:off x="3429000" y="3810000"/>
              <a:ext cx="2667000" cy="1238250"/>
              <a:chOff x="3429000" y="3810000"/>
              <a:chExt cx="2667000" cy="1238250"/>
            </a:xfrm>
          </p:grpSpPr>
          <p:sp>
            <p:nvSpPr>
              <p:cNvPr id="60" name="Rectangle 60"/>
              <p:cNvSpPr/>
              <p:nvPr/>
            </p:nvSpPr>
            <p:spPr bwMode="auto">
              <a:xfrm>
                <a:off x="3429000" y="3810000"/>
                <a:ext cx="26670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 bwMode="auto">
              <a:xfrm>
                <a:off x="3429000" y="3810000"/>
                <a:ext cx="2667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 bwMode="auto">
              <a:xfrm>
                <a:off x="4411418" y="4061460"/>
                <a:ext cx="7021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200" b="1">
                    <a:solidFill>
                      <a:srgbClr val="0D47A1"/>
                    </a:solidFill>
                    <a:latin typeface="Consolas"/>
                    <a:ea typeface="Microsoft YaHei"/>
                    <a:cs typeface="Consolas"/>
                  </a:rPr>
                  <a:t>Type = 1</a:t>
                </a:r>
                <a:endParaRPr/>
              </a:p>
            </p:txBody>
          </p:sp>
          <p:sp>
            <p:nvSpPr>
              <p:cNvPr id="63" name="TextBox 63"/>
              <p:cNvSpPr txBox="1"/>
              <p:nvPr/>
            </p:nvSpPr>
            <p:spPr bwMode="auto">
              <a:xfrm>
                <a:off x="4379214" y="4347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20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响应消息</a:t>
                </a:r>
                <a:endParaRPr/>
              </a:p>
            </p:txBody>
          </p:sp>
          <p:sp>
            <p:nvSpPr>
              <p:cNvPr id="64" name="TextBox 64"/>
              <p:cNvSpPr txBox="1"/>
              <p:nvPr/>
            </p:nvSpPr>
            <p:spPr bwMode="auto">
              <a:xfrm>
                <a:off x="4109323" y="465724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0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服务器返回的状态码</a:t>
                </a: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 bwMode="auto">
            <a:xfrm>
              <a:off x="6286500" y="3810000"/>
              <a:ext cx="2667000" cy="1238250"/>
              <a:chOff x="6286500" y="3810000"/>
              <a:chExt cx="2667000" cy="1238250"/>
            </a:xfrm>
          </p:grpSpPr>
          <p:sp>
            <p:nvSpPr>
              <p:cNvPr id="66" name="Rectangle 66"/>
              <p:cNvSpPr/>
              <p:nvPr/>
            </p:nvSpPr>
            <p:spPr bwMode="auto">
              <a:xfrm>
                <a:off x="6286500" y="3810000"/>
                <a:ext cx="26670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 bwMode="auto">
              <a:xfrm>
                <a:off x="6286500" y="3810000"/>
                <a:ext cx="2667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 bwMode="auto">
              <a:xfrm>
                <a:off x="7245915" y="4061460"/>
                <a:ext cx="74817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200" b="1">
                    <a:solidFill>
                      <a:srgbClr val="FF6B35"/>
                    </a:solidFill>
                    <a:latin typeface="Consolas"/>
                    <a:ea typeface="Microsoft YaHei"/>
                    <a:cs typeface="Consolas"/>
                  </a:rPr>
                  <a:t>Type = 2</a:t>
                </a:r>
                <a:endParaRPr/>
              </a:p>
            </p:txBody>
          </p:sp>
          <p:sp>
            <p:nvSpPr>
              <p:cNvPr id="69" name="TextBox 69"/>
              <p:cNvSpPr txBox="1"/>
              <p:nvPr/>
            </p:nvSpPr>
            <p:spPr bwMode="auto">
              <a:xfrm>
                <a:off x="7236714" y="4347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20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数据消息</a:t>
                </a:r>
                <a:endParaRPr/>
              </a:p>
            </p:txBody>
          </p:sp>
          <p:sp>
            <p:nvSpPr>
              <p:cNvPr id="70" name="TextBox 70"/>
              <p:cNvSpPr txBox="1"/>
              <p:nvPr/>
            </p:nvSpPr>
            <p:spPr bwMode="auto">
              <a:xfrm>
                <a:off x="7038023" y="465724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0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文件数据分块传输</a:t>
                </a:r>
                <a:endParaRPr/>
              </a:p>
            </p:txBody>
          </p:sp>
        </p:grpSp>
        <p:grpSp>
          <p:nvGrpSpPr>
            <p:cNvPr id="77" name="Group 77"/>
            <p:cNvGrpSpPr/>
            <p:nvPr/>
          </p:nvGrpSpPr>
          <p:grpSpPr bwMode="auto">
            <a:xfrm>
              <a:off x="9144000" y="3810000"/>
              <a:ext cx="2476500" cy="1238250"/>
              <a:chOff x="9144000" y="3810000"/>
              <a:chExt cx="2476500" cy="1238250"/>
            </a:xfrm>
          </p:grpSpPr>
          <p:sp>
            <p:nvSpPr>
              <p:cNvPr id="72" name="Rectangle 72"/>
              <p:cNvSpPr/>
              <p:nvPr/>
            </p:nvSpPr>
            <p:spPr bwMode="auto">
              <a:xfrm>
                <a:off x="9144000" y="3810000"/>
                <a:ext cx="2476500" cy="1238250"/>
              </a:xfrm>
              <a:prstGeom prst="roundRect">
                <a:avLst>
                  <a:gd name="adj" fmla="val 7692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 bwMode="auto">
              <a:xfrm>
                <a:off x="10022919" y="40219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150" b="1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设计特点</a:t>
                </a:r>
                <a:endParaRPr/>
              </a:p>
            </p:txBody>
          </p:sp>
          <p:sp>
            <p:nvSpPr>
              <p:cNvPr id="74" name="TextBox 74"/>
              <p:cNvSpPr txBox="1"/>
              <p:nvPr/>
            </p:nvSpPr>
            <p:spPr bwMode="auto">
              <a:xfrm>
                <a:off x="9322118" y="4323874"/>
                <a:ext cx="10001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0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15字节紧凑头部</a:t>
                </a:r>
                <a:endParaRPr/>
              </a:p>
            </p:txBody>
          </p:sp>
          <p:sp>
            <p:nvSpPr>
              <p:cNvPr id="75" name="TextBox 75"/>
              <p:cNvSpPr txBox="1"/>
              <p:nvPr/>
            </p:nvSpPr>
            <p:spPr bwMode="auto">
              <a:xfrm>
                <a:off x="9322118" y="4561999"/>
                <a:ext cx="11639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0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网络字节序跨平台</a:t>
                </a:r>
                <a:endParaRPr/>
              </a:p>
            </p:txBody>
          </p:sp>
          <p:sp>
            <p:nvSpPr>
              <p:cNvPr id="76" name="TextBox 76"/>
              <p:cNvSpPr txBox="1"/>
              <p:nvPr/>
            </p:nvSpPr>
            <p:spPr bwMode="auto">
              <a:xfrm>
                <a:off x="9322118" y="4800124"/>
                <a:ext cx="14131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0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CRC32数据完整性校验</a:t>
                </a:r>
                <a:endParaRPr/>
              </a:p>
            </p:txBody>
          </p:sp>
        </p:grpSp>
      </p:grpSp>
      <p:sp>
        <p:nvSpPr>
          <p:cNvPr id="1552065834" name="Rectangle 79"/>
          <p:cNvSpPr/>
          <p:nvPr/>
        </p:nvSpPr>
        <p:spPr bwMode="auto">
          <a:xfrm>
            <a:off x="571500" y="5381625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1293755733" name="TextBox 80"/>
          <p:cNvSpPr txBox="1"/>
          <p:nvPr/>
        </p:nvSpPr>
        <p:spPr bwMode="auto">
          <a:xfrm>
            <a:off x="1129665" y="5649278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 b="1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二进制协议优势：</a:t>
            </a:r>
            <a:endParaRPr/>
          </a:p>
        </p:txBody>
      </p:sp>
      <p:sp>
        <p:nvSpPr>
          <p:cNvPr id="141985580" name="TextBox 81"/>
          <p:cNvSpPr txBox="1"/>
          <p:nvPr/>
        </p:nvSpPr>
        <p:spPr bwMode="auto">
          <a:xfrm>
            <a:off x="2844165" y="56492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传输效率高</a:t>
            </a:r>
            <a:endParaRPr/>
          </a:p>
        </p:txBody>
      </p:sp>
      <p:sp>
        <p:nvSpPr>
          <p:cNvPr id="1207976036" name="Ellipse 82"/>
          <p:cNvSpPr/>
          <p:nvPr/>
        </p:nvSpPr>
        <p:spPr bwMode="auto">
          <a:xfrm>
            <a:off x="3971925" y="5686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779530561" name="TextBox 83"/>
          <p:cNvSpPr txBox="1"/>
          <p:nvPr/>
        </p:nvSpPr>
        <p:spPr bwMode="auto">
          <a:xfrm>
            <a:off x="4177665" y="56492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解析速度快</a:t>
            </a:r>
            <a:endParaRPr/>
          </a:p>
        </p:txBody>
      </p:sp>
      <p:sp>
        <p:nvSpPr>
          <p:cNvPr id="2076310153" name="Ellipse 84"/>
          <p:cNvSpPr/>
          <p:nvPr/>
        </p:nvSpPr>
        <p:spPr bwMode="auto">
          <a:xfrm>
            <a:off x="5162550" y="5686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682775185" name="TextBox 85"/>
          <p:cNvSpPr txBox="1"/>
          <p:nvPr/>
        </p:nvSpPr>
        <p:spPr bwMode="auto">
          <a:xfrm>
            <a:off x="5368290" y="5649278"/>
            <a:ext cx="16752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安全性强（CRC32校验）</a:t>
            </a:r>
            <a:endParaRPr/>
          </a:p>
        </p:txBody>
      </p:sp>
      <p:sp>
        <p:nvSpPr>
          <p:cNvPr id="1818965227" name="TextBox 86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99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3599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8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4808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34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70534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41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8741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8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164448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9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52379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2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16962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5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104925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64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400"/>
                                        <p:tgtEl>
                                          <p:spTgt spid="178764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02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89902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0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400"/>
                                        <p:tgtEl>
                                          <p:spTgt spid="15920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5994410" grpId="0"/>
      <p:bldP spid="1948088850" grpId="0"/>
      <p:bldP spid="705348306" grpId="0"/>
      <p:bldP spid="1387410579" grpId="0"/>
      <p:bldP spid="1644483144" grpId="0"/>
      <p:bldP spid="1523799771" grpId="0"/>
      <p:bldP spid="1696229038" grpId="0"/>
      <p:bldP spid="1049254709" grpId="0"/>
      <p:bldP spid="1787640584" grpId="0"/>
      <p:bldP spid="1899025338" grpId="0"/>
      <p:bldP spid="1592060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400686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23844903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538906351" name="Group 6"/>
          <p:cNvGrpSpPr/>
          <p:nvPr/>
        </p:nvGrpSpPr>
        <p:grpSpPr bwMode="auto">
          <a:xfrm>
            <a:off x="571500" y="523875"/>
            <a:ext cx="3077432" cy="438149"/>
            <a:chOff x="571500" y="523875"/>
            <a:chExt cx="3077432" cy="438149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97230" y="535305"/>
              <a:ext cx="29517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状态码与命令码设计</a:t>
              </a:r>
              <a:endParaRPr/>
            </a:p>
          </p:txBody>
        </p:sp>
      </p:grpSp>
      <p:grpSp>
        <p:nvGrpSpPr>
          <p:cNvPr id="42536219" name="Group 17"/>
          <p:cNvGrpSpPr/>
          <p:nvPr/>
        </p:nvGrpSpPr>
        <p:grpSpPr bwMode="auto">
          <a:xfrm>
            <a:off x="571500" y="1095375"/>
            <a:ext cx="5476875" cy="2571750"/>
            <a:chOff x="571500" y="1095375"/>
            <a:chExt cx="5476875" cy="2571750"/>
          </a:xfrm>
        </p:grpSpPr>
        <p:sp>
          <p:nvSpPr>
            <p:cNvPr id="7" name="Rectangle 7"/>
            <p:cNvSpPr/>
            <p:nvPr/>
          </p:nvSpPr>
          <p:spPr bwMode="auto">
            <a:xfrm>
              <a:off x="571500" y="1095375"/>
              <a:ext cx="5476875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 bwMode="auto">
            <a:xfrm>
              <a:off x="571500" y="1095375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 bwMode="auto">
            <a:xfrm>
              <a:off x="2176236" y="1314450"/>
              <a:ext cx="22578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状态码 Status Codes</a:t>
              </a:r>
              <a:endParaRPr/>
            </a:p>
          </p:txBody>
        </p:sp>
        <p:sp>
          <p:nvSpPr>
            <p:cNvPr id="10" name="TextBox 10"/>
            <p:cNvSpPr txBox="1"/>
            <p:nvPr/>
          </p:nvSpPr>
          <p:spPr bwMode="auto">
            <a:xfrm>
              <a:off x="843915" y="16964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0x0000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STATUS_OK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操作成功</a:t>
              </a:r>
              <a:endParaRPr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843915" y="1963102"/>
              <a:ext cx="29096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0x0001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FILE_NOT_FOUND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文件不存在</a:t>
              </a:r>
              <a:endParaRPr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843915" y="2229802"/>
              <a:ext cx="2211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0x0002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EXISTS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文件已存在</a:t>
              </a:r>
              <a:endParaRPr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843915" y="2496502"/>
              <a:ext cx="25263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0x0003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INVALID_PATH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非法路径</a:t>
              </a:r>
              <a:endParaRPr/>
            </a:p>
          </p:txBody>
        </p:sp>
        <p:sp>
          <p:nvSpPr>
            <p:cNvPr id="14" name="TextBox 14"/>
            <p:cNvSpPr txBox="1"/>
            <p:nvPr/>
          </p:nvSpPr>
          <p:spPr bwMode="auto">
            <a:xfrm>
              <a:off x="843915" y="27632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0x0004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IO_ERROR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磁盘读写错误</a:t>
              </a: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843915" y="3029902"/>
              <a:ext cx="28866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0x0005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CHECKSUM_ERR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CRC校验失败</a:t>
              </a:r>
              <a:endParaRPr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843915" y="3296601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0x0006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PERMISSION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权限不足</a:t>
              </a:r>
              <a:endParaRPr/>
            </a:p>
          </p:txBody>
        </p:sp>
      </p:grpSp>
      <p:grpSp>
        <p:nvGrpSpPr>
          <p:cNvPr id="1834267795" name="Group 28"/>
          <p:cNvGrpSpPr/>
          <p:nvPr/>
        </p:nvGrpSpPr>
        <p:grpSpPr bwMode="auto">
          <a:xfrm>
            <a:off x="6143625" y="1095375"/>
            <a:ext cx="5476875" cy="2571750"/>
            <a:chOff x="6143625" y="1095375"/>
            <a:chExt cx="5476875" cy="2571750"/>
          </a:xfrm>
        </p:grpSpPr>
        <p:sp>
          <p:nvSpPr>
            <p:cNvPr id="18" name="Rectangle 18"/>
            <p:cNvSpPr/>
            <p:nvPr/>
          </p:nvSpPr>
          <p:spPr bwMode="auto">
            <a:xfrm>
              <a:off x="6143625" y="1095375"/>
              <a:ext cx="5476875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9" name="Rectangle 19"/>
            <p:cNvSpPr/>
            <p:nvPr/>
          </p:nvSpPr>
          <p:spPr bwMode="auto">
            <a:xfrm>
              <a:off x="6143625" y="1095375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39098" y="1314450"/>
              <a:ext cx="2476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0D47A1"/>
                  </a:solidFill>
                  <a:latin typeface="Georgia"/>
                  <a:ea typeface="Microsoft YaHei"/>
                  <a:cs typeface="Georgia"/>
                </a:rPr>
                <a:t>命令码 Command Codes</a:t>
              </a:r>
              <a:endParaRPr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6416040" y="169640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0x01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CMD_MKDIR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创建目录</a:t>
              </a:r>
              <a:endParaRPr/>
            </a:p>
          </p:txBody>
        </p:sp>
        <p:sp>
          <p:nvSpPr>
            <p:cNvPr id="22" name="TextBox 22"/>
            <p:cNvSpPr txBox="1"/>
            <p:nvPr/>
          </p:nvSpPr>
          <p:spPr bwMode="auto">
            <a:xfrm>
              <a:off x="6416040" y="19631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0x02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CMD_RENAME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重命名</a:t>
              </a: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6416040" y="2229802"/>
              <a:ext cx="22886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0x10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CMD_UPLOAD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上传文件</a:t>
              </a:r>
              <a:endParaRPr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6416040" y="249650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0x11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CMD_DOWNLOAD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下载文件</a:t>
              </a:r>
              <a:endParaRPr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6416040" y="2763202"/>
              <a:ext cx="2050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0x12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CMD_LIST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列出目录</a:t>
              </a: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6416040" y="3029902"/>
              <a:ext cx="2296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0x20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CMD_DELETE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删除文件</a:t>
              </a:r>
              <a:endParaRPr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6416040" y="3296601"/>
              <a:ext cx="23346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0x13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 CMD_MKDIR_P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 ── </a:t>
              </a:r>
              <a:r>
                <a:rPr lang="zh-CN" sz="105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 </a:t>
              </a:r>
              <a:r>
                <a:rPr lang="zh-CN" sz="105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递归创建</a:t>
              </a:r>
              <a:endParaRPr/>
            </a:p>
          </p:txBody>
        </p:sp>
      </p:grpSp>
      <p:grpSp>
        <p:nvGrpSpPr>
          <p:cNvPr id="1531114127" name="Group 37"/>
          <p:cNvGrpSpPr/>
          <p:nvPr/>
        </p:nvGrpSpPr>
        <p:grpSpPr bwMode="auto">
          <a:xfrm>
            <a:off x="571500" y="3905250"/>
            <a:ext cx="5476875" cy="2381250"/>
            <a:chOff x="571500" y="3905250"/>
            <a:chExt cx="5476875" cy="2381250"/>
          </a:xfrm>
        </p:grpSpPr>
        <p:sp>
          <p:nvSpPr>
            <p:cNvPr id="29" name="Rectangle 29"/>
            <p:cNvSpPr/>
            <p:nvPr/>
          </p:nvSpPr>
          <p:spPr bwMode="auto">
            <a:xfrm>
              <a:off x="571500" y="3905250"/>
              <a:ext cx="5476875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Rectangle 30"/>
            <p:cNvSpPr/>
            <p:nvPr/>
          </p:nvSpPr>
          <p:spPr bwMode="auto">
            <a:xfrm>
              <a:off x="571500" y="3905250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 bwMode="auto">
            <a:xfrm>
              <a:off x="2596039" y="4124325"/>
              <a:ext cx="141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FF6B35"/>
                  </a:solidFill>
                  <a:latin typeface="Georgia"/>
                  <a:ea typeface="Microsoft YaHei"/>
                  <a:cs typeface="Georgia"/>
                </a:rPr>
                <a:t>错误处理机制</a:t>
              </a: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842962" y="449818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每个响应消息包含状态码字段</a:t>
              </a:r>
              <a:endParaRPr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842962" y="4783931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状态码采用网络字节序传输</a:t>
              </a:r>
              <a:endParaRPr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842962" y="5069681"/>
              <a:ext cx="24685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客户端解析状态码决定后续操作</a:t>
              </a:r>
              <a:endParaRPr/>
            </a:p>
          </p:txBody>
        </p:sp>
        <p:sp>
          <p:nvSpPr>
            <p:cNvPr id="35" name="TextBox 35"/>
            <p:cNvSpPr txBox="1"/>
            <p:nvPr/>
          </p:nvSpPr>
          <p:spPr bwMode="auto">
            <a:xfrm>
              <a:off x="842962" y="5355431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异常情况返回对应的错误码</a:t>
              </a:r>
              <a:endParaRPr/>
            </a:p>
          </p:txBody>
        </p:sp>
        <p:sp>
          <p:nvSpPr>
            <p:cNvPr id="36" name="TextBox 36"/>
            <p:cNvSpPr txBox="1"/>
            <p:nvPr/>
          </p:nvSpPr>
          <p:spPr bwMode="auto">
            <a:xfrm>
              <a:off x="842962" y="5641181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保证错误反馈的标准化</a:t>
              </a:r>
              <a:endParaRPr/>
            </a:p>
          </p:txBody>
        </p:sp>
      </p:grpSp>
      <p:grpSp>
        <p:nvGrpSpPr>
          <p:cNvPr id="641016039" name="Group 46"/>
          <p:cNvGrpSpPr/>
          <p:nvPr/>
        </p:nvGrpSpPr>
        <p:grpSpPr bwMode="auto">
          <a:xfrm>
            <a:off x="6143625" y="3905250"/>
            <a:ext cx="5476875" cy="2381250"/>
            <a:chOff x="6143625" y="3905250"/>
            <a:chExt cx="5476875" cy="2381250"/>
          </a:xfrm>
        </p:grpSpPr>
        <p:sp>
          <p:nvSpPr>
            <p:cNvPr id="38" name="Rectangle 38"/>
            <p:cNvSpPr/>
            <p:nvPr/>
          </p:nvSpPr>
          <p:spPr bwMode="auto">
            <a:xfrm>
              <a:off x="6143625" y="3905250"/>
              <a:ext cx="5476875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9" name="Rectangle 39"/>
            <p:cNvSpPr/>
            <p:nvPr/>
          </p:nvSpPr>
          <p:spPr bwMode="auto">
            <a:xfrm>
              <a:off x="6143625" y="3905250"/>
              <a:ext cx="5476875" cy="47625"/>
            </a:xfrm>
            <a:prstGeom prst="roundRect">
              <a:avLst>
                <a:gd name="adj" fmla="val 4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 bwMode="auto">
            <a:xfrm>
              <a:off x="8053149" y="4124325"/>
              <a:ext cx="164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命令码设计优势</a:t>
              </a:r>
              <a:endParaRPr/>
            </a:p>
          </p:txBody>
        </p:sp>
        <p:sp>
          <p:nvSpPr>
            <p:cNvPr id="41" name="TextBox 41"/>
            <p:cNvSpPr txBox="1"/>
            <p:nvPr/>
          </p:nvSpPr>
          <p:spPr bwMode="auto">
            <a:xfrm>
              <a:off x="6415088" y="449818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分段编码：管理类 0x01~0x0F</a:t>
              </a:r>
              <a:endParaRPr/>
            </a:p>
          </p:txBody>
        </p:sp>
        <p:sp>
          <p:nvSpPr>
            <p:cNvPr id="42" name="TextBox 42"/>
            <p:cNvSpPr txBox="1"/>
            <p:nvPr/>
          </p:nvSpPr>
          <p:spPr bwMode="auto">
            <a:xfrm>
              <a:off x="6415088" y="4783931"/>
              <a:ext cx="25999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传输类 0x10~0x1F，删除类 0x20+</a:t>
              </a:r>
              <a:endParaRPr/>
            </a:p>
          </p:txBody>
        </p:sp>
        <p:sp>
          <p:nvSpPr>
            <p:cNvPr id="43" name="TextBox 43"/>
            <p:cNvSpPr txBox="1"/>
            <p:nvPr/>
          </p:nvSpPr>
          <p:spPr bwMode="auto">
            <a:xfrm>
              <a:off x="6415088" y="5069681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预留编码空间，便于扩展</a:t>
              </a:r>
              <a:endParaRPr/>
            </a:p>
          </p:txBody>
        </p:sp>
        <p:sp>
          <p:nvSpPr>
            <p:cNvPr id="44" name="TextBox 44"/>
            <p:cNvSpPr txBox="1"/>
            <p:nvPr/>
          </p:nvSpPr>
          <p:spPr bwMode="auto">
            <a:xfrm>
              <a:off x="6415088" y="5355431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统一的请求-响应模式</a:t>
              </a:r>
              <a:endParaRPr/>
            </a:p>
          </p:txBody>
        </p:sp>
        <p:sp>
          <p:nvSpPr>
            <p:cNvPr id="45" name="TextBox 45"/>
            <p:cNvSpPr txBox="1"/>
            <p:nvPr/>
          </p:nvSpPr>
          <p:spPr bwMode="auto">
            <a:xfrm>
              <a:off x="6415088" y="564118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- 解析速度快，适合高性能场景</a:t>
              </a:r>
              <a:endParaRPr/>
            </a:p>
          </p:txBody>
        </p:sp>
      </p:grpSp>
      <p:sp>
        <p:nvSpPr>
          <p:cNvPr id="1775350383" name="TextBox 47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5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0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3890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4253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26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183426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11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53111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1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4101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906351" grpId="0"/>
      <p:bldP spid="42536219" grpId="0"/>
      <p:bldP spid="1834267795" grpId="0"/>
      <p:bldP spid="1531114127" grpId="0"/>
      <p:bldP spid="6410160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951301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26393532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210762568" name="Group 6"/>
          <p:cNvGrpSpPr/>
          <p:nvPr/>
        </p:nvGrpSpPr>
        <p:grpSpPr bwMode="auto">
          <a:xfrm>
            <a:off x="571500" y="381000"/>
            <a:ext cx="666750" cy="276225"/>
            <a:chOff x="571500" y="381000"/>
            <a:chExt cx="666750" cy="276225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381000"/>
              <a:ext cx="666750" cy="266700"/>
            </a:xfrm>
            <a:prstGeom prst="roundRect">
              <a:avLst>
                <a:gd name="adj" fmla="val 5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82969" y="47434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Part 2</a:t>
              </a:r>
              <a:endParaRPr/>
            </a:p>
          </p:txBody>
        </p:sp>
      </p:grpSp>
      <p:grpSp>
        <p:nvGrpSpPr>
          <p:cNvPr id="47070292" name="Group 9"/>
          <p:cNvGrpSpPr/>
          <p:nvPr/>
        </p:nvGrpSpPr>
        <p:grpSpPr bwMode="auto">
          <a:xfrm>
            <a:off x="571500" y="809625"/>
            <a:ext cx="2111311" cy="438149"/>
            <a:chOff x="571500" y="809625"/>
            <a:chExt cx="2111311" cy="438149"/>
          </a:xfrm>
        </p:grpSpPr>
        <p:sp>
          <p:nvSpPr>
            <p:cNvPr id="7" name="Rectangle 7"/>
            <p:cNvSpPr/>
            <p:nvPr/>
          </p:nvSpPr>
          <p:spPr bwMode="auto">
            <a:xfrm>
              <a:off x="571500" y="80962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697230" y="8210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系统模块结构</a:t>
              </a:r>
              <a:endParaRPr/>
            </a:p>
          </p:txBody>
        </p:sp>
      </p:grpSp>
      <p:grpSp>
        <p:nvGrpSpPr>
          <p:cNvPr id="279607755" name="Group 13"/>
          <p:cNvGrpSpPr/>
          <p:nvPr/>
        </p:nvGrpSpPr>
        <p:grpSpPr bwMode="auto">
          <a:xfrm>
            <a:off x="11023330" y="1799749"/>
            <a:ext cx="622840" cy="4105751"/>
            <a:chOff x="11023330" y="1799749"/>
            <a:chExt cx="622840" cy="4105751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11023330" y="1799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调用方向</a:t>
              </a:r>
              <a:endParaRPr/>
            </a:p>
          </p:txBody>
        </p:sp>
        <p:sp>
          <p:nvSpPr>
            <p:cNvPr id="11" name="Line 11"/>
            <p:cNvSpPr/>
            <p:nvPr/>
          </p:nvSpPr>
          <p:spPr bwMode="auto">
            <a:xfrm>
              <a:off x="11334750" y="2047875"/>
              <a:ext cx="9525" cy="3762375"/>
            </a:xfrm>
            <a:custGeom>
              <a:avLst/>
              <a:gdLst/>
              <a:ahLst/>
              <a:cxnLst/>
              <a:rect l="l" t="t" r="r" b="b"/>
              <a:pathLst>
                <a:path w="9525" h="3762375" fill="norm" stroke="1" extrusionOk="0">
                  <a:moveTo>
                    <a:pt x="0" y="0"/>
                  </a:moveTo>
                  <a:lnTo>
                    <a:pt x="0" y="3762375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12" name="Polygon 12"/>
            <p:cNvSpPr/>
            <p:nvPr/>
          </p:nvSpPr>
          <p:spPr bwMode="auto">
            <a:xfrm>
              <a:off x="11268075" y="579120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 fill="norm" stroke="1" extrusionOk="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1125619154" name="Group 25"/>
          <p:cNvGrpSpPr/>
          <p:nvPr/>
        </p:nvGrpSpPr>
        <p:grpSpPr bwMode="auto">
          <a:xfrm>
            <a:off x="571500" y="1333500"/>
            <a:ext cx="10477500" cy="1238250"/>
            <a:chOff x="571500" y="1333500"/>
            <a:chExt cx="10477500" cy="1238250"/>
          </a:xfrm>
        </p:grpSpPr>
        <p:sp>
          <p:nvSpPr>
            <p:cNvPr id="14" name="Rectangle 14"/>
            <p:cNvSpPr/>
            <p:nvPr/>
          </p:nvSpPr>
          <p:spPr bwMode="auto">
            <a:xfrm>
              <a:off x="571500" y="1333500"/>
              <a:ext cx="10477500" cy="1238250"/>
            </a:xfrm>
            <a:prstGeom prst="roundRect">
              <a:avLst>
                <a:gd name="adj" fmla="val 7692"/>
              </a:avLst>
            </a:prstGeom>
            <a:solidFill>
              <a:srgbClr val="E3F2FD"/>
            </a:solidFill>
            <a:ln w="9525">
              <a:solidFill>
                <a:srgbClr val="90CAF9"/>
              </a:solidFill>
            </a:ln>
          </p:spPr>
        </p:sp>
        <p:sp>
          <p:nvSpPr>
            <p:cNvPr id="15" name="Rectangle 15"/>
            <p:cNvSpPr/>
            <p:nvPr/>
          </p:nvSpPr>
          <p:spPr bwMode="auto">
            <a:xfrm>
              <a:off x="571500" y="1333500"/>
              <a:ext cx="38100" cy="12382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92480" y="1473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350" b="1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应用层</a:t>
              </a:r>
              <a:endParaRPr/>
            </a:p>
          </p:txBody>
        </p:sp>
        <p:sp>
          <p:nvSpPr>
            <p:cNvPr id="17" name="Rectangle 17"/>
            <p:cNvSpPr/>
            <p:nvPr/>
          </p:nvSpPr>
          <p:spPr bwMode="auto">
            <a:xfrm>
              <a:off x="1714500" y="1476375"/>
              <a:ext cx="22860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1A73E8"/>
              </a:solidFill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2437409" y="1632585"/>
              <a:ext cx="8401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server.c</a:t>
              </a:r>
              <a:endParaRPr/>
            </a:p>
          </p:txBody>
        </p:sp>
        <p:sp>
          <p:nvSpPr>
            <p:cNvPr id="19" name="TextBox 19"/>
            <p:cNvSpPr txBox="1"/>
            <p:nvPr/>
          </p:nvSpPr>
          <p:spPr bwMode="auto">
            <a:xfrm>
              <a:off x="2122444" y="18949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命令处理 · 多线程管理</a:t>
              </a:r>
              <a:endParaRPr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2193643" y="21045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连接监听 · 请求分发</a:t>
              </a:r>
              <a:endParaRPr/>
            </a:p>
          </p:txBody>
        </p:sp>
        <p:sp>
          <p:nvSpPr>
            <p:cNvPr id="21" name="Rectangle 21"/>
            <p:cNvSpPr/>
            <p:nvPr/>
          </p:nvSpPr>
          <p:spPr bwMode="auto">
            <a:xfrm>
              <a:off x="4191000" y="1476375"/>
              <a:ext cx="2286000" cy="904875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288">
              <a:solidFill>
                <a:srgbClr val="1A73E8"/>
              </a:solidFill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4959915" y="1632585"/>
              <a:ext cx="7481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client.c</a:t>
              </a: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4509945" y="1894999"/>
              <a:ext cx="16481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交互式Shell · 命令行模式</a:t>
              </a:r>
              <a:endParaRPr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4670143" y="21045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用户交互 · 结果展示</a:t>
              </a:r>
              <a:endParaRPr/>
            </a:p>
          </p:txBody>
        </p:sp>
      </p:grpSp>
      <p:grpSp>
        <p:nvGrpSpPr>
          <p:cNvPr id="1254208443" name="Group 33"/>
          <p:cNvGrpSpPr/>
          <p:nvPr/>
        </p:nvGrpSpPr>
        <p:grpSpPr bwMode="auto">
          <a:xfrm>
            <a:off x="1714500" y="2857500"/>
            <a:ext cx="8191500" cy="1143000"/>
            <a:chOff x="1714500" y="2857500"/>
            <a:chExt cx="8191500" cy="1143000"/>
          </a:xfrm>
        </p:grpSpPr>
        <p:sp>
          <p:nvSpPr>
            <p:cNvPr id="26" name="Rectangle 26"/>
            <p:cNvSpPr/>
            <p:nvPr/>
          </p:nvSpPr>
          <p:spPr bwMode="auto">
            <a:xfrm>
              <a:off x="1714500" y="2857500"/>
              <a:ext cx="8191500" cy="1143000"/>
            </a:xfrm>
            <a:prstGeom prst="roundRect">
              <a:avLst>
                <a:gd name="adj" fmla="val 8333"/>
              </a:avLst>
            </a:prstGeom>
            <a:solidFill>
              <a:srgbClr val="E8F5E9"/>
            </a:solidFill>
            <a:ln w="9525">
              <a:solidFill>
                <a:srgbClr val="A5D6A7"/>
              </a:solidFill>
            </a:ln>
          </p:spPr>
        </p:sp>
        <p:sp>
          <p:nvSpPr>
            <p:cNvPr id="27" name="Rectangle 27"/>
            <p:cNvSpPr/>
            <p:nvPr/>
          </p:nvSpPr>
          <p:spPr bwMode="auto">
            <a:xfrm>
              <a:off x="1714500" y="2857500"/>
              <a:ext cx="38100" cy="114300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1935480" y="2997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350" b="1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传输层</a:t>
              </a:r>
              <a:endParaRPr/>
            </a:p>
          </p:txBody>
        </p:sp>
        <p:sp>
          <p:nvSpPr>
            <p:cNvPr id="29" name="Rectangle 29"/>
            <p:cNvSpPr/>
            <p:nvPr/>
          </p:nvSpPr>
          <p:spPr bwMode="auto">
            <a:xfrm>
              <a:off x="2857500" y="2952750"/>
              <a:ext cx="419100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4288">
              <a:solidFill>
                <a:srgbClr val="4CAF50"/>
              </a:solidFill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4431697" y="3156585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transfer.c</a:t>
              </a:r>
              <a:endParaRPr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3392031" y="3418999"/>
              <a:ext cx="31219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文件上传/下载 · 进度条 · 分块传输 · CRC32校验</a:t>
              </a: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4442222" y="3609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数据完整性保障</a:t>
              </a:r>
              <a:endParaRPr/>
            </a:p>
          </p:txBody>
        </p:sp>
      </p:grpSp>
      <p:grpSp>
        <p:nvGrpSpPr>
          <p:cNvPr id="1871789997" name="Group 40"/>
          <p:cNvGrpSpPr/>
          <p:nvPr/>
        </p:nvGrpSpPr>
        <p:grpSpPr bwMode="auto">
          <a:xfrm>
            <a:off x="2857500" y="4286250"/>
            <a:ext cx="5905500" cy="1047750"/>
            <a:chOff x="2857500" y="4286250"/>
            <a:chExt cx="5905500" cy="1047750"/>
          </a:xfrm>
        </p:grpSpPr>
        <p:sp>
          <p:nvSpPr>
            <p:cNvPr id="34" name="Rectangle 34"/>
            <p:cNvSpPr/>
            <p:nvPr/>
          </p:nvSpPr>
          <p:spPr bwMode="auto">
            <a:xfrm>
              <a:off x="2857500" y="4286250"/>
              <a:ext cx="5905500" cy="1047750"/>
            </a:xfrm>
            <a:prstGeom prst="roundRect">
              <a:avLst>
                <a:gd name="adj" fmla="val 9091"/>
              </a:avLst>
            </a:prstGeom>
            <a:solidFill>
              <a:srgbClr val="FFF3E0"/>
            </a:solidFill>
            <a:ln w="9525">
              <a:solidFill>
                <a:srgbClr val="FFCC80"/>
              </a:solidFill>
            </a:ln>
          </p:spPr>
        </p:sp>
        <p:sp>
          <p:nvSpPr>
            <p:cNvPr id="35" name="Rectangle 35"/>
            <p:cNvSpPr/>
            <p:nvPr/>
          </p:nvSpPr>
          <p:spPr bwMode="auto">
            <a:xfrm>
              <a:off x="2857500" y="4286250"/>
              <a:ext cx="38100" cy="10477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3078480" y="4426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350" b="1">
                  <a:solidFill>
                    <a:srgbClr val="FF6B35"/>
                  </a:solidFill>
                  <a:latin typeface="Georgia"/>
                  <a:ea typeface="Microsoft YaHei"/>
                  <a:cs typeface="Georgia"/>
                </a:rPr>
                <a:t>协议层</a:t>
              </a:r>
              <a:endParaRPr/>
            </a:p>
          </p:txBody>
        </p:sp>
        <p:sp>
          <p:nvSpPr>
            <p:cNvPr id="37" name="Rectangle 37"/>
            <p:cNvSpPr/>
            <p:nvPr/>
          </p:nvSpPr>
          <p:spPr bwMode="auto">
            <a:xfrm>
              <a:off x="3810000" y="4362450"/>
              <a:ext cx="4000500" cy="809625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F6B35"/>
              </a:solidFill>
            </a:ln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5311950" y="4566285"/>
              <a:ext cx="996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FF6B35"/>
                  </a:solidFill>
                  <a:latin typeface="Consolas"/>
                  <a:ea typeface="Microsoft YaHei"/>
                  <a:cs typeface="Consolas"/>
                </a:rPr>
                <a:t>protocol.c</a:t>
              </a:r>
              <a:endParaRPr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4313361" y="4828699"/>
              <a:ext cx="29937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协议序列化/反序列化 · 字节序转换 · 消息打包</a:t>
              </a:r>
              <a:endParaRPr/>
            </a:p>
          </p:txBody>
        </p:sp>
      </p:grpSp>
      <p:grpSp>
        <p:nvGrpSpPr>
          <p:cNvPr id="548421982" name="Group 46"/>
          <p:cNvGrpSpPr/>
          <p:nvPr/>
        </p:nvGrpSpPr>
        <p:grpSpPr bwMode="auto">
          <a:xfrm>
            <a:off x="4000500" y="5619750"/>
            <a:ext cx="3619500" cy="857250"/>
            <a:chOff x="4000500" y="5619750"/>
            <a:chExt cx="3619500" cy="857250"/>
          </a:xfrm>
        </p:grpSpPr>
        <p:sp>
          <p:nvSpPr>
            <p:cNvPr id="41" name="Rectangle 41"/>
            <p:cNvSpPr/>
            <p:nvPr/>
          </p:nvSpPr>
          <p:spPr bwMode="auto">
            <a:xfrm>
              <a:off x="4000500" y="5619750"/>
              <a:ext cx="3619500" cy="857250"/>
            </a:xfrm>
            <a:prstGeom prst="roundRect">
              <a:avLst>
                <a:gd name="adj" fmla="val 11111"/>
              </a:avLst>
            </a:prstGeom>
            <a:solidFill>
              <a:srgbClr val="F3E5F5"/>
            </a:solidFill>
            <a:ln w="9525">
              <a:solidFill>
                <a:srgbClr val="CE93D8"/>
              </a:solidFill>
            </a:ln>
          </p:spPr>
        </p:sp>
        <p:sp>
          <p:nvSpPr>
            <p:cNvPr id="42" name="Rectangle 42"/>
            <p:cNvSpPr/>
            <p:nvPr/>
          </p:nvSpPr>
          <p:spPr bwMode="auto">
            <a:xfrm>
              <a:off x="4000500" y="5619750"/>
              <a:ext cx="38100" cy="857250"/>
            </a:xfrm>
            <a:prstGeom prst="roundRect">
              <a:avLst>
                <a:gd name="adj" fmla="val 50000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 bwMode="auto">
            <a:xfrm>
              <a:off x="4221480" y="57597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350" b="1">
                  <a:solidFill>
                    <a:srgbClr val="9C27B0"/>
                  </a:solidFill>
                  <a:latin typeface="Georgia"/>
                  <a:ea typeface="Microsoft YaHei"/>
                  <a:cs typeface="Georgia"/>
                </a:rPr>
                <a:t>工具层</a:t>
              </a:r>
              <a:endParaRPr/>
            </a:p>
          </p:txBody>
        </p:sp>
        <p:sp>
          <p:nvSpPr>
            <p:cNvPr id="44" name="TextBox 44"/>
            <p:cNvSpPr txBox="1"/>
            <p:nvPr/>
          </p:nvSpPr>
          <p:spPr bwMode="auto">
            <a:xfrm>
              <a:off x="5506989" y="6069806"/>
              <a:ext cx="606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150" b="1">
                  <a:solidFill>
                    <a:srgbClr val="9C27B0"/>
                  </a:solidFill>
                  <a:latin typeface="Consolas"/>
                  <a:ea typeface="Microsoft YaHei"/>
                  <a:cs typeface="Consolas"/>
                </a:rPr>
                <a:t>utils.c</a:t>
              </a:r>
              <a:endParaRPr/>
            </a:p>
          </p:txBody>
        </p:sp>
        <p:sp>
          <p:nvSpPr>
            <p:cNvPr id="45" name="TextBox 45"/>
            <p:cNvSpPr txBox="1"/>
            <p:nvPr/>
          </p:nvSpPr>
          <p:spPr bwMode="auto">
            <a:xfrm>
              <a:off x="4708517" y="6276499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路径校验 · 日志记录 · 字节序转换</a:t>
              </a:r>
              <a:endParaRPr/>
            </a:p>
          </p:txBody>
        </p:sp>
      </p:grpSp>
      <p:grpSp>
        <p:nvGrpSpPr>
          <p:cNvPr id="237382631" name="Group 53"/>
          <p:cNvGrpSpPr/>
          <p:nvPr/>
        </p:nvGrpSpPr>
        <p:grpSpPr bwMode="auto">
          <a:xfrm>
            <a:off x="5762625" y="2571750"/>
            <a:ext cx="381000" cy="3048000"/>
            <a:chOff x="5762625" y="2571750"/>
            <a:chExt cx="381000" cy="3048000"/>
          </a:xfrm>
        </p:grpSpPr>
        <p:sp>
          <p:nvSpPr>
            <p:cNvPr id="47" name="Line 47"/>
            <p:cNvSpPr/>
            <p:nvPr/>
          </p:nvSpPr>
          <p:spPr bwMode="auto">
            <a:xfrm>
              <a:off x="60960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 fill="norm" stroke="1" extrusionOk="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BDBDBD"/>
              </a:solidFill>
            </a:ln>
          </p:spPr>
        </p:sp>
        <p:sp>
          <p:nvSpPr>
            <p:cNvPr id="48" name="Polygon 48"/>
            <p:cNvSpPr/>
            <p:nvPr/>
          </p:nvSpPr>
          <p:spPr bwMode="auto">
            <a:xfrm>
              <a:off x="6048375" y="2762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fill="norm" stroke="1" extrusionOk="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DBDBD"/>
            </a:solidFill>
            <a:ln w="14288">
              <a:solidFill>
                <a:srgbClr val="BDBDBD"/>
              </a:solidFill>
            </a:ln>
          </p:spPr>
        </p:sp>
        <p:sp>
          <p:nvSpPr>
            <p:cNvPr id="49" name="Line 49"/>
            <p:cNvSpPr/>
            <p:nvPr/>
          </p:nvSpPr>
          <p:spPr bwMode="auto">
            <a:xfrm>
              <a:off x="5810250" y="4000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 fill="norm" stroke="1" extrusionOk="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BDBDBD"/>
              </a:solidFill>
            </a:ln>
          </p:spPr>
        </p:sp>
        <p:sp>
          <p:nvSpPr>
            <p:cNvPr id="50" name="Polygon 50"/>
            <p:cNvSpPr/>
            <p:nvPr/>
          </p:nvSpPr>
          <p:spPr bwMode="auto">
            <a:xfrm>
              <a:off x="5762625" y="4191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fill="norm" stroke="1" extrusionOk="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DBDBD"/>
            </a:solidFill>
            <a:ln w="14288">
              <a:solidFill>
                <a:srgbClr val="BDBDBD"/>
              </a:solidFill>
            </a:ln>
          </p:spPr>
        </p:sp>
        <p:sp>
          <p:nvSpPr>
            <p:cNvPr id="51" name="Line 51"/>
            <p:cNvSpPr/>
            <p:nvPr/>
          </p:nvSpPr>
          <p:spPr bwMode="auto">
            <a:xfrm>
              <a:off x="5810250" y="5334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 fill="norm" stroke="1" extrusionOk="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BDBDBD"/>
              </a:solidFill>
            </a:ln>
          </p:spPr>
        </p:sp>
        <p:sp>
          <p:nvSpPr>
            <p:cNvPr id="52" name="Polygon 52"/>
            <p:cNvSpPr/>
            <p:nvPr/>
          </p:nvSpPr>
          <p:spPr bwMode="auto">
            <a:xfrm>
              <a:off x="5762625" y="552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fill="norm" stroke="1" extrusionOk="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DBDBD"/>
            </a:solidFill>
            <a:ln w="14288">
              <a:solidFill>
                <a:srgbClr val="BDBDBD"/>
              </a:solidFill>
            </a:ln>
          </p:spPr>
        </p:sp>
      </p:grpSp>
      <p:grpSp>
        <p:nvGrpSpPr>
          <p:cNvPr id="1110904309" name="Group 64"/>
          <p:cNvGrpSpPr/>
          <p:nvPr/>
        </p:nvGrpSpPr>
        <p:grpSpPr bwMode="auto">
          <a:xfrm>
            <a:off x="6667500" y="1333500"/>
            <a:ext cx="4381500" cy="1238250"/>
            <a:chOff x="6667500" y="1333500"/>
            <a:chExt cx="4381500" cy="1238250"/>
          </a:xfrm>
        </p:grpSpPr>
        <p:sp>
          <p:nvSpPr>
            <p:cNvPr id="54" name="Rectangle 54"/>
            <p:cNvSpPr/>
            <p:nvPr/>
          </p:nvSpPr>
          <p:spPr bwMode="auto">
            <a:xfrm>
              <a:off x="6667500" y="1333500"/>
              <a:ext cx="4381500" cy="1238250"/>
            </a:xfrm>
            <a:prstGeom prst="roundRect">
              <a:avLst>
                <a:gd name="adj" fmla="val 6154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55" name="TextBox 55"/>
            <p:cNvSpPr txBox="1"/>
            <p:nvPr/>
          </p:nvSpPr>
          <p:spPr bwMode="auto">
            <a:xfrm>
              <a:off x="6843712" y="1497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 b="1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职责划分</a:t>
              </a:r>
              <a:endParaRPr/>
            </a:p>
          </p:txBody>
        </p:sp>
        <p:sp>
          <p:nvSpPr>
            <p:cNvPr id="56" name="Rectangle 56"/>
            <p:cNvSpPr/>
            <p:nvPr/>
          </p:nvSpPr>
          <p:spPr bwMode="auto">
            <a:xfrm>
              <a:off x="6858000" y="1762125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7" name="TextBox 57"/>
            <p:cNvSpPr txBox="1"/>
            <p:nvPr/>
          </p:nvSpPr>
          <p:spPr bwMode="auto">
            <a:xfrm>
              <a:off x="7083742" y="17806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应用层：命令处理与用户交互</a:t>
              </a:r>
              <a:endParaRPr/>
            </a:p>
          </p:txBody>
        </p:sp>
        <p:sp>
          <p:nvSpPr>
            <p:cNvPr id="58" name="Rectangle 58"/>
            <p:cNvSpPr/>
            <p:nvPr/>
          </p:nvSpPr>
          <p:spPr bwMode="auto">
            <a:xfrm>
              <a:off x="6858000" y="20002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E8F5E9"/>
            </a:solidFill>
            <a:ln w="9525">
              <a:solidFill>
                <a:srgbClr val="4CAF50"/>
              </a:solidFill>
            </a:ln>
          </p:spPr>
        </p:sp>
        <p:sp>
          <p:nvSpPr>
            <p:cNvPr id="59" name="TextBox 59"/>
            <p:cNvSpPr txBox="1"/>
            <p:nvPr/>
          </p:nvSpPr>
          <p:spPr bwMode="auto">
            <a:xfrm>
              <a:off x="7083742" y="20188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传输层：文件传输与进度管理</a:t>
              </a:r>
              <a:endParaRPr/>
            </a:p>
          </p:txBody>
        </p:sp>
        <p:sp>
          <p:nvSpPr>
            <p:cNvPr id="60" name="Rectangle 60"/>
            <p:cNvSpPr/>
            <p:nvPr/>
          </p:nvSpPr>
          <p:spPr bwMode="auto">
            <a:xfrm>
              <a:off x="6858000" y="2238375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FFF3E0"/>
            </a:solidFill>
            <a:ln w="9525">
              <a:solidFill>
                <a:srgbClr val="FF6B35"/>
              </a:solidFill>
            </a:ln>
          </p:spPr>
        </p:sp>
        <p:sp>
          <p:nvSpPr>
            <p:cNvPr id="61" name="TextBox 61"/>
            <p:cNvSpPr txBox="1"/>
            <p:nvPr/>
          </p:nvSpPr>
          <p:spPr bwMode="auto">
            <a:xfrm>
              <a:off x="7083742" y="22569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协议层：数据格式化与校验</a:t>
              </a:r>
              <a:endParaRPr/>
            </a:p>
          </p:txBody>
        </p:sp>
        <p:sp>
          <p:nvSpPr>
            <p:cNvPr id="62" name="Rectangle 62"/>
            <p:cNvSpPr/>
            <p:nvPr/>
          </p:nvSpPr>
          <p:spPr bwMode="auto">
            <a:xfrm>
              <a:off x="8953500" y="1762125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F3E5F5"/>
            </a:solidFill>
            <a:ln w="9525">
              <a:solidFill>
                <a:srgbClr val="9C27B0"/>
              </a:solidFill>
            </a:ln>
          </p:spPr>
        </p:sp>
        <p:sp>
          <p:nvSpPr>
            <p:cNvPr id="63" name="TextBox 63"/>
            <p:cNvSpPr txBox="1"/>
            <p:nvPr/>
          </p:nvSpPr>
          <p:spPr bwMode="auto">
            <a:xfrm>
              <a:off x="9179242" y="17806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工具层：通用辅助功能</a:t>
              </a:r>
              <a:endParaRPr/>
            </a:p>
          </p:txBody>
        </p:sp>
      </p:grpSp>
      <p:sp>
        <p:nvSpPr>
          <p:cNvPr id="1376555324" name="TextBox 65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6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76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1076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7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707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0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7960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61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12561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20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125420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78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7178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42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54842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373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90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400"/>
                                        <p:tgtEl>
                                          <p:spTgt spid="111090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762568" grpId="0"/>
      <p:bldP spid="47070292" grpId="0"/>
      <p:bldP spid="279607755" grpId="0"/>
      <p:bldP spid="1125619154" grpId="0"/>
      <p:bldP spid="1254208443" grpId="0"/>
      <p:bldP spid="1871789997" grpId="0"/>
      <p:bldP spid="548421982" grpId="0"/>
      <p:bldP spid="237382631" grpId="0"/>
      <p:bldP spid="11109043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827029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48978303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623027811" name="Group 6"/>
          <p:cNvGrpSpPr/>
          <p:nvPr/>
        </p:nvGrpSpPr>
        <p:grpSpPr bwMode="auto">
          <a:xfrm>
            <a:off x="571500" y="523875"/>
            <a:ext cx="3077432" cy="438149"/>
            <a:chOff x="571500" y="523875"/>
            <a:chExt cx="3077432" cy="438149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97230" y="535305"/>
              <a:ext cx="29517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多线程并发处理模型</a:t>
              </a:r>
              <a:endParaRPr/>
            </a:p>
          </p:txBody>
        </p:sp>
      </p:grpSp>
      <p:grpSp>
        <p:nvGrpSpPr>
          <p:cNvPr id="284126444" name="Group 31"/>
          <p:cNvGrpSpPr/>
          <p:nvPr/>
        </p:nvGrpSpPr>
        <p:grpSpPr bwMode="auto">
          <a:xfrm>
            <a:off x="571500" y="1238250"/>
            <a:ext cx="3208782" cy="3576638"/>
            <a:chOff x="571500" y="1238250"/>
            <a:chExt cx="3208782" cy="3576638"/>
          </a:xfrm>
        </p:grpSpPr>
        <p:grpSp>
          <p:nvGrpSpPr>
            <p:cNvPr id="12" name="Group 12"/>
            <p:cNvGrpSpPr/>
            <p:nvPr/>
          </p:nvGrpSpPr>
          <p:grpSpPr bwMode="auto">
            <a:xfrm>
              <a:off x="571500" y="1238250"/>
              <a:ext cx="2932748" cy="719138"/>
              <a:chOff x="571500" y="1238250"/>
              <a:chExt cx="2932748" cy="719138"/>
            </a:xfrm>
          </p:grpSpPr>
          <p:sp>
            <p:nvSpPr>
              <p:cNvPr id="7" name="Ellipse 7"/>
              <p:cNvSpPr/>
              <p:nvPr/>
            </p:nvSpPr>
            <p:spPr bwMode="auto">
              <a:xfrm>
                <a:off x="571500" y="1238250"/>
                <a:ext cx="476250" cy="476250"/>
              </a:xfrm>
              <a:prstGeom prst="ellipse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 bwMode="auto">
              <a:xfrm>
                <a:off x="756071" y="1381125"/>
                <a:ext cx="10710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500" b="1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1</a:t>
                </a:r>
                <a:endParaRPr/>
              </a:p>
            </p:txBody>
          </p:sp>
          <p:sp>
            <p:nvSpPr>
              <p:cNvPr id="9" name="TextBox 9"/>
              <p:cNvSpPr txBox="1"/>
              <p:nvPr/>
            </p:nvSpPr>
            <p:spPr bwMode="auto">
              <a:xfrm>
                <a:off x="1173480" y="1283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35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每连接一线程</a:t>
                </a:r>
                <a:endParaRPr/>
              </a:p>
            </p:txBody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1177290" y="1553528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每个新连接创建独立的工作线程，</a:t>
                </a:r>
                <a:endParaRPr/>
              </a:p>
            </p:txBody>
          </p:sp>
          <p:sp>
            <p:nvSpPr>
              <p:cNvPr id="11" name="TextBox 11"/>
              <p:cNvSpPr txBox="1"/>
              <p:nvPr/>
            </p:nvSpPr>
            <p:spPr bwMode="auto">
              <a:xfrm>
                <a:off x="1177290" y="1744028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实现简单，适合连接数不高的场景</a:t>
                </a: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 bwMode="auto">
            <a:xfrm>
              <a:off x="571500" y="2190750"/>
              <a:ext cx="3208782" cy="719138"/>
              <a:chOff x="571500" y="2190750"/>
              <a:chExt cx="3208782" cy="719138"/>
            </a:xfrm>
          </p:grpSpPr>
          <p:sp>
            <p:nvSpPr>
              <p:cNvPr id="13" name="Ellipse 13"/>
              <p:cNvSpPr/>
              <p:nvPr/>
            </p:nvSpPr>
            <p:spPr bwMode="auto">
              <a:xfrm>
                <a:off x="571500" y="2190750"/>
                <a:ext cx="476250" cy="476250"/>
              </a:xfrm>
              <a:prstGeom prst="ellipse">
                <a:avLst/>
              </a:prstGeom>
              <a:solidFill>
                <a:srgbClr val="4FC3F7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 bwMode="auto">
              <a:xfrm>
                <a:off x="727317" y="2333625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500" b="1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2</a:t>
                </a:r>
                <a:endParaRPr/>
              </a:p>
            </p:txBody>
          </p:sp>
          <p:sp>
            <p:nvSpPr>
              <p:cNvPr id="15" name="TextBox 15"/>
              <p:cNvSpPr txBox="1"/>
              <p:nvPr/>
            </p:nvSpPr>
            <p:spPr bwMode="auto">
              <a:xfrm>
                <a:off x="1173480" y="223551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35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线程分离与回收</a:t>
                </a:r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1177290" y="2506028"/>
                <a:ext cx="26029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pthread_detach()设置为分离状态，</a:t>
                </a:r>
                <a:endParaRPr/>
              </a:p>
            </p:txBody>
          </p:sp>
          <p:sp>
            <p:nvSpPr>
              <p:cNvPr id="17" name="TextBox 17"/>
              <p:cNvSpPr txBox="1"/>
              <p:nvPr/>
            </p:nvSpPr>
            <p:spPr bwMode="auto">
              <a:xfrm>
                <a:off x="1177290" y="2696528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结束后自动释放系统资源</a:t>
                </a: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 bwMode="auto">
            <a:xfrm>
              <a:off x="571500" y="3143250"/>
              <a:ext cx="2779395" cy="719138"/>
              <a:chOff x="571500" y="3143250"/>
              <a:chExt cx="2779395" cy="719138"/>
            </a:xfrm>
          </p:grpSpPr>
          <p:sp>
            <p:nvSpPr>
              <p:cNvPr id="19" name="Ellipse 19"/>
              <p:cNvSpPr/>
              <p:nvPr/>
            </p:nvSpPr>
            <p:spPr bwMode="auto">
              <a:xfrm>
                <a:off x="571500" y="3143250"/>
                <a:ext cx="476250" cy="476250"/>
              </a:xfrm>
              <a:prstGeom prst="ellipse">
                <a:avLst/>
              </a:prstGeom>
              <a:solidFill>
                <a:srgbClr val="0D47A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 bwMode="auto">
              <a:xfrm>
                <a:off x="727317" y="3286125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500" b="1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3</a:t>
                </a:r>
                <a:endParaRPr/>
              </a:p>
            </p:txBody>
          </p:sp>
          <p:sp>
            <p:nvSpPr>
              <p:cNvPr id="21" name="TextBox 21"/>
              <p:cNvSpPr txBox="1"/>
              <p:nvPr/>
            </p:nvSpPr>
            <p:spPr bwMode="auto">
              <a:xfrm>
                <a:off x="1173480" y="3188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35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请求循环处理</a:t>
                </a:r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1177290" y="3458528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工作线程循环接收和处理请求，</a:t>
                </a:r>
                <a:endParaRPr/>
              </a:p>
            </p:txBody>
          </p:sp>
          <p:sp>
            <p:nvSpPr>
              <p:cNvPr id="23" name="TextBox 23"/>
              <p:cNvSpPr txBox="1"/>
              <p:nvPr/>
            </p:nvSpPr>
            <p:spPr bwMode="auto">
              <a:xfrm>
                <a:off x="1177290" y="3649028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直到客户端断开连接</a:t>
                </a: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 bwMode="auto">
            <a:xfrm>
              <a:off x="571500" y="4095750"/>
              <a:ext cx="3086100" cy="719138"/>
              <a:chOff x="571500" y="4095750"/>
              <a:chExt cx="3086100" cy="719138"/>
            </a:xfrm>
          </p:grpSpPr>
          <p:sp>
            <p:nvSpPr>
              <p:cNvPr id="25" name="Ellipse 25"/>
              <p:cNvSpPr/>
              <p:nvPr/>
            </p:nvSpPr>
            <p:spPr bwMode="auto">
              <a:xfrm>
                <a:off x="571500" y="4095750"/>
                <a:ext cx="476250" cy="476250"/>
              </a:xfrm>
              <a:prstGeom prst="ellipse">
                <a:avLst/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 bwMode="auto">
              <a:xfrm>
                <a:off x="727317" y="4238625"/>
                <a:ext cx="164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500" b="1">
                    <a:solidFill>
                      <a:srgbClr val="FFFFFF"/>
                    </a:solidFill>
                    <a:latin typeface="Georgia"/>
                    <a:ea typeface="Microsoft YaHei"/>
                    <a:cs typeface="Georgia"/>
                  </a:rPr>
                  <a:t>4</a:t>
                </a:r>
                <a:endParaRPr/>
              </a:p>
            </p:txBody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1173480" y="414051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35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并发优势</a:t>
                </a:r>
                <a:endParaRPr/>
              </a:p>
            </p:txBody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1177290" y="4411028"/>
                <a:ext cx="24803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多客户端同时操作，请求互不干扰，</a:t>
                </a:r>
                <a:endParaRPr/>
              </a:p>
            </p:txBody>
          </p:sp>
          <p:sp>
            <p:nvSpPr>
              <p:cNvPr id="29" name="TextBox 29"/>
              <p:cNvSpPr txBox="1"/>
              <p:nvPr/>
            </p:nvSpPr>
            <p:spPr bwMode="auto">
              <a:xfrm>
                <a:off x="1177290" y="4601528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稳定的连接管理</a:t>
                </a:r>
                <a:endParaRPr/>
              </a:p>
            </p:txBody>
          </p:sp>
        </p:grpSp>
      </p:grpSp>
      <p:grpSp>
        <p:nvGrpSpPr>
          <p:cNvPr id="594839067" name="Group 66"/>
          <p:cNvGrpSpPr/>
          <p:nvPr/>
        </p:nvGrpSpPr>
        <p:grpSpPr bwMode="auto">
          <a:xfrm>
            <a:off x="3333750" y="1238250"/>
            <a:ext cx="6191250" cy="3905250"/>
            <a:chOff x="3333750" y="1238250"/>
            <a:chExt cx="6191250" cy="3905250"/>
          </a:xfrm>
        </p:grpSpPr>
        <p:sp>
          <p:nvSpPr>
            <p:cNvPr id="32" name="Rectangle 32"/>
            <p:cNvSpPr/>
            <p:nvPr/>
          </p:nvSpPr>
          <p:spPr bwMode="auto">
            <a:xfrm>
              <a:off x="4667250" y="1238250"/>
              <a:ext cx="1619250" cy="571500"/>
            </a:xfrm>
            <a:prstGeom prst="roundRect">
              <a:avLst>
                <a:gd name="adj" fmla="val 16667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4858960" y="1394460"/>
              <a:ext cx="1235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主线程 (main)</a:t>
              </a:r>
              <a:endParaRPr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4988957" y="1617345"/>
              <a:ext cx="9758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socket + listen</a:t>
              </a:r>
              <a:endParaRPr/>
            </a:p>
          </p:txBody>
        </p:sp>
        <p:sp>
          <p:nvSpPr>
            <p:cNvPr id="35" name="Line 35"/>
            <p:cNvSpPr/>
            <p:nvPr/>
          </p:nvSpPr>
          <p:spPr bwMode="auto">
            <a:xfrm>
              <a:off x="5476875" y="1809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 fill="norm" stroke="1" extrusionOk="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36" name="Polygon 36"/>
            <p:cNvSpPr/>
            <p:nvPr/>
          </p:nvSpPr>
          <p:spPr bwMode="auto">
            <a:xfrm>
              <a:off x="5410200" y="2047875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 fill="norm" stroke="1" extrusionOk="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 bwMode="auto">
            <a:xfrm>
              <a:off x="4810125" y="2143125"/>
              <a:ext cx="1333500" cy="428625"/>
            </a:xfrm>
            <a:prstGeom prst="roundRect">
              <a:avLst>
                <a:gd name="adj" fmla="val 17778"/>
              </a:avLst>
            </a:prstGeom>
            <a:solidFill>
              <a:srgbClr val="E3F2FD"/>
            </a:solidFill>
            <a:ln w="14288">
              <a:solidFill>
                <a:srgbClr val="1A73E8"/>
              </a:solidFill>
            </a:ln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5083040" y="2288381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15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accept()</a:t>
              </a:r>
              <a:endParaRPr/>
            </a:p>
          </p:txBody>
        </p:sp>
        <p:sp>
          <p:nvSpPr>
            <p:cNvPr id="39" name="Line 39"/>
            <p:cNvSpPr/>
            <p:nvPr/>
          </p:nvSpPr>
          <p:spPr bwMode="auto">
            <a:xfrm>
              <a:off x="5476875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 fill="norm" stroke="1" extrusionOk="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40" name="Polygon 40"/>
            <p:cNvSpPr/>
            <p:nvPr/>
          </p:nvSpPr>
          <p:spPr bwMode="auto">
            <a:xfrm>
              <a:off x="5410200" y="2809875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 fill="norm" stroke="1" extrusionOk="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 bwMode="auto">
            <a:xfrm>
              <a:off x="4810125" y="2905125"/>
              <a:ext cx="1333500" cy="381000"/>
            </a:xfrm>
            <a:prstGeom prst="roundRect">
              <a:avLst>
                <a:gd name="adj" fmla="val 20000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5080159" y="30299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客户端连接</a:t>
              </a:r>
              <a:endParaRPr/>
            </a:p>
          </p:txBody>
        </p:sp>
        <p:sp>
          <p:nvSpPr>
            <p:cNvPr id="43" name="Line 43"/>
            <p:cNvSpPr/>
            <p:nvPr/>
          </p:nvSpPr>
          <p:spPr bwMode="auto">
            <a:xfrm>
              <a:off x="5476875" y="32861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 fill="norm" stroke="1" extrusionOk="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44" name="Polygon 44"/>
            <p:cNvSpPr/>
            <p:nvPr/>
          </p:nvSpPr>
          <p:spPr bwMode="auto">
            <a:xfrm>
              <a:off x="5410200" y="35242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 fill="norm" stroke="1" extrusionOk="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 bwMode="auto">
            <a:xfrm>
              <a:off x="4667250" y="3619500"/>
              <a:ext cx="1619250" cy="428625"/>
            </a:xfrm>
            <a:prstGeom prst="roundRect">
              <a:avLst>
                <a:gd name="adj" fmla="val 17778"/>
              </a:avLst>
            </a:prstGeom>
            <a:solidFill>
              <a:srgbClr val="4FC3F7">
                <a:alpha val="20000"/>
              </a:srgbClr>
            </a:solidFill>
            <a:ln w="14288">
              <a:solidFill>
                <a:srgbClr val="4FC3F7"/>
              </a:solidFill>
            </a:ln>
          </p:spPr>
        </p:sp>
        <p:sp>
          <p:nvSpPr>
            <p:cNvPr id="46" name="TextBox 46"/>
            <p:cNvSpPr txBox="1"/>
            <p:nvPr/>
          </p:nvSpPr>
          <p:spPr bwMode="auto">
            <a:xfrm>
              <a:off x="4755051" y="3772852"/>
              <a:ext cx="14436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 b="1">
                  <a:solidFill>
                    <a:srgbClr val="0D47A1"/>
                  </a:solidFill>
                  <a:latin typeface="Consolas"/>
                  <a:ea typeface="Microsoft YaHei"/>
                  <a:cs typeface="Consolas"/>
                </a:rPr>
                <a:t>pthread_create()</a:t>
              </a:r>
              <a:endParaRPr/>
            </a:p>
          </p:txBody>
        </p:sp>
        <p:sp>
          <p:nvSpPr>
            <p:cNvPr id="47" name="Line 47"/>
            <p:cNvSpPr/>
            <p:nvPr/>
          </p:nvSpPr>
          <p:spPr bwMode="auto">
            <a:xfrm>
              <a:off x="4095750" y="4048125"/>
              <a:ext cx="952500" cy="428625"/>
            </a:xfrm>
            <a:custGeom>
              <a:avLst/>
              <a:gdLst/>
              <a:ahLst/>
              <a:cxnLst/>
              <a:rect l="l" t="t" r="r" b="b"/>
              <a:pathLst>
                <a:path w="952500" h="428625" fill="norm" stroke="1" extrusionOk="0">
                  <a:moveTo>
                    <a:pt x="95250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48" name="Line 48"/>
            <p:cNvSpPr/>
            <p:nvPr/>
          </p:nvSpPr>
          <p:spPr bwMode="auto">
            <a:xfrm>
              <a:off x="5476875" y="404812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 fill="norm" stroke="1" extrusionOk="0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49" name="Line 49"/>
            <p:cNvSpPr/>
            <p:nvPr/>
          </p:nvSpPr>
          <p:spPr bwMode="auto">
            <a:xfrm>
              <a:off x="5905500" y="4048125"/>
              <a:ext cx="952500" cy="428625"/>
            </a:xfrm>
            <a:custGeom>
              <a:avLst/>
              <a:gdLst/>
              <a:ahLst/>
              <a:cxnLst/>
              <a:rect l="l" t="t" r="r" b="b"/>
              <a:pathLst>
                <a:path w="952500" h="428625" fill="norm" stroke="1" extrusionOk="0">
                  <a:moveTo>
                    <a:pt x="0" y="0"/>
                  </a:moveTo>
                  <a:lnTo>
                    <a:pt x="952500" y="42862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50" name="Rectangle 50"/>
            <p:cNvSpPr/>
            <p:nvPr/>
          </p:nvSpPr>
          <p:spPr bwMode="auto">
            <a:xfrm>
              <a:off x="3333750" y="4476750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1" name="TextBox 51"/>
            <p:cNvSpPr txBox="1"/>
            <p:nvPr/>
          </p:nvSpPr>
          <p:spPr bwMode="auto">
            <a:xfrm>
              <a:off x="3712069" y="4649152"/>
              <a:ext cx="7673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工作线程 1</a:t>
              </a:r>
              <a:endParaRPr/>
            </a:p>
          </p:txBody>
        </p:sp>
        <p:sp>
          <p:nvSpPr>
            <p:cNvPr id="52" name="TextBox 52"/>
            <p:cNvSpPr txBox="1"/>
            <p:nvPr/>
          </p:nvSpPr>
          <p:spPr bwMode="auto">
            <a:xfrm>
              <a:off x="3735991" y="4903470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处理客户端1</a:t>
              </a:r>
              <a:endParaRPr/>
            </a:p>
          </p:txBody>
        </p:sp>
        <p:sp>
          <p:nvSpPr>
            <p:cNvPr id="53" name="Rectangle 53"/>
            <p:cNvSpPr/>
            <p:nvPr/>
          </p:nvSpPr>
          <p:spPr bwMode="auto">
            <a:xfrm>
              <a:off x="4714875" y="4476750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4" name="TextBox 54"/>
            <p:cNvSpPr txBox="1"/>
            <p:nvPr/>
          </p:nvSpPr>
          <p:spPr bwMode="auto">
            <a:xfrm>
              <a:off x="5073066" y="46491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工作线程 2</a:t>
              </a:r>
              <a:endParaRPr/>
            </a:p>
          </p:txBody>
        </p:sp>
        <p:sp>
          <p:nvSpPr>
            <p:cNvPr id="55" name="TextBox 55"/>
            <p:cNvSpPr txBox="1"/>
            <p:nvPr/>
          </p:nvSpPr>
          <p:spPr bwMode="auto">
            <a:xfrm>
              <a:off x="5100685" y="4903470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处理客户端2</a:t>
              </a:r>
              <a:endParaRPr/>
            </a:p>
          </p:txBody>
        </p:sp>
        <p:sp>
          <p:nvSpPr>
            <p:cNvPr id="56" name="Rectangle 56"/>
            <p:cNvSpPr/>
            <p:nvPr/>
          </p:nvSpPr>
          <p:spPr bwMode="auto">
            <a:xfrm>
              <a:off x="6096000" y="4476750"/>
              <a:ext cx="1524000" cy="666750"/>
            </a:xfrm>
            <a:prstGeom prst="roundRect">
              <a:avLst>
                <a:gd name="adj" fmla="val 14286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57" name="TextBox 57"/>
            <p:cNvSpPr txBox="1"/>
            <p:nvPr/>
          </p:nvSpPr>
          <p:spPr bwMode="auto">
            <a:xfrm>
              <a:off x="6454191" y="4649152"/>
              <a:ext cx="8076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工作线程 N</a:t>
              </a:r>
              <a:endParaRPr/>
            </a:p>
          </p:txBody>
        </p:sp>
        <p:sp>
          <p:nvSpPr>
            <p:cNvPr id="58" name="TextBox 58"/>
            <p:cNvSpPr txBox="1"/>
            <p:nvPr/>
          </p:nvSpPr>
          <p:spPr bwMode="auto">
            <a:xfrm>
              <a:off x="6481810" y="4903470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处理客户端N</a:t>
              </a:r>
              <a:endParaRPr/>
            </a:p>
          </p:txBody>
        </p:sp>
        <p:sp>
          <p:nvSpPr>
            <p:cNvPr id="59" name="Rectangle 59"/>
            <p:cNvSpPr/>
            <p:nvPr/>
          </p:nvSpPr>
          <p:spPr bwMode="auto">
            <a:xfrm>
              <a:off x="8001000" y="4572000"/>
              <a:ext cx="1524000" cy="333375"/>
            </a:xfrm>
            <a:prstGeom prst="roundRect">
              <a:avLst>
                <a:gd name="adj" fmla="val 22857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60" name="TextBox 60"/>
            <p:cNvSpPr txBox="1"/>
            <p:nvPr/>
          </p:nvSpPr>
          <p:spPr bwMode="auto">
            <a:xfrm>
              <a:off x="8173212" y="469392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333333"/>
                  </a:solidFill>
                  <a:latin typeface="Consolas"/>
                  <a:ea typeface="Microsoft YaHei"/>
                  <a:cs typeface="Consolas"/>
                </a:rPr>
                <a:t>pthread_detach()</a:t>
              </a:r>
              <a:endParaRPr/>
            </a:p>
          </p:txBody>
        </p:sp>
        <p:sp>
          <p:nvSpPr>
            <p:cNvPr id="61" name="TextBox 61"/>
            <p:cNvSpPr txBox="1"/>
            <p:nvPr/>
          </p:nvSpPr>
          <p:spPr bwMode="auto">
            <a:xfrm>
              <a:off x="8210312" y="49591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分离状态，自动回收</a:t>
              </a:r>
              <a:endParaRPr/>
            </a:p>
          </p:txBody>
        </p:sp>
        <p:sp>
          <p:nvSpPr>
            <p:cNvPr id="62" name="Line 62"/>
            <p:cNvSpPr/>
            <p:nvPr/>
          </p:nvSpPr>
          <p:spPr bwMode="auto">
            <a:xfrm>
              <a:off x="6286500" y="1524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 fill="norm" stroke="1" extrusionOk="0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1A73E8"/>
              </a:solidFill>
            </a:ln>
          </p:spPr>
        </p:sp>
        <p:sp>
          <p:nvSpPr>
            <p:cNvPr id="63" name="Line 63"/>
            <p:cNvSpPr/>
            <p:nvPr/>
          </p:nvSpPr>
          <p:spPr bwMode="auto">
            <a:xfrm>
              <a:off x="7429500" y="15240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 fill="norm" stroke="1" extrusionOk="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1A73E8"/>
              </a:solidFill>
            </a:ln>
          </p:spPr>
        </p:sp>
        <p:sp>
          <p:nvSpPr>
            <p:cNvPr id="64" name="Line 64"/>
            <p:cNvSpPr/>
            <p:nvPr/>
          </p:nvSpPr>
          <p:spPr bwMode="auto">
            <a:xfrm>
              <a:off x="6286500" y="3143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 fill="norm" stroke="1" extrusionOk="0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1A73E8"/>
              </a:solidFill>
            </a:ln>
          </p:spPr>
        </p:sp>
        <p:sp>
          <p:nvSpPr>
            <p:cNvPr id="65" name="TextBox 65"/>
            <p:cNvSpPr txBox="1"/>
            <p:nvPr/>
          </p:nvSpPr>
          <p:spPr bwMode="auto">
            <a:xfrm rot="5400000">
              <a:off x="7183279" y="2538412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85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继续监听</a:t>
              </a:r>
              <a:endParaRPr/>
            </a:p>
          </p:txBody>
        </p:sp>
      </p:grpSp>
      <p:sp>
        <p:nvSpPr>
          <p:cNvPr id="1593340805" name="Rectangle 67"/>
          <p:cNvSpPr/>
          <p:nvPr/>
        </p:nvSpPr>
        <p:spPr bwMode="auto"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737282106" name="TextBox 68"/>
          <p:cNvSpPr txBox="1"/>
          <p:nvPr/>
        </p:nvSpPr>
        <p:spPr bwMode="auto">
          <a:xfrm>
            <a:off x="5712714" y="5728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200" b="1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模型特点</a:t>
            </a:r>
            <a:endParaRPr/>
          </a:p>
        </p:txBody>
      </p:sp>
      <p:sp>
        <p:nvSpPr>
          <p:cNvPr id="1282525055" name="TextBox 69"/>
          <p:cNvSpPr txBox="1"/>
          <p:nvPr/>
        </p:nvSpPr>
        <p:spPr bwMode="auto">
          <a:xfrm>
            <a:off x="1431607" y="60302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主线程不阻塞</a:t>
            </a:r>
            <a:endParaRPr/>
          </a:p>
        </p:txBody>
      </p:sp>
      <p:sp>
        <p:nvSpPr>
          <p:cNvPr id="1892045581" name="Ellipse 70"/>
          <p:cNvSpPr/>
          <p:nvPr/>
        </p:nvSpPr>
        <p:spPr bwMode="auto">
          <a:xfrm>
            <a:off x="3209925" y="6067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30943783" name="TextBox 71"/>
          <p:cNvSpPr txBox="1"/>
          <p:nvPr/>
        </p:nvSpPr>
        <p:spPr bwMode="auto">
          <a:xfrm>
            <a:off x="3259931" y="60302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线程间互不干扰</a:t>
            </a:r>
            <a:endParaRPr/>
          </a:p>
        </p:txBody>
      </p:sp>
      <p:sp>
        <p:nvSpPr>
          <p:cNvPr id="526115563" name="Ellipse 72"/>
          <p:cNvSpPr/>
          <p:nvPr/>
        </p:nvSpPr>
        <p:spPr bwMode="auto">
          <a:xfrm>
            <a:off x="5114925" y="6067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411070627" name="TextBox 73"/>
          <p:cNvSpPr txBox="1"/>
          <p:nvPr/>
        </p:nvSpPr>
        <p:spPr bwMode="auto">
          <a:xfrm>
            <a:off x="5432108" y="60302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资源自动回收</a:t>
            </a:r>
            <a:endParaRPr/>
          </a:p>
        </p:txBody>
      </p:sp>
      <p:sp>
        <p:nvSpPr>
          <p:cNvPr id="2070954435" name="Ellipse 74"/>
          <p:cNvSpPr/>
          <p:nvPr/>
        </p:nvSpPr>
        <p:spPr bwMode="auto">
          <a:xfrm>
            <a:off x="7019925" y="6067425"/>
            <a:ext cx="57150" cy="571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743393757" name="TextBox 75"/>
          <p:cNvSpPr txBox="1"/>
          <p:nvPr/>
        </p:nvSpPr>
        <p:spPr bwMode="auto">
          <a:xfrm>
            <a:off x="7355681" y="60302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适合低并发场景</a:t>
            </a:r>
            <a:endParaRPr/>
          </a:p>
        </p:txBody>
      </p:sp>
      <p:sp>
        <p:nvSpPr>
          <p:cNvPr id="506186182" name="TextBox 76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7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02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2302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12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8412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3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59483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3027811" grpId="0"/>
      <p:bldP spid="284126444" grpId="0"/>
      <p:bldP spid="5948390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495867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68098324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070772472" name="Group 6"/>
          <p:cNvGrpSpPr/>
          <p:nvPr/>
        </p:nvGrpSpPr>
        <p:grpSpPr bwMode="auto">
          <a:xfrm>
            <a:off x="571500" y="523875"/>
            <a:ext cx="2111311" cy="438149"/>
            <a:chOff x="571500" y="523875"/>
            <a:chExt cx="2111311" cy="438149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97230" y="53530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文件传输流程</a:t>
              </a:r>
              <a:endParaRPr/>
            </a:p>
          </p:txBody>
        </p:sp>
      </p:grpSp>
      <p:grpSp>
        <p:nvGrpSpPr>
          <p:cNvPr id="1784025828" name="Group 53"/>
          <p:cNvGrpSpPr/>
          <p:nvPr/>
        </p:nvGrpSpPr>
        <p:grpSpPr bwMode="auto">
          <a:xfrm>
            <a:off x="571500" y="1143000"/>
            <a:ext cx="11049000" cy="2857500"/>
            <a:chOff x="571500" y="1143000"/>
            <a:chExt cx="11049000" cy="2857500"/>
          </a:xfrm>
        </p:grpSpPr>
        <p:sp>
          <p:nvSpPr>
            <p:cNvPr id="7" name="Rectangle 7"/>
            <p:cNvSpPr/>
            <p:nvPr/>
          </p:nvSpPr>
          <p:spPr bwMode="auto">
            <a:xfrm>
              <a:off x="571500" y="1143000"/>
              <a:ext cx="1428750" cy="571500"/>
            </a:xfrm>
            <a:prstGeom prst="roundRect">
              <a:avLst>
                <a:gd name="adj" fmla="val 16667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994600" y="1299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</a:t>
              </a:r>
              <a:endParaRPr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1090422" y="1522095"/>
              <a:ext cx="390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BBDEFB"/>
                  </a:solidFill>
                  <a:latin typeface="Arial"/>
                  <a:ea typeface="Microsoft YaHei"/>
                  <a:cs typeface="Arial"/>
                </a:rPr>
                <a:t>Client</a:t>
              </a:r>
              <a:endParaRPr/>
            </a:p>
          </p:txBody>
        </p:sp>
        <p:sp>
          <p:nvSpPr>
            <p:cNvPr id="10" name="Line 10"/>
            <p:cNvSpPr/>
            <p:nvPr/>
          </p:nvSpPr>
          <p:spPr bwMode="auto">
            <a:xfrm>
              <a:off x="2000250" y="14287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 fill="norm" stroke="1" extrusionOk="0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1A73E8"/>
              </a:solidFill>
            </a:ln>
          </p:spPr>
        </p:sp>
        <p:sp>
          <p:nvSpPr>
            <p:cNvPr id="11" name="Polygon 11"/>
            <p:cNvSpPr/>
            <p:nvPr/>
          </p:nvSpPr>
          <p:spPr bwMode="auto">
            <a:xfrm>
              <a:off x="2857500" y="1381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fill="norm" stroke="1" extrusionOk="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 bwMode="auto">
            <a:xfrm>
              <a:off x="2095500" y="1238250"/>
              <a:ext cx="762000" cy="190500"/>
            </a:xfrm>
            <a:prstGeom prst="roundRect">
              <a:avLst>
                <a:gd name="adj" fmla="val 20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2110573" y="1292066"/>
              <a:ext cx="7318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UPLOAD_REQ</a:t>
              </a:r>
              <a:endParaRPr/>
            </a:p>
          </p:txBody>
        </p:sp>
        <p:sp>
          <p:nvSpPr>
            <p:cNvPr id="14" name="Rectangle 14"/>
            <p:cNvSpPr/>
            <p:nvPr/>
          </p:nvSpPr>
          <p:spPr bwMode="auto">
            <a:xfrm>
              <a:off x="2952750" y="1143000"/>
              <a:ext cx="1428750" cy="571500"/>
            </a:xfrm>
            <a:prstGeom prst="roundRect">
              <a:avLst>
                <a:gd name="adj" fmla="val 16667"/>
              </a:avLst>
            </a:prstGeom>
            <a:solidFill>
              <a:srgbClr val="0D47A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3375850" y="12992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服务器</a:t>
              </a:r>
              <a:endParaRPr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3438811" y="152209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Server</a:t>
              </a:r>
              <a:endParaRPr/>
            </a:p>
          </p:txBody>
        </p:sp>
        <p:sp>
          <p:nvSpPr>
            <p:cNvPr id="17" name="Line 17"/>
            <p:cNvSpPr/>
            <p:nvPr/>
          </p:nvSpPr>
          <p:spPr bwMode="auto">
            <a:xfrm>
              <a:off x="4381500" y="1428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 fill="norm" stroke="1" extrusionOk="0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0D47A1"/>
              </a:solidFill>
            </a:ln>
          </p:spPr>
        </p:sp>
        <p:sp>
          <p:nvSpPr>
            <p:cNvPr id="18" name="Polygon 18"/>
            <p:cNvSpPr/>
            <p:nvPr/>
          </p:nvSpPr>
          <p:spPr bwMode="auto">
            <a:xfrm>
              <a:off x="4762500" y="1381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fill="norm" stroke="1" extrusionOk="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 bwMode="auto">
            <a:xfrm>
              <a:off x="4857750" y="1238250"/>
              <a:ext cx="952500" cy="381000"/>
            </a:xfrm>
            <a:prstGeom prst="roundRect">
              <a:avLst>
                <a:gd name="adj" fmla="val 15000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5036820" y="1371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路径校验</a:t>
              </a:r>
              <a:endParaRPr/>
            </a:p>
          </p:txBody>
        </p:sp>
        <p:sp>
          <p:nvSpPr>
            <p:cNvPr id="21" name="Line 21"/>
            <p:cNvSpPr/>
            <p:nvPr/>
          </p:nvSpPr>
          <p:spPr bwMode="auto">
            <a:xfrm>
              <a:off x="5810250" y="1428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 fill="norm" stroke="1" extrusionOk="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D47A1"/>
              </a:solidFill>
            </a:ln>
          </p:spPr>
        </p:sp>
        <p:sp>
          <p:nvSpPr>
            <p:cNvPr id="22" name="Polygon 22"/>
            <p:cNvSpPr/>
            <p:nvPr/>
          </p:nvSpPr>
          <p:spPr bwMode="auto">
            <a:xfrm>
              <a:off x="6096000" y="1381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fill="norm" stroke="1" extrusionOk="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 bwMode="auto">
            <a:xfrm>
              <a:off x="6191250" y="1238250"/>
              <a:ext cx="952500" cy="381000"/>
            </a:xfrm>
            <a:prstGeom prst="roundRect">
              <a:avLst>
                <a:gd name="adj" fmla="val 15000"/>
              </a:avLst>
            </a:prstGeom>
            <a:solidFill>
              <a:srgbClr val="E3F2FD"/>
            </a:solidFill>
            <a:ln w="9525">
              <a:solidFill>
                <a:srgbClr val="1A73E8"/>
              </a:solidFill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6370320" y="13711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创建文件</a:t>
              </a:r>
              <a:endParaRPr/>
            </a:p>
          </p:txBody>
        </p:sp>
        <p:sp>
          <p:nvSpPr>
            <p:cNvPr id="25" name="Line 25"/>
            <p:cNvSpPr/>
            <p:nvPr/>
          </p:nvSpPr>
          <p:spPr bwMode="auto">
            <a:xfrm>
              <a:off x="7143750" y="14763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 fill="norm" stroke="1" extrusionOk="0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6" name="Line 26"/>
            <p:cNvSpPr/>
            <p:nvPr/>
          </p:nvSpPr>
          <p:spPr bwMode="auto">
            <a:xfrm>
              <a:off x="7620000" y="14763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 fill="norm" stroke="1" extrusionOk="0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7" name="Line 27"/>
            <p:cNvSpPr/>
            <p:nvPr/>
          </p:nvSpPr>
          <p:spPr bwMode="auto">
            <a:xfrm>
              <a:off x="1285875" y="1809750"/>
              <a:ext cx="6334125" cy="9525"/>
            </a:xfrm>
            <a:custGeom>
              <a:avLst/>
              <a:gdLst/>
              <a:ahLst/>
              <a:cxnLst/>
              <a:rect l="l" t="t" r="r" b="b"/>
              <a:pathLst>
                <a:path w="6334125" h="9525" fill="norm" stroke="1" extrusionOk="0">
                  <a:moveTo>
                    <a:pt x="6334125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8" name="Line 28"/>
            <p:cNvSpPr/>
            <p:nvPr/>
          </p:nvSpPr>
          <p:spPr bwMode="auto">
            <a:xfrm>
              <a:off x="1285875" y="17145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 fill="norm" stroke="1" extrusionOk="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4FC3F7"/>
              </a:solidFill>
            </a:ln>
          </p:spPr>
        </p:sp>
        <p:sp>
          <p:nvSpPr>
            <p:cNvPr id="29" name="Polygon 29"/>
            <p:cNvSpPr/>
            <p:nvPr/>
          </p:nvSpPr>
          <p:spPr bwMode="auto">
            <a:xfrm>
              <a:off x="123825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fill="norm" stroke="1" extrusionOk="0">
                  <a:moveTo>
                    <a:pt x="47625" y="0"/>
                  </a:moveTo>
                  <a:lnTo>
                    <a:pt x="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4FC3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3729407" y="1863566"/>
              <a:ext cx="13041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850">
                  <a:solidFill>
                    <a:srgbClr val="4FC3F7"/>
                  </a:solidFill>
                  <a:latin typeface="Arial"/>
                  <a:ea typeface="Microsoft YaHei"/>
                  <a:cs typeface="Arial"/>
                </a:rPr>
                <a:t>UPLOAD_RESP (状态码)</a:t>
              </a:r>
              <a:endParaRPr/>
            </a:p>
          </p:txBody>
        </p:sp>
        <p:sp>
          <p:nvSpPr>
            <p:cNvPr id="31" name="Rectangle 31"/>
            <p:cNvSpPr/>
            <p:nvPr/>
          </p:nvSpPr>
          <p:spPr bwMode="auto">
            <a:xfrm>
              <a:off x="571500" y="2190750"/>
              <a:ext cx="11049000" cy="1809750"/>
            </a:xfrm>
            <a:prstGeom prst="roundRect">
              <a:avLst>
                <a:gd name="adj" fmla="val 5263"/>
              </a:avLst>
            </a:prstGeom>
            <a:solidFill>
              <a:srgbClr val="F8F9FA"/>
            </a:solidFill>
            <a:ln w="9525">
              <a:solidFill>
                <a:srgbClr val="E0E0E0"/>
              </a:solidFill>
            </a:ln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5457777" y="2330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35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分块数据传输</a:t>
              </a:r>
              <a:endParaRPr/>
            </a:p>
          </p:txBody>
        </p:sp>
        <p:grpSp>
          <p:nvGrpSpPr>
            <p:cNvPr id="50" name="Group 50"/>
            <p:cNvGrpSpPr/>
            <p:nvPr/>
          </p:nvGrpSpPr>
          <p:grpSpPr bwMode="auto">
            <a:xfrm>
              <a:off x="952500" y="2667000"/>
              <a:ext cx="9144000" cy="333375"/>
              <a:chOff x="952500" y="2667000"/>
              <a:chExt cx="9144000" cy="333375"/>
            </a:xfrm>
          </p:grpSpPr>
          <p:sp>
            <p:nvSpPr>
              <p:cNvPr id="33" name="Rectangle 33"/>
              <p:cNvSpPr/>
              <p:nvPr/>
            </p:nvSpPr>
            <p:spPr bwMode="auto">
              <a:xfrm>
                <a:off x="952500" y="2667000"/>
                <a:ext cx="19050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1A73E8">
                  <a:alpha val="15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1679019" y="2780824"/>
                <a:ext cx="4519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0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源文件</a:t>
                </a:r>
                <a:endParaRPr/>
              </a:p>
            </p:txBody>
          </p:sp>
          <p:sp>
            <p:nvSpPr>
              <p:cNvPr id="35" name="Rectangle 35"/>
              <p:cNvSpPr/>
              <p:nvPr/>
            </p:nvSpPr>
            <p:spPr bwMode="auto">
              <a:xfrm>
                <a:off x="323850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1A73E8">
                  <a:alpha val="30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3424357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75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  <a:endParaRPr/>
              </a:p>
            </p:txBody>
          </p:sp>
          <p:sp>
            <p:nvSpPr>
              <p:cNvPr id="37" name="Rectangle 37"/>
              <p:cNvSpPr/>
              <p:nvPr/>
            </p:nvSpPr>
            <p:spPr bwMode="auto">
              <a:xfrm>
                <a:off x="388620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4FC3F7">
                  <a:alpha val="30000"/>
                </a:srgbClr>
              </a:solidFill>
              <a:ln w="9525">
                <a:solidFill>
                  <a:srgbClr val="4FC3F7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 bwMode="auto">
              <a:xfrm>
                <a:off x="4072057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750">
                    <a:solidFill>
                      <a:srgbClr val="0D47A1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  <a:endParaRPr/>
              </a:p>
            </p:txBody>
          </p:sp>
          <p:sp>
            <p:nvSpPr>
              <p:cNvPr id="39" name="Rectangle 39"/>
              <p:cNvSpPr/>
              <p:nvPr/>
            </p:nvSpPr>
            <p:spPr bwMode="auto">
              <a:xfrm>
                <a:off x="453390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1A73E8">
                  <a:alpha val="30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4719757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75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  <a:endParaRPr/>
              </a:p>
            </p:txBody>
          </p:sp>
          <p:sp>
            <p:nvSpPr>
              <p:cNvPr id="41" name="TextBox 41"/>
              <p:cNvSpPr txBox="1"/>
              <p:nvPr/>
            </p:nvSpPr>
            <p:spPr bwMode="auto">
              <a:xfrm>
                <a:off x="5377815" y="2772728"/>
                <a:ext cx="279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...</a:t>
                </a:r>
                <a:endParaRPr/>
              </a:p>
            </p:txBody>
          </p:sp>
          <p:sp>
            <p:nvSpPr>
              <p:cNvPr id="42" name="Rectangle 42"/>
              <p:cNvSpPr/>
              <p:nvPr/>
            </p:nvSpPr>
            <p:spPr bwMode="auto">
              <a:xfrm>
                <a:off x="5619750" y="2667000"/>
                <a:ext cx="571500" cy="333375"/>
              </a:xfrm>
              <a:prstGeom prst="roundRect">
                <a:avLst>
                  <a:gd name="adj" fmla="val 11429"/>
                </a:avLst>
              </a:prstGeom>
              <a:solidFill>
                <a:srgbClr val="1A73E8">
                  <a:alpha val="30000"/>
                </a:srgbClr>
              </a:solidFill>
              <a:ln w="9525">
                <a:solidFill>
                  <a:srgbClr val="1A73E8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5805606" y="2805112"/>
                <a:ext cx="1997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75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  <a:endParaRPr/>
              </a:p>
            </p:txBody>
          </p:sp>
          <p:sp>
            <p:nvSpPr>
              <p:cNvPr id="44" name="Rectangle 44"/>
              <p:cNvSpPr/>
              <p:nvPr/>
            </p:nvSpPr>
            <p:spPr bwMode="auto">
              <a:xfrm>
                <a:off x="6572250" y="2667000"/>
                <a:ext cx="95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CAF50">
                  <a:alpha val="15000"/>
                </a:srgbClr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6800469" y="2788920"/>
                <a:ext cx="496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900">
                    <a:solidFill>
                      <a:srgbClr val="4CAF50"/>
                    </a:solidFill>
                    <a:latin typeface="Consolas"/>
                    <a:ea typeface="Microsoft YaHei"/>
                    <a:cs typeface="Consolas"/>
                  </a:rPr>
                  <a:t>CRC32 ✓</a:t>
                </a:r>
                <a:endParaRPr/>
              </a:p>
            </p:txBody>
          </p:sp>
          <p:sp>
            <p:nvSpPr>
              <p:cNvPr id="46" name="Line 46"/>
              <p:cNvSpPr/>
              <p:nvPr/>
            </p:nvSpPr>
            <p:spPr bwMode="auto">
              <a:xfrm>
                <a:off x="7620000" y="283845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 fill="norm" stroke="1" extrusionOk="0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4288">
                <a:solidFill>
                  <a:srgbClr val="333333"/>
                </a:solidFill>
              </a:ln>
            </p:spPr>
          </p:sp>
          <p:sp>
            <p:nvSpPr>
              <p:cNvPr id="47" name="Polygon 47"/>
              <p:cNvSpPr/>
              <p:nvPr/>
            </p:nvSpPr>
            <p:spPr bwMode="auto">
              <a:xfrm>
                <a:off x="8020050" y="2790824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 fill="norm" stroke="1" extrusionOk="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 bwMode="auto">
              <a:xfrm>
                <a:off x="8191500" y="2667000"/>
                <a:ext cx="19050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CAF50">
                  <a:alpha val="15000"/>
                </a:srgbClr>
              </a:solidFill>
              <a:ln w="9525">
                <a:solidFill>
                  <a:srgbClr val="4CAF5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 bwMode="auto">
              <a:xfrm>
                <a:off x="8419624" y="2780824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0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目标文件（完整写入）</a:t>
                </a: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 bwMode="auto">
            <a:xfrm>
              <a:off x="939165" y="3315652"/>
              <a:ext cx="3791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每块独立封装为 DATA 消息，附带偏移量和CRC32校验值</a:t>
              </a:r>
              <a:endParaRPr/>
            </a:p>
          </p:txBody>
        </p:sp>
        <p:sp>
          <p:nvSpPr>
            <p:cNvPr id="52" name="TextBox 52"/>
            <p:cNvSpPr txBox="1"/>
            <p:nvPr/>
          </p:nvSpPr>
          <p:spPr bwMode="auto">
            <a:xfrm>
              <a:off x="939165" y="3601402"/>
              <a:ext cx="42285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接收端逐块校验，校验失败立即终止并返回 CHECKSUM_ERROR</a:t>
              </a:r>
              <a:endParaRPr/>
            </a:p>
          </p:txBody>
        </p:sp>
      </p:grpSp>
      <p:grpSp>
        <p:nvGrpSpPr>
          <p:cNvPr id="1897573922" name="Group 86"/>
          <p:cNvGrpSpPr/>
          <p:nvPr/>
        </p:nvGrpSpPr>
        <p:grpSpPr bwMode="auto">
          <a:xfrm>
            <a:off x="571500" y="4333875"/>
            <a:ext cx="11049000" cy="1905000"/>
            <a:chOff x="571500" y="4333875"/>
            <a:chExt cx="11049000" cy="1905000"/>
          </a:xfrm>
        </p:grpSpPr>
        <p:grpSp>
          <p:nvGrpSpPr>
            <p:cNvPr id="63" name="Group 63"/>
            <p:cNvGrpSpPr/>
            <p:nvPr/>
          </p:nvGrpSpPr>
          <p:grpSpPr bwMode="auto">
            <a:xfrm>
              <a:off x="571500" y="4333875"/>
              <a:ext cx="3524250" cy="1905000"/>
              <a:chOff x="571500" y="4333875"/>
              <a:chExt cx="3524250" cy="1905000"/>
            </a:xfrm>
          </p:grpSpPr>
          <p:sp>
            <p:nvSpPr>
              <p:cNvPr id="54" name="Rectangle 54"/>
              <p:cNvSpPr/>
              <p:nvPr/>
            </p:nvSpPr>
            <p:spPr bwMode="auto">
              <a:xfrm>
                <a:off x="571500" y="4333875"/>
                <a:ext cx="35242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 bwMode="auto">
              <a:xfrm>
                <a:off x="571500" y="4333875"/>
                <a:ext cx="38100" cy="1905000"/>
              </a:xfrm>
              <a:prstGeom prst="roundRect">
                <a:avLst>
                  <a:gd name="adj" fmla="val 50000"/>
                </a:avLst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 bwMode="auto">
              <a:xfrm>
                <a:off x="857250" y="4476750"/>
                <a:ext cx="571500" cy="571500"/>
              </a:xfrm>
              <a:prstGeom prst="ellipse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 bwMode="auto">
              <a:xfrm>
                <a:off x="996823" y="4715828"/>
                <a:ext cx="292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8KB</a:t>
                </a:r>
                <a:endParaRPr/>
              </a:p>
            </p:txBody>
          </p:sp>
          <p:sp>
            <p:nvSpPr>
              <p:cNvPr id="58" name="TextBox 58"/>
              <p:cNvSpPr txBox="1"/>
              <p:nvPr/>
            </p:nvSpPr>
            <p:spPr bwMode="auto">
              <a:xfrm>
                <a:off x="1602105" y="4569142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35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分块传输策略</a:t>
                </a:r>
                <a:endParaRPr/>
              </a:p>
            </p:txBody>
          </p:sp>
          <p:sp>
            <p:nvSpPr>
              <p:cNvPr id="59" name="TextBox 59"/>
              <p:cNvSpPr txBox="1"/>
              <p:nvPr/>
            </p:nvSpPr>
            <p:spPr bwMode="auto">
              <a:xfrm>
                <a:off x="1605915" y="4839652"/>
                <a:ext cx="18132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每块8KB，平衡内存与效率</a:t>
                </a:r>
                <a:endParaRPr/>
              </a:p>
            </p:txBody>
          </p:sp>
          <p:sp>
            <p:nvSpPr>
              <p:cNvPr id="60" name="TextBox 60"/>
              <p:cNvSpPr txBox="1"/>
              <p:nvPr/>
            </p:nvSpPr>
            <p:spPr bwMode="auto">
              <a:xfrm>
                <a:off x="843915" y="5220652"/>
                <a:ext cx="15371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逐块传输，逐块确认</a:t>
                </a:r>
                <a:endParaRPr/>
              </a:p>
            </p:txBody>
          </p:sp>
          <p:sp>
            <p:nvSpPr>
              <p:cNvPr id="61" name="TextBox 61"/>
              <p:cNvSpPr txBox="1"/>
              <p:nvPr/>
            </p:nvSpPr>
            <p:spPr bwMode="auto">
              <a:xfrm>
                <a:off x="843915" y="5458778"/>
                <a:ext cx="17902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支持大文件（最大4GB）</a:t>
                </a:r>
                <a:endParaRPr/>
              </a:p>
            </p:txBody>
          </p:sp>
          <p:sp>
            <p:nvSpPr>
              <p:cNvPr id="62" name="TextBox 62"/>
              <p:cNvSpPr txBox="1"/>
              <p:nvPr/>
            </p:nvSpPr>
            <p:spPr bwMode="auto">
              <a:xfrm>
                <a:off x="843915" y="5696902"/>
                <a:ext cx="10771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内存占用可控</a:t>
                </a: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 bwMode="auto">
            <a:xfrm>
              <a:off x="4333875" y="4333875"/>
              <a:ext cx="3524250" cy="1905000"/>
              <a:chOff x="4333875" y="4333875"/>
              <a:chExt cx="3524250" cy="1905000"/>
            </a:xfrm>
          </p:grpSpPr>
          <p:sp>
            <p:nvSpPr>
              <p:cNvPr id="64" name="Rectangle 64"/>
              <p:cNvSpPr/>
              <p:nvPr/>
            </p:nvSpPr>
            <p:spPr bwMode="auto">
              <a:xfrm>
                <a:off x="4333875" y="4333875"/>
                <a:ext cx="35242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 bwMode="auto">
              <a:xfrm>
                <a:off x="4333875" y="4333875"/>
                <a:ext cx="38100" cy="1905000"/>
              </a:xfrm>
              <a:prstGeom prst="roundRect">
                <a:avLst>
                  <a:gd name="adj" fmla="val 50000"/>
                </a:avLst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 bwMode="auto">
              <a:xfrm>
                <a:off x="4619625" y="4476750"/>
                <a:ext cx="571500" cy="571500"/>
              </a:xfrm>
              <a:prstGeom prst="ellipse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 bwMode="auto">
              <a:xfrm>
                <a:off x="4769640" y="4723924"/>
                <a:ext cx="271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00" b="1">
                    <a:solidFill>
                      <a:srgbClr val="4CAF50"/>
                    </a:solidFill>
                    <a:latin typeface="Consolas"/>
                    <a:ea typeface="Microsoft YaHei"/>
                    <a:cs typeface="Consolas"/>
                  </a:rPr>
                  <a:t>CRC</a:t>
                </a:r>
                <a:endParaRPr/>
              </a:p>
            </p:txBody>
          </p:sp>
          <p:sp>
            <p:nvSpPr>
              <p:cNvPr id="68" name="TextBox 68"/>
              <p:cNvSpPr txBox="1"/>
              <p:nvPr/>
            </p:nvSpPr>
            <p:spPr bwMode="auto">
              <a:xfrm>
                <a:off x="5364480" y="4569142"/>
                <a:ext cx="149382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35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CRC32 校验机制</a:t>
                </a:r>
                <a:endParaRPr/>
              </a:p>
            </p:txBody>
          </p:sp>
          <p:sp>
            <p:nvSpPr>
              <p:cNvPr id="69" name="TextBox 69"/>
              <p:cNvSpPr txBox="1"/>
              <p:nvPr/>
            </p:nvSpPr>
            <p:spPr bwMode="auto">
              <a:xfrm>
                <a:off x="5368290" y="4839652"/>
                <a:ext cx="15601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每个数据块附带校验值</a:t>
                </a:r>
                <a:endParaRPr/>
              </a:p>
            </p:txBody>
          </p:sp>
          <p:sp>
            <p:nvSpPr>
              <p:cNvPr id="70" name="TextBox 70"/>
              <p:cNvSpPr txBox="1"/>
              <p:nvPr/>
            </p:nvSpPr>
            <p:spPr bwMode="auto">
              <a:xfrm>
                <a:off x="4606290" y="5220652"/>
                <a:ext cx="16905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接收端重新计算并比对</a:t>
                </a:r>
                <a:endParaRPr/>
              </a:p>
            </p:txBody>
          </p:sp>
          <p:sp>
            <p:nvSpPr>
              <p:cNvPr id="71" name="TextBox 71"/>
              <p:cNvSpPr txBox="1"/>
              <p:nvPr/>
            </p:nvSpPr>
            <p:spPr bwMode="auto">
              <a:xfrm>
                <a:off x="4606290" y="5458778"/>
                <a:ext cx="16905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校验失败立即终止传输</a:t>
                </a:r>
                <a:endParaRPr/>
              </a:p>
            </p:txBody>
          </p:sp>
          <p:sp>
            <p:nvSpPr>
              <p:cNvPr id="72" name="TextBox 72"/>
              <p:cNvSpPr txBox="1"/>
              <p:nvPr/>
            </p:nvSpPr>
            <p:spPr bwMode="auto">
              <a:xfrm>
                <a:off x="4606290" y="5696902"/>
                <a:ext cx="12304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确保数据完整性</a:t>
                </a:r>
                <a:endParaRPr/>
              </a:p>
            </p:txBody>
          </p:sp>
        </p:grpSp>
        <p:grpSp>
          <p:nvGrpSpPr>
            <p:cNvPr id="85" name="Group 85"/>
            <p:cNvGrpSpPr/>
            <p:nvPr/>
          </p:nvGrpSpPr>
          <p:grpSpPr bwMode="auto">
            <a:xfrm>
              <a:off x="8096250" y="4333875"/>
              <a:ext cx="3524250" cy="1905000"/>
              <a:chOff x="8096250" y="4333875"/>
              <a:chExt cx="3524250" cy="1905000"/>
            </a:xfrm>
          </p:grpSpPr>
          <p:sp>
            <p:nvSpPr>
              <p:cNvPr id="74" name="Rectangle 74"/>
              <p:cNvSpPr/>
              <p:nvPr/>
            </p:nvSpPr>
            <p:spPr bwMode="auto">
              <a:xfrm>
                <a:off x="8096250" y="4333875"/>
                <a:ext cx="35242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75" name="Rectangle 75"/>
              <p:cNvSpPr/>
              <p:nvPr/>
            </p:nvSpPr>
            <p:spPr bwMode="auto">
              <a:xfrm>
                <a:off x="8096250" y="4333875"/>
                <a:ext cx="38100" cy="190500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76" name="Ellipse 76"/>
              <p:cNvSpPr/>
              <p:nvPr/>
            </p:nvSpPr>
            <p:spPr bwMode="auto">
              <a:xfrm>
                <a:off x="8382000" y="4476750"/>
                <a:ext cx="571500" cy="571500"/>
              </a:xfrm>
              <a:prstGeom prst="ellipse">
                <a:avLst/>
              </a:prstGeom>
              <a:solidFill>
                <a:srgbClr val="FDE8E0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 bwMode="auto">
              <a:xfrm>
                <a:off x="8601904" y="469963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200" b="1">
                    <a:solidFill>
                      <a:srgbClr val="FF6B35"/>
                    </a:solidFill>
                    <a:latin typeface="Arial"/>
                    <a:ea typeface="Microsoft YaHei"/>
                    <a:cs typeface="Arial"/>
                  </a:rPr>
                  <a:t>%</a:t>
                </a:r>
                <a:endParaRPr/>
              </a:p>
            </p:txBody>
          </p:sp>
          <p:sp>
            <p:nvSpPr>
              <p:cNvPr id="78" name="TextBox 78"/>
              <p:cNvSpPr txBox="1"/>
              <p:nvPr/>
            </p:nvSpPr>
            <p:spPr bwMode="auto">
              <a:xfrm>
                <a:off x="9126855" y="4569142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350" b="1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实时进度显示</a:t>
                </a:r>
                <a:endParaRPr/>
              </a:p>
            </p:txBody>
          </p:sp>
          <p:sp>
            <p:nvSpPr>
              <p:cNvPr id="79" name="TextBox 79"/>
              <p:cNvSpPr txBox="1"/>
              <p:nvPr/>
            </p:nvSpPr>
            <p:spPr bwMode="auto">
              <a:xfrm>
                <a:off x="9130665" y="4839652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进度条实时更新</a:t>
                </a:r>
                <a:endParaRPr/>
              </a:p>
            </p:txBody>
          </p:sp>
          <p:sp>
            <p:nvSpPr>
              <p:cNvPr id="80" name="TextBox 80"/>
              <p:cNvSpPr txBox="1"/>
              <p:nvPr/>
            </p:nvSpPr>
            <p:spPr bwMode="auto">
              <a:xfrm>
                <a:off x="8368665" y="5220652"/>
                <a:ext cx="14911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显示传输速率 MB/s</a:t>
                </a:r>
                <a:endParaRPr/>
              </a:p>
            </p:txBody>
          </p:sp>
          <p:sp>
            <p:nvSpPr>
              <p:cNvPr id="81" name="TextBox 81"/>
              <p:cNvSpPr txBox="1"/>
              <p:nvPr/>
            </p:nvSpPr>
            <p:spPr bwMode="auto">
              <a:xfrm>
                <a:off x="8368665" y="5458778"/>
                <a:ext cx="12304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- 百分比完成指示</a:t>
                </a:r>
                <a:endParaRPr/>
              </a:p>
            </p:txBody>
          </p:sp>
          <p:sp>
            <p:nvSpPr>
              <p:cNvPr id="82" name="Rectangle 82"/>
              <p:cNvSpPr/>
              <p:nvPr/>
            </p:nvSpPr>
            <p:spPr bwMode="auto">
              <a:xfrm>
                <a:off x="8382000" y="5715000"/>
                <a:ext cx="2952750" cy="95250"/>
              </a:xfrm>
              <a:prstGeom prst="roundRect">
                <a:avLst>
                  <a:gd name="adj" fmla="val 50000"/>
                </a:avLst>
              </a:prstGeom>
              <a:solidFill>
                <a:srgbClr val="E0E0E0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 bwMode="auto">
              <a:xfrm>
                <a:off x="8382000" y="5715000"/>
                <a:ext cx="1771650" cy="9525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 bwMode="auto">
              <a:xfrm>
                <a:off x="8986385" y="5959316"/>
                <a:ext cx="174397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850">
                    <a:solidFill>
                      <a:srgbClr val="666666"/>
                    </a:solidFill>
                    <a:latin typeface="Consolas"/>
                    <a:ea typeface="Microsoft YaHei"/>
                    <a:cs typeface="Consolas"/>
                  </a:rPr>
                  <a:t>[######......] 60% 1.23MB/s</a:t>
                </a:r>
                <a:endParaRPr/>
              </a:p>
            </p:txBody>
          </p:sp>
        </p:grpSp>
      </p:grpSp>
      <p:sp>
        <p:nvSpPr>
          <p:cNvPr id="1798385529" name="TextBox 87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8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77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7077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02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8402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57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89757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772472" grpId="0"/>
      <p:bldP spid="1784025828" grpId="0"/>
      <p:bldP spid="18975739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431385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8210247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856179484" name="Group 6"/>
          <p:cNvGrpSpPr/>
          <p:nvPr/>
        </p:nvGrpSpPr>
        <p:grpSpPr bwMode="auto">
          <a:xfrm>
            <a:off x="571500" y="523875"/>
            <a:ext cx="2111311" cy="438149"/>
            <a:chOff x="571500" y="523875"/>
            <a:chExt cx="2111311" cy="438149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97230" y="53530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安全防护机制</a:t>
              </a:r>
              <a:endParaRPr/>
            </a:p>
          </p:txBody>
        </p:sp>
      </p:grpSp>
      <p:grpSp>
        <p:nvGrpSpPr>
          <p:cNvPr id="243111561" name="Group 22"/>
          <p:cNvGrpSpPr/>
          <p:nvPr/>
        </p:nvGrpSpPr>
        <p:grpSpPr bwMode="auto">
          <a:xfrm>
            <a:off x="571500" y="1095375"/>
            <a:ext cx="3524250" cy="4953000"/>
            <a:chOff x="571500" y="1095375"/>
            <a:chExt cx="3524250" cy="4953000"/>
          </a:xfrm>
        </p:grpSpPr>
        <p:sp>
          <p:nvSpPr>
            <p:cNvPr id="7" name="Rectangle 7"/>
            <p:cNvSpPr/>
            <p:nvPr/>
          </p:nvSpPr>
          <p:spPr bwMode="auto">
            <a:xfrm>
              <a:off x="571500" y="1095375"/>
              <a:ext cx="3524250" cy="4953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 bwMode="auto">
            <a:xfrm>
              <a:off x="571500" y="10953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 bwMode="auto">
            <a:xfrm>
              <a:off x="2047875" y="1285875"/>
              <a:ext cx="571500" cy="571500"/>
            </a:xfrm>
            <a:prstGeom prst="ellipse">
              <a:avLst/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2258649" y="1440180"/>
              <a:ext cx="14995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2100" b="1">
                  <a:solidFill>
                    <a:srgbClr val="EF4444"/>
                  </a:solidFill>
                  <a:latin typeface="Georgia"/>
                  <a:ea typeface="Microsoft YaHei"/>
                  <a:cs typeface="Georgia"/>
                </a:rPr>
                <a:t>1</a:t>
              </a:r>
              <a:endParaRPr/>
            </a:p>
          </p:txBody>
        </p:sp>
        <p:sp>
          <p:nvSpPr>
            <p:cNvPr id="11" name="Polygon 11"/>
            <p:cNvSpPr/>
            <p:nvPr/>
          </p:nvSpPr>
          <p:spPr bwMode="auto">
            <a:xfrm>
              <a:off x="2143125" y="2095500"/>
              <a:ext cx="381000" cy="428625"/>
            </a:xfrm>
            <a:custGeom>
              <a:avLst/>
              <a:gdLst/>
              <a:ahLst/>
              <a:cxnLst/>
              <a:rect l="l" t="t" r="r" b="b"/>
              <a:pathLst>
                <a:path w="381000" h="428625" fill="norm" stroke="1" extrusionOk="0">
                  <a:moveTo>
                    <a:pt x="190500" y="0"/>
                  </a:moveTo>
                  <a:lnTo>
                    <a:pt x="381000" y="114300"/>
                  </a:lnTo>
                  <a:lnTo>
                    <a:pt x="333375" y="333375"/>
                  </a:lnTo>
                  <a:lnTo>
                    <a:pt x="190500" y="428625"/>
                  </a:lnTo>
                  <a:lnTo>
                    <a:pt x="47625" y="333375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9050">
              <a:solidFill>
                <a:srgbClr val="EF4444">
                  <a:alpha val="3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1624489" y="2695575"/>
              <a:ext cx="141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EF4444"/>
                  </a:solidFill>
                  <a:latin typeface="Georgia"/>
                  <a:ea typeface="Microsoft YaHei"/>
                  <a:cs typeface="Georgia"/>
                </a:rPr>
                <a:t>路径遍历防护</a:t>
              </a:r>
              <a:endParaRPr/>
            </a:p>
          </p:txBody>
        </p:sp>
        <p:sp>
          <p:nvSpPr>
            <p:cNvPr id="13" name="Line 13"/>
            <p:cNvSpPr/>
            <p:nvPr/>
          </p:nvSpPr>
          <p:spPr bwMode="auto">
            <a:xfrm>
              <a:off x="1714500" y="29718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 fill="norm" stroke="1" extrusionOk="0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EF4444">
                  <a:alpha val="3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842962" y="31646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禁止使用绝对路径</a:t>
              </a: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940118" y="341899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path[0] != '/'</a:t>
              </a:r>
              <a:endParaRPr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842962" y="37361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禁止上级目录引用</a:t>
              </a:r>
              <a:endParaRPr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940118" y="3990499"/>
              <a:ext cx="19542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strstr(path, "..") == NULL</a:t>
              </a: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842962" y="43076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路径解析验证</a:t>
              </a:r>
              <a:endParaRPr/>
            </a:p>
          </p:txBody>
        </p:sp>
        <p:sp>
          <p:nvSpPr>
            <p:cNvPr id="19" name="TextBox 19"/>
            <p:cNvSpPr txBox="1"/>
            <p:nvPr/>
          </p:nvSpPr>
          <p:spPr bwMode="auto">
            <a:xfrm>
              <a:off x="940118" y="4561999"/>
              <a:ext cx="1413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validate_path()检查</a:t>
              </a:r>
              <a:endParaRPr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842962" y="4879181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防止越权访问根目录外</a:t>
              </a:r>
              <a:endParaRPr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940118" y="51334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所有操作限制在根目录内</a:t>
              </a:r>
              <a:endParaRPr/>
            </a:p>
          </p:txBody>
        </p:sp>
      </p:grpSp>
      <p:grpSp>
        <p:nvGrpSpPr>
          <p:cNvPr id="2095552050" name="Group 38"/>
          <p:cNvGrpSpPr/>
          <p:nvPr/>
        </p:nvGrpSpPr>
        <p:grpSpPr bwMode="auto">
          <a:xfrm>
            <a:off x="4333875" y="1095375"/>
            <a:ext cx="3524250" cy="4953000"/>
            <a:chOff x="4333875" y="1095375"/>
            <a:chExt cx="3524250" cy="4953000"/>
          </a:xfrm>
        </p:grpSpPr>
        <p:sp>
          <p:nvSpPr>
            <p:cNvPr id="23" name="Rectangle 23"/>
            <p:cNvSpPr/>
            <p:nvPr/>
          </p:nvSpPr>
          <p:spPr bwMode="auto">
            <a:xfrm>
              <a:off x="4333875" y="1095375"/>
              <a:ext cx="3524250" cy="4953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4" name="Rectangle 24"/>
            <p:cNvSpPr/>
            <p:nvPr/>
          </p:nvSpPr>
          <p:spPr bwMode="auto">
            <a:xfrm>
              <a:off x="4333875" y="10953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 bwMode="auto">
            <a:xfrm>
              <a:off x="5810250" y="1285875"/>
              <a:ext cx="571500" cy="571500"/>
            </a:xfrm>
            <a:prstGeom prst="ellipse">
              <a:avLst/>
            </a:prstGeom>
            <a:solidFill>
              <a:srgbClr val="1A73E8">
                <a:alpha val="1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5980769" y="1440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2100" b="1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2</a:t>
              </a:r>
              <a:endParaRPr/>
            </a:p>
          </p:txBody>
        </p:sp>
        <p:sp>
          <p:nvSpPr>
            <p:cNvPr id="27" name="Polygon 27"/>
            <p:cNvSpPr/>
            <p:nvPr/>
          </p:nvSpPr>
          <p:spPr bwMode="auto">
            <a:xfrm>
              <a:off x="5905500" y="2095500"/>
              <a:ext cx="381000" cy="428625"/>
            </a:xfrm>
            <a:custGeom>
              <a:avLst/>
              <a:gdLst/>
              <a:ahLst/>
              <a:cxnLst/>
              <a:rect l="l" t="t" r="r" b="b"/>
              <a:pathLst>
                <a:path w="381000" h="428625" fill="norm" stroke="1" extrusionOk="0">
                  <a:moveTo>
                    <a:pt x="190500" y="0"/>
                  </a:moveTo>
                  <a:lnTo>
                    <a:pt x="381000" y="114300"/>
                  </a:lnTo>
                  <a:lnTo>
                    <a:pt x="333375" y="333375"/>
                  </a:lnTo>
                  <a:lnTo>
                    <a:pt x="190500" y="428625"/>
                  </a:lnTo>
                  <a:lnTo>
                    <a:pt x="47625" y="333375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905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5386864" y="2695575"/>
              <a:ext cx="141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文件操作限制</a:t>
              </a:r>
              <a:endParaRPr/>
            </a:p>
          </p:txBody>
        </p:sp>
        <p:sp>
          <p:nvSpPr>
            <p:cNvPr id="29" name="Line 29"/>
            <p:cNvSpPr/>
            <p:nvPr/>
          </p:nvSpPr>
          <p:spPr bwMode="auto">
            <a:xfrm>
              <a:off x="5476875" y="29718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 fill="norm" stroke="1" extrusionOk="0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4605338" y="316468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文件名长度限制</a:t>
              </a:r>
              <a:endParaRPr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4702492" y="3418999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MAX_FILENAME = 255</a:t>
              </a: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4605338" y="373618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删除操作类型检查</a:t>
              </a:r>
              <a:endParaRPr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4702492" y="3990499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unlink() / rmdir()</a:t>
              </a:r>
              <a:endParaRPr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4605338" y="4307681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权限验证</a:t>
              </a:r>
              <a:endParaRPr/>
            </a:p>
          </p:txBody>
        </p:sp>
        <p:sp>
          <p:nvSpPr>
            <p:cNvPr id="35" name="TextBox 35"/>
            <p:cNvSpPr txBox="1"/>
            <p:nvPr/>
          </p:nvSpPr>
          <p:spPr bwMode="auto">
            <a:xfrm>
              <a:off x="4702492" y="4561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用户权限检查</a:t>
              </a:r>
              <a:endParaRPr/>
            </a:p>
          </p:txBody>
        </p:sp>
        <p:sp>
          <p:nvSpPr>
            <p:cNvPr id="36" name="TextBox 36"/>
            <p:cNvSpPr txBox="1"/>
            <p:nvPr/>
          </p:nvSpPr>
          <p:spPr bwMode="auto">
            <a:xfrm>
              <a:off x="4605338" y="487918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操作原子性保障</a:t>
              </a:r>
              <a:endParaRPr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4702492" y="51334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避免竞态条件</a:t>
              </a:r>
              <a:endParaRPr/>
            </a:p>
          </p:txBody>
        </p:sp>
      </p:grpSp>
      <p:grpSp>
        <p:nvGrpSpPr>
          <p:cNvPr id="1587756372" name="Group 54"/>
          <p:cNvGrpSpPr/>
          <p:nvPr/>
        </p:nvGrpSpPr>
        <p:grpSpPr bwMode="auto">
          <a:xfrm>
            <a:off x="8096250" y="1095375"/>
            <a:ext cx="3524250" cy="4953000"/>
            <a:chOff x="8096250" y="1095375"/>
            <a:chExt cx="3524250" cy="4953000"/>
          </a:xfrm>
        </p:grpSpPr>
        <p:sp>
          <p:nvSpPr>
            <p:cNvPr id="39" name="Rectangle 39"/>
            <p:cNvSpPr/>
            <p:nvPr/>
          </p:nvSpPr>
          <p:spPr bwMode="auto">
            <a:xfrm>
              <a:off x="8096250" y="1095375"/>
              <a:ext cx="3524250" cy="49530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0" name="Rectangle 40"/>
            <p:cNvSpPr/>
            <p:nvPr/>
          </p:nvSpPr>
          <p:spPr bwMode="auto">
            <a:xfrm>
              <a:off x="8096250" y="10953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 bwMode="auto">
            <a:xfrm>
              <a:off x="9572625" y="1285875"/>
              <a:ext cx="571500" cy="571500"/>
            </a:xfrm>
            <a:prstGeom prst="ellipse">
              <a:avLst/>
            </a:prstGeom>
            <a:solidFill>
              <a:srgbClr val="4CAF50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 bwMode="auto">
            <a:xfrm>
              <a:off x="9743144" y="1440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2100" b="1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3</a:t>
              </a:r>
              <a:endParaRPr/>
            </a:p>
          </p:txBody>
        </p:sp>
        <p:sp>
          <p:nvSpPr>
            <p:cNvPr id="43" name="Polygon 43"/>
            <p:cNvSpPr/>
            <p:nvPr/>
          </p:nvSpPr>
          <p:spPr bwMode="auto">
            <a:xfrm>
              <a:off x="9667875" y="2095500"/>
              <a:ext cx="381000" cy="428625"/>
            </a:xfrm>
            <a:custGeom>
              <a:avLst/>
              <a:gdLst/>
              <a:ahLst/>
              <a:cxnLst/>
              <a:rect l="l" t="t" r="r" b="b"/>
              <a:pathLst>
                <a:path w="381000" h="428625" fill="norm" stroke="1" extrusionOk="0">
                  <a:moveTo>
                    <a:pt x="190500" y="0"/>
                  </a:moveTo>
                  <a:lnTo>
                    <a:pt x="381000" y="114300"/>
                  </a:lnTo>
                  <a:lnTo>
                    <a:pt x="333375" y="333375"/>
                  </a:lnTo>
                  <a:lnTo>
                    <a:pt x="190500" y="428625"/>
                  </a:lnTo>
                  <a:lnTo>
                    <a:pt x="47625" y="333375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9050">
              <a:solidFill>
                <a:srgbClr val="4CAF50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 bwMode="auto">
            <a:xfrm>
              <a:off x="9149239" y="2695575"/>
              <a:ext cx="14182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文件创建防护</a:t>
              </a:r>
              <a:endParaRPr/>
            </a:p>
          </p:txBody>
        </p:sp>
        <p:sp>
          <p:nvSpPr>
            <p:cNvPr id="45" name="Line 45"/>
            <p:cNvSpPr/>
            <p:nvPr/>
          </p:nvSpPr>
          <p:spPr bwMode="auto">
            <a:xfrm>
              <a:off x="9239250" y="29718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 fill="norm" stroke="1" extrusionOk="0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4CAF50">
                  <a:alpha val="3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 bwMode="auto">
            <a:xfrm>
              <a:off x="8367712" y="3164681"/>
              <a:ext cx="15894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O_EXCL模式创建文件</a:t>
              </a:r>
              <a:endParaRPr/>
            </a:p>
          </p:txBody>
        </p:sp>
        <p:sp>
          <p:nvSpPr>
            <p:cNvPr id="47" name="TextBox 47"/>
            <p:cNvSpPr txBox="1"/>
            <p:nvPr/>
          </p:nvSpPr>
          <p:spPr bwMode="auto">
            <a:xfrm>
              <a:off x="8464868" y="34189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O_WRONLY|O_CREAT|O_EXCL</a:t>
              </a:r>
              <a:endParaRPr/>
            </a:p>
          </p:txBody>
        </p:sp>
        <p:sp>
          <p:nvSpPr>
            <p:cNvPr id="48" name="TextBox 48"/>
            <p:cNvSpPr txBox="1"/>
            <p:nvPr/>
          </p:nvSpPr>
          <p:spPr bwMode="auto">
            <a:xfrm>
              <a:off x="8367712" y="37361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防止文件覆盖</a:t>
              </a:r>
              <a:endParaRPr/>
            </a:p>
          </p:txBody>
        </p:sp>
        <p:sp>
          <p:nvSpPr>
            <p:cNvPr id="49" name="TextBox 49"/>
            <p:cNvSpPr txBox="1"/>
            <p:nvPr/>
          </p:nvSpPr>
          <p:spPr bwMode="auto">
            <a:xfrm>
              <a:off x="8464868" y="39904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文件已存在时返回错误</a:t>
              </a:r>
              <a:endParaRPr/>
            </a:p>
          </p:txBody>
        </p:sp>
        <p:sp>
          <p:nvSpPr>
            <p:cNvPr id="50" name="TextBox 50"/>
            <p:cNvSpPr txBox="1"/>
            <p:nvPr/>
          </p:nvSpPr>
          <p:spPr bwMode="auto">
            <a:xfrm>
              <a:off x="8367712" y="43076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传输中断处理</a:t>
              </a:r>
              <a:endParaRPr/>
            </a:p>
          </p:txBody>
        </p:sp>
        <p:sp>
          <p:nvSpPr>
            <p:cNvPr id="51" name="TextBox 51"/>
            <p:cNvSpPr txBox="1"/>
            <p:nvPr/>
          </p:nvSpPr>
          <p:spPr bwMode="auto">
            <a:xfrm>
              <a:off x="8464868" y="45619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部分文件自动删除</a:t>
              </a:r>
              <a:endParaRPr/>
            </a:p>
          </p:txBody>
        </p:sp>
        <p:sp>
          <p:nvSpPr>
            <p:cNvPr id="52" name="TextBox 52"/>
            <p:cNvSpPr txBox="1"/>
            <p:nvPr/>
          </p:nvSpPr>
          <p:spPr bwMode="auto">
            <a:xfrm>
              <a:off x="8367712" y="487918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150">
                  <a:solidFill>
                    <a:srgbClr val="333333"/>
                  </a:solidFill>
                  <a:latin typeface="Arial"/>
                  <a:ea typeface="Microsoft YaHei"/>
                  <a:cs typeface="Arial"/>
                </a:rPr>
                <a:t>完整性验证</a:t>
              </a:r>
              <a:endParaRPr/>
            </a:p>
          </p:txBody>
        </p:sp>
        <p:sp>
          <p:nvSpPr>
            <p:cNvPr id="53" name="TextBox 53"/>
            <p:cNvSpPr txBox="1"/>
            <p:nvPr/>
          </p:nvSpPr>
          <p:spPr bwMode="auto">
            <a:xfrm>
              <a:off x="8464868" y="51334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4CAF50"/>
                  </a:solidFill>
                  <a:latin typeface="Consolas"/>
                  <a:ea typeface="Microsoft YaHei"/>
                  <a:cs typeface="Consolas"/>
                </a:rPr>
                <a:t>传输完成后校验字节数</a:t>
              </a:r>
              <a:endParaRPr/>
            </a:p>
          </p:txBody>
        </p:sp>
      </p:grpSp>
      <p:sp>
        <p:nvSpPr>
          <p:cNvPr id="1237472786" name="Rectangle 55"/>
          <p:cNvSpPr/>
          <p:nvPr/>
        </p:nvSpPr>
        <p:spPr bwMode="auto">
          <a:xfrm>
            <a:off x="571500" y="6286500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164950741" name="TextBox 56"/>
          <p:cNvSpPr txBox="1"/>
          <p:nvPr/>
        </p:nvSpPr>
        <p:spPr bwMode="auto">
          <a:xfrm>
            <a:off x="5477887" y="641270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150" b="1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多层防护链路：</a:t>
            </a:r>
            <a:endParaRPr/>
          </a:p>
        </p:txBody>
      </p:sp>
      <p:sp>
        <p:nvSpPr>
          <p:cNvPr id="723935038" name="TextBox 57"/>
          <p:cNvSpPr txBox="1"/>
          <p:nvPr/>
        </p:nvSpPr>
        <p:spPr bwMode="auto">
          <a:xfrm>
            <a:off x="3510915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输入验证</a:t>
            </a:r>
            <a:endParaRPr/>
          </a:p>
        </p:txBody>
      </p:sp>
      <p:sp>
        <p:nvSpPr>
          <p:cNvPr id="563575294" name="TextBox 58"/>
          <p:cNvSpPr txBox="1"/>
          <p:nvPr/>
        </p:nvSpPr>
        <p:spPr bwMode="auto">
          <a:xfrm>
            <a:off x="4463415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  <a:endParaRPr/>
          </a:p>
        </p:txBody>
      </p:sp>
      <p:sp>
        <p:nvSpPr>
          <p:cNvPr id="269582147" name="TextBox 59"/>
          <p:cNvSpPr txBox="1"/>
          <p:nvPr/>
        </p:nvSpPr>
        <p:spPr bwMode="auto">
          <a:xfrm>
            <a:off x="4844415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路径检查</a:t>
            </a:r>
            <a:endParaRPr/>
          </a:p>
        </p:txBody>
      </p:sp>
      <p:sp>
        <p:nvSpPr>
          <p:cNvPr id="278624461" name="TextBox 60"/>
          <p:cNvSpPr txBox="1"/>
          <p:nvPr/>
        </p:nvSpPr>
        <p:spPr bwMode="auto">
          <a:xfrm>
            <a:off x="5654040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  <a:endParaRPr/>
          </a:p>
        </p:txBody>
      </p:sp>
      <p:sp>
        <p:nvSpPr>
          <p:cNvPr id="947750632" name="TextBox 61"/>
          <p:cNvSpPr txBox="1"/>
          <p:nvPr/>
        </p:nvSpPr>
        <p:spPr bwMode="auto">
          <a:xfrm>
            <a:off x="6035039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权限控制</a:t>
            </a:r>
            <a:endParaRPr/>
          </a:p>
        </p:txBody>
      </p:sp>
      <p:sp>
        <p:nvSpPr>
          <p:cNvPr id="1935046261" name="TextBox 62"/>
          <p:cNvSpPr txBox="1"/>
          <p:nvPr/>
        </p:nvSpPr>
        <p:spPr bwMode="auto">
          <a:xfrm>
            <a:off x="6844665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  <a:endParaRPr/>
          </a:p>
        </p:txBody>
      </p:sp>
      <p:sp>
        <p:nvSpPr>
          <p:cNvPr id="1624970320" name="TextBox 63"/>
          <p:cNvSpPr txBox="1"/>
          <p:nvPr/>
        </p:nvSpPr>
        <p:spPr bwMode="auto">
          <a:xfrm>
            <a:off x="7225665" y="6420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操作限制</a:t>
            </a:r>
            <a:endParaRPr/>
          </a:p>
        </p:txBody>
      </p:sp>
      <p:sp>
        <p:nvSpPr>
          <p:cNvPr id="1508819968" name="TextBox 64"/>
          <p:cNvSpPr txBox="1"/>
          <p:nvPr/>
        </p:nvSpPr>
        <p:spPr bwMode="auto">
          <a:xfrm>
            <a:off x="8035289" y="64208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</a:t>
            </a:r>
            <a:endParaRPr/>
          </a:p>
        </p:txBody>
      </p:sp>
      <p:sp>
        <p:nvSpPr>
          <p:cNvPr id="760312591" name="TextBox 65"/>
          <p:cNvSpPr txBox="1"/>
          <p:nvPr/>
        </p:nvSpPr>
        <p:spPr bwMode="auto">
          <a:xfrm>
            <a:off x="8416290" y="64208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defRPr/>
            </a:pPr>
            <a:r>
              <a:rPr lang="zh-CN" sz="105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完整性保障</a:t>
            </a:r>
            <a:endParaRPr/>
          </a:p>
        </p:txBody>
      </p:sp>
      <p:sp>
        <p:nvSpPr>
          <p:cNvPr id="1257139472" name="TextBox 66"/>
          <p:cNvSpPr txBox="1"/>
          <p:nvPr/>
        </p:nvSpPr>
        <p:spPr bwMode="auto">
          <a:xfrm>
            <a:off x="11331654" y="6586538"/>
            <a:ext cx="2983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9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17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5617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1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4311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55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09555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58775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6179484" grpId="0"/>
      <p:bldP spid="243111561" grpId="0"/>
      <p:bldP spid="2095552050" grpId="0"/>
      <p:bldP spid="15877563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489577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60908636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775170601" name="Group 6"/>
          <p:cNvGrpSpPr/>
          <p:nvPr/>
        </p:nvGrpSpPr>
        <p:grpSpPr bwMode="auto">
          <a:xfrm>
            <a:off x="571500" y="523875"/>
            <a:ext cx="3963043" cy="438149"/>
            <a:chOff x="571500" y="523875"/>
            <a:chExt cx="3963043" cy="438149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97230" y="535305"/>
              <a:ext cx="383731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核心实现：CRC32校验算法</a:t>
              </a:r>
              <a:endParaRPr/>
            </a:p>
          </p:txBody>
        </p:sp>
      </p:grpSp>
      <p:grpSp>
        <p:nvGrpSpPr>
          <p:cNvPr id="1850480861" name="Group 38"/>
          <p:cNvGrpSpPr/>
          <p:nvPr/>
        </p:nvGrpSpPr>
        <p:grpSpPr bwMode="auto">
          <a:xfrm>
            <a:off x="533400" y="1009650"/>
            <a:ext cx="3657600" cy="4419600"/>
            <a:chOff x="533400" y="1009650"/>
            <a:chExt cx="3657600" cy="4419600"/>
          </a:xfrm>
        </p:grpSpPr>
        <p:sp>
          <p:nvSpPr>
            <p:cNvPr id="7" name="TextBox 7"/>
            <p:cNvSpPr txBox="1"/>
            <p:nvPr/>
          </p:nvSpPr>
          <p:spPr bwMode="auto">
            <a:xfrm>
              <a:off x="533400" y="1009650"/>
              <a:ext cx="1341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3000" b="1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CRC32</a:t>
              </a:r>
              <a:endParaRPr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556260" y="14897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2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循环冗余校验算法</a:t>
              </a:r>
              <a:endParaRPr/>
            </a:p>
          </p:txBody>
        </p:sp>
        <p:grpSp>
          <p:nvGrpSpPr>
            <p:cNvPr id="13" name="Group 13"/>
            <p:cNvGrpSpPr/>
            <p:nvPr/>
          </p:nvGrpSpPr>
          <p:grpSpPr bwMode="auto">
            <a:xfrm>
              <a:off x="571500" y="1840706"/>
              <a:ext cx="1764840" cy="404813"/>
              <a:chOff x="571500" y="1840706"/>
              <a:chExt cx="1764840" cy="404813"/>
            </a:xfrm>
          </p:grpSpPr>
          <p:sp>
            <p:nvSpPr>
              <p:cNvPr id="9" name="Ellipse 9"/>
              <p:cNvSpPr/>
              <p:nvPr/>
            </p:nvSpPr>
            <p:spPr bwMode="auto">
              <a:xfrm>
                <a:off x="571500" y="1905000"/>
                <a:ext cx="190500" cy="190500"/>
              </a:xfrm>
              <a:prstGeom prst="ellipse">
                <a:avLst/>
              </a:prstGeom>
              <a:solidFill>
                <a:srgbClr val="1A73E8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634617" y="1950720"/>
                <a:ext cx="642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900" b="1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  <a:endParaRPr/>
              </a:p>
            </p:txBody>
          </p:sp>
          <p:sp>
            <p:nvSpPr>
              <p:cNvPr id="11" name="TextBox 11"/>
              <p:cNvSpPr txBox="1"/>
              <p:nvPr/>
            </p:nvSpPr>
            <p:spPr bwMode="auto">
              <a:xfrm>
                <a:off x="842962" y="1840706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15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基于多项式除法</a:t>
                </a:r>
                <a:endParaRPr/>
              </a:p>
            </p:txBody>
          </p:sp>
          <p:sp>
            <p:nvSpPr>
              <p:cNvPr id="12" name="TextBox 12"/>
              <p:cNvSpPr txBox="1"/>
              <p:nvPr/>
            </p:nvSpPr>
            <p:spPr bwMode="auto">
              <a:xfrm>
                <a:off x="844867" y="2047399"/>
                <a:ext cx="149147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0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IEEE 802.3 标准多项式</a:t>
                </a: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 bwMode="auto">
            <a:xfrm>
              <a:off x="571500" y="2412206"/>
              <a:ext cx="1529882" cy="404813"/>
              <a:chOff x="571500" y="2412206"/>
              <a:chExt cx="1529882" cy="404813"/>
            </a:xfrm>
          </p:grpSpPr>
          <p:sp>
            <p:nvSpPr>
              <p:cNvPr id="14" name="Ellipse 14"/>
              <p:cNvSpPr/>
              <p:nvPr/>
            </p:nvSpPr>
            <p:spPr bwMode="auto">
              <a:xfrm>
                <a:off x="571500" y="2476500"/>
                <a:ext cx="190500" cy="190500"/>
              </a:xfrm>
              <a:prstGeom prst="ellipse">
                <a:avLst/>
              </a:prstGeom>
              <a:solidFill>
                <a:srgbClr val="4FC3F7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 bwMode="auto">
              <a:xfrm>
                <a:off x="617365" y="25222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900" b="1">
                    <a:solidFill>
                      <a:srgbClr val="4FC3F7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842962" y="24122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15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查表法优化</a:t>
                </a:r>
                <a:endParaRPr/>
              </a:p>
            </p:txBody>
          </p:sp>
          <p:sp>
            <p:nvSpPr>
              <p:cNvPr id="17" name="TextBox 17"/>
              <p:cNvSpPr txBox="1"/>
              <p:nvPr/>
            </p:nvSpPr>
            <p:spPr bwMode="auto">
              <a:xfrm>
                <a:off x="844867" y="2618899"/>
                <a:ext cx="12565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0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预计算256项查找表</a:t>
                </a: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 bwMode="auto">
            <a:xfrm>
              <a:off x="571500" y="2983706"/>
              <a:ext cx="1121568" cy="426244"/>
              <a:chOff x="571500" y="2983706"/>
              <a:chExt cx="1121568" cy="426244"/>
            </a:xfrm>
          </p:grpSpPr>
          <p:sp>
            <p:nvSpPr>
              <p:cNvPr id="19" name="Ellipse 19"/>
              <p:cNvSpPr/>
              <p:nvPr/>
            </p:nvSpPr>
            <p:spPr bwMode="auto">
              <a:xfrm>
                <a:off x="571500" y="3048000"/>
                <a:ext cx="190500" cy="190500"/>
              </a:xfrm>
              <a:prstGeom prst="ellipse">
                <a:avLst/>
              </a:prstGeom>
              <a:solidFill>
                <a:srgbClr val="0D47A1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 bwMode="auto">
              <a:xfrm>
                <a:off x="617365" y="30937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900" b="1">
                    <a:solidFill>
                      <a:srgbClr val="0D47A1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  <a:endParaRPr/>
              </a:p>
            </p:txBody>
          </p:sp>
          <p:sp>
            <p:nvSpPr>
              <p:cNvPr id="21" name="TextBox 21"/>
              <p:cNvSpPr txBox="1"/>
              <p:nvPr/>
            </p:nvSpPr>
            <p:spPr bwMode="auto">
              <a:xfrm>
                <a:off x="842962" y="29837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15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时间复杂度</a:t>
                </a:r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842010" y="3166110"/>
                <a:ext cx="4721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200" b="1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O(n)</a:t>
                </a: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 bwMode="auto">
            <a:xfrm>
              <a:off x="571500" y="3555206"/>
              <a:ext cx="1318878" cy="411956"/>
              <a:chOff x="571500" y="3555206"/>
              <a:chExt cx="1318878" cy="411956"/>
            </a:xfrm>
          </p:grpSpPr>
          <p:sp>
            <p:nvSpPr>
              <p:cNvPr id="24" name="Ellipse 24"/>
              <p:cNvSpPr/>
              <p:nvPr/>
            </p:nvSpPr>
            <p:spPr bwMode="auto">
              <a:xfrm>
                <a:off x="571500" y="3619500"/>
                <a:ext cx="190500" cy="190500"/>
              </a:xfrm>
              <a:prstGeom prst="ellipse">
                <a:avLst/>
              </a:prstGeom>
              <a:solidFill>
                <a:srgbClr val="FF6B35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617365" y="36652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900" b="1">
                    <a:solidFill>
                      <a:srgbClr val="FF6B35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  <a:endParaRPr/>
              </a:p>
            </p:txBody>
          </p:sp>
          <p:sp>
            <p:nvSpPr>
              <p:cNvPr id="26" name="TextBox 26"/>
              <p:cNvSpPr txBox="1"/>
              <p:nvPr/>
            </p:nvSpPr>
            <p:spPr bwMode="auto">
              <a:xfrm>
                <a:off x="842962" y="3555206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15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校验值长度</a:t>
                </a:r>
                <a:endParaRPr/>
              </a:p>
            </p:txBody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843915" y="3753802"/>
                <a:ext cx="10464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666666"/>
                    </a:solidFill>
                    <a:latin typeface="Consolas"/>
                    <a:ea typeface="Microsoft YaHei"/>
                    <a:cs typeface="Consolas"/>
                  </a:rPr>
                  <a:t>32位（4字节）</a:t>
                </a: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 bwMode="auto">
            <a:xfrm>
              <a:off x="571500" y="4126706"/>
              <a:ext cx="1515642" cy="404813"/>
              <a:chOff x="571500" y="4126706"/>
              <a:chExt cx="1515642" cy="404813"/>
            </a:xfrm>
          </p:grpSpPr>
          <p:sp>
            <p:nvSpPr>
              <p:cNvPr id="29" name="Ellipse 29"/>
              <p:cNvSpPr/>
              <p:nvPr/>
            </p:nvSpPr>
            <p:spPr bwMode="auto">
              <a:xfrm>
                <a:off x="571500" y="4191000"/>
                <a:ext cx="190500" cy="190500"/>
              </a:xfrm>
              <a:prstGeom prst="ellipse">
                <a:avLst/>
              </a:prstGeom>
              <a:solidFill>
                <a:srgbClr val="4CAF5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617365" y="4236720"/>
                <a:ext cx="987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90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  <a:endParaRPr/>
              </a:p>
            </p:txBody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842962" y="4126706"/>
                <a:ext cx="685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15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检错能力</a:t>
                </a:r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 bwMode="auto">
              <a:xfrm>
                <a:off x="844867" y="4333399"/>
                <a:ext cx="1242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0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检测单/双比特错误</a:t>
                </a:r>
                <a:endParaRPr/>
              </a:p>
            </p:txBody>
          </p:sp>
        </p:grpSp>
        <p:sp>
          <p:nvSpPr>
            <p:cNvPr id="34" name="Rectangle 34"/>
            <p:cNvSpPr/>
            <p:nvPr/>
          </p:nvSpPr>
          <p:spPr bwMode="auto">
            <a:xfrm>
              <a:off x="571500" y="4762500"/>
              <a:ext cx="3619500" cy="666750"/>
            </a:xfrm>
            <a:prstGeom prst="roundRect">
              <a:avLst>
                <a:gd name="adj" fmla="val 11429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 bwMode="auto">
            <a:xfrm>
              <a:off x="2045875" y="48872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 b="1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性能对比</a:t>
              </a:r>
              <a:endParaRPr/>
            </a:p>
          </p:txBody>
        </p:sp>
        <p:sp>
          <p:nvSpPr>
            <p:cNvPr id="36" name="TextBox 36"/>
            <p:cNvSpPr txBox="1"/>
            <p:nvPr/>
          </p:nvSpPr>
          <p:spPr bwMode="auto">
            <a:xfrm>
              <a:off x="940118" y="5181124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暴力法: O(n×32)</a:t>
              </a:r>
              <a:endParaRPr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2654618" y="5181124"/>
              <a:ext cx="9592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 b="1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查表法: O(n)</a:t>
              </a:r>
              <a:endParaRPr/>
            </a:p>
          </p:txBody>
        </p:sp>
      </p:grpSp>
      <p:grpSp>
        <p:nvGrpSpPr>
          <p:cNvPr id="377286982" name="Group 103"/>
          <p:cNvGrpSpPr/>
          <p:nvPr/>
        </p:nvGrpSpPr>
        <p:grpSpPr bwMode="auto">
          <a:xfrm>
            <a:off x="4476750" y="1047750"/>
            <a:ext cx="7143750" cy="5048250"/>
            <a:chOff x="4476750" y="1047750"/>
            <a:chExt cx="7143750" cy="5048250"/>
          </a:xfrm>
        </p:grpSpPr>
        <p:sp>
          <p:nvSpPr>
            <p:cNvPr id="39" name="Rectangle 39"/>
            <p:cNvSpPr/>
            <p:nvPr/>
          </p:nvSpPr>
          <p:spPr bwMode="auto">
            <a:xfrm>
              <a:off x="4476750" y="1047750"/>
              <a:ext cx="7143750" cy="5048250"/>
            </a:xfrm>
            <a:prstGeom prst="roundRect">
              <a:avLst>
                <a:gd name="adj" fmla="val 1887"/>
              </a:avLst>
            </a:prstGeom>
            <a:solidFill>
              <a:srgbClr val="1E1E2E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 bwMode="auto">
            <a:xfrm>
              <a:off x="4476750" y="1047750"/>
              <a:ext cx="7143750" cy="333375"/>
            </a:xfrm>
            <a:prstGeom prst="roundRect">
              <a:avLst>
                <a:gd name="adj" fmla="val 28571"/>
              </a:avLst>
            </a:prstGeom>
            <a:solidFill>
              <a:srgbClr val="2D2D3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 bwMode="auto">
            <a:xfrm>
              <a:off x="4476750" y="1285875"/>
              <a:ext cx="7143750" cy="95250"/>
            </a:xfrm>
            <a:prstGeom prst="rect">
              <a:avLst/>
            </a:prstGeom>
            <a:solidFill>
              <a:srgbClr val="2D2D3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 bwMode="auto">
            <a:xfrm>
              <a:off x="4657725" y="1152525"/>
              <a:ext cx="114300" cy="114300"/>
            </a:xfrm>
            <a:prstGeom prst="ellipse">
              <a:avLst/>
            </a:prstGeom>
            <a:solidFill>
              <a:srgbClr val="EF4444">
                <a:alpha val="70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 bwMode="auto">
            <a:xfrm>
              <a:off x="4848225" y="1152525"/>
              <a:ext cx="114300" cy="114300"/>
            </a:xfrm>
            <a:prstGeom prst="ellipse">
              <a:avLst/>
            </a:prstGeom>
            <a:solidFill>
              <a:srgbClr val="FF6B35">
                <a:alpha val="70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 bwMode="auto">
            <a:xfrm>
              <a:off x="5038725" y="1152525"/>
              <a:ext cx="114300" cy="114300"/>
            </a:xfrm>
            <a:prstGeom prst="ellipse">
              <a:avLst/>
            </a:prstGeom>
            <a:solidFill>
              <a:srgbClr val="4CAF50">
                <a:alpha val="7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 bwMode="auto">
            <a:xfrm>
              <a:off x="5739527" y="1169670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protocol.c</a:t>
              </a:r>
              <a:endParaRPr/>
            </a:p>
          </p:txBody>
        </p:sp>
        <p:sp>
          <p:nvSpPr>
            <p:cNvPr id="46" name="TextBox 46"/>
            <p:cNvSpPr txBox="1"/>
            <p:nvPr/>
          </p:nvSpPr>
          <p:spPr bwMode="auto">
            <a:xfrm>
              <a:off x="4750118" y="1561624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</a:t>
              </a:r>
              <a:endParaRPr/>
            </a:p>
          </p:txBody>
        </p:sp>
        <p:sp>
          <p:nvSpPr>
            <p:cNvPr id="47" name="TextBox 47"/>
            <p:cNvSpPr txBox="1"/>
            <p:nvPr/>
          </p:nvSpPr>
          <p:spPr bwMode="auto">
            <a:xfrm>
              <a:off x="5035868" y="1561624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6A9955"/>
                  </a:solidFill>
                  <a:latin typeface="Consolas"/>
                  <a:ea typeface="Microsoft YaHei"/>
                  <a:cs typeface="Consolas"/>
                </a:rPr>
                <a:t>/* CRC32 查表法 */</a:t>
              </a:r>
              <a:endParaRPr/>
            </a:p>
          </p:txBody>
        </p:sp>
        <p:sp>
          <p:nvSpPr>
            <p:cNvPr id="48" name="TextBox 48"/>
            <p:cNvSpPr txBox="1"/>
            <p:nvPr/>
          </p:nvSpPr>
          <p:spPr bwMode="auto">
            <a:xfrm>
              <a:off x="4750118" y="179974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2</a:t>
              </a:r>
              <a:endParaRPr/>
            </a:p>
          </p:txBody>
        </p:sp>
        <p:sp>
          <p:nvSpPr>
            <p:cNvPr id="49" name="TextBox 49"/>
            <p:cNvSpPr txBox="1"/>
            <p:nvPr/>
          </p:nvSpPr>
          <p:spPr bwMode="auto">
            <a:xfrm>
              <a:off x="5035868" y="1799749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static</a:t>
              </a:r>
              <a:endParaRPr/>
            </a:p>
          </p:txBody>
        </p:sp>
        <p:sp>
          <p:nvSpPr>
            <p:cNvPr id="50" name="TextBox 50"/>
            <p:cNvSpPr txBox="1"/>
            <p:nvPr/>
          </p:nvSpPr>
          <p:spPr bwMode="auto">
            <a:xfrm>
              <a:off x="5512118" y="17997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  <a:endParaRPr/>
            </a:p>
          </p:txBody>
        </p:sp>
        <p:sp>
          <p:nvSpPr>
            <p:cNvPr id="51" name="TextBox 51"/>
            <p:cNvSpPr txBox="1"/>
            <p:nvPr/>
          </p:nvSpPr>
          <p:spPr bwMode="auto">
            <a:xfrm>
              <a:off x="6226492" y="1799749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CDCAA"/>
                  </a:solidFill>
                  <a:latin typeface="Consolas"/>
                  <a:ea typeface="Microsoft YaHei"/>
                  <a:cs typeface="Consolas"/>
                </a:rPr>
                <a:t>crc32_table</a:t>
              </a:r>
              <a:endParaRPr/>
            </a:p>
          </p:txBody>
        </p:sp>
        <p:sp>
          <p:nvSpPr>
            <p:cNvPr id="52" name="TextBox 52"/>
            <p:cNvSpPr txBox="1"/>
            <p:nvPr/>
          </p:nvSpPr>
          <p:spPr bwMode="auto">
            <a:xfrm>
              <a:off x="7226618" y="17997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CE9178"/>
                  </a:solidFill>
                  <a:latin typeface="Consolas"/>
                  <a:ea typeface="Microsoft YaHei"/>
                  <a:cs typeface="Consolas"/>
                </a:rPr>
                <a:t>[256]</a:t>
              </a:r>
              <a:endParaRPr/>
            </a:p>
          </p:txBody>
        </p:sp>
        <p:sp>
          <p:nvSpPr>
            <p:cNvPr id="53" name="TextBox 53"/>
            <p:cNvSpPr txBox="1"/>
            <p:nvPr/>
          </p:nvSpPr>
          <p:spPr bwMode="auto">
            <a:xfrm>
              <a:off x="7607618" y="179974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;</a:t>
              </a:r>
              <a:endParaRPr/>
            </a:p>
          </p:txBody>
        </p:sp>
        <p:sp>
          <p:nvSpPr>
            <p:cNvPr id="54" name="TextBox 54"/>
            <p:cNvSpPr txBox="1"/>
            <p:nvPr/>
          </p:nvSpPr>
          <p:spPr bwMode="auto">
            <a:xfrm>
              <a:off x="4750118" y="2037874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3</a:t>
              </a:r>
              <a:endParaRPr/>
            </a:p>
          </p:txBody>
        </p:sp>
        <p:sp>
          <p:nvSpPr>
            <p:cNvPr id="55" name="TextBox 55"/>
            <p:cNvSpPr txBox="1"/>
            <p:nvPr/>
          </p:nvSpPr>
          <p:spPr bwMode="auto">
            <a:xfrm>
              <a:off x="4750118" y="227599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4</a:t>
              </a:r>
              <a:endParaRPr/>
            </a:p>
          </p:txBody>
        </p:sp>
        <p:sp>
          <p:nvSpPr>
            <p:cNvPr id="56" name="TextBox 56"/>
            <p:cNvSpPr txBox="1"/>
            <p:nvPr/>
          </p:nvSpPr>
          <p:spPr bwMode="auto">
            <a:xfrm>
              <a:off x="5035868" y="22759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void</a:t>
              </a:r>
              <a:endParaRPr/>
            </a:p>
          </p:txBody>
        </p:sp>
        <p:sp>
          <p:nvSpPr>
            <p:cNvPr id="57" name="TextBox 57"/>
            <p:cNvSpPr txBox="1"/>
            <p:nvPr/>
          </p:nvSpPr>
          <p:spPr bwMode="auto">
            <a:xfrm>
              <a:off x="5369242" y="2275999"/>
              <a:ext cx="9788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CDCAA"/>
                  </a:solidFill>
                  <a:latin typeface="Consolas"/>
                  <a:ea typeface="Microsoft YaHei"/>
                  <a:cs typeface="Consolas"/>
                </a:rPr>
                <a:t>crc_fill_table</a:t>
              </a:r>
              <a:endParaRPr/>
            </a:p>
          </p:txBody>
        </p:sp>
        <p:sp>
          <p:nvSpPr>
            <p:cNvPr id="58" name="TextBox 58"/>
            <p:cNvSpPr txBox="1"/>
            <p:nvPr/>
          </p:nvSpPr>
          <p:spPr bwMode="auto">
            <a:xfrm>
              <a:off x="6655118" y="227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()</a:t>
              </a:r>
              <a:endParaRPr/>
            </a:p>
          </p:txBody>
        </p:sp>
        <p:sp>
          <p:nvSpPr>
            <p:cNvPr id="59" name="TextBox 59"/>
            <p:cNvSpPr txBox="1"/>
            <p:nvPr/>
          </p:nvSpPr>
          <p:spPr bwMode="auto">
            <a:xfrm>
              <a:off x="4750118" y="2514124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5</a:t>
              </a:r>
              <a:endParaRPr/>
            </a:p>
          </p:txBody>
        </p:sp>
        <p:sp>
          <p:nvSpPr>
            <p:cNvPr id="60" name="TextBox 60"/>
            <p:cNvSpPr txBox="1"/>
            <p:nvPr/>
          </p:nvSpPr>
          <p:spPr bwMode="auto">
            <a:xfrm>
              <a:off x="5035868" y="2514124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{</a:t>
              </a:r>
              <a:endParaRPr/>
            </a:p>
          </p:txBody>
        </p:sp>
        <p:sp>
          <p:nvSpPr>
            <p:cNvPr id="61" name="TextBox 61"/>
            <p:cNvSpPr txBox="1"/>
            <p:nvPr/>
          </p:nvSpPr>
          <p:spPr bwMode="auto">
            <a:xfrm>
              <a:off x="4750118" y="275224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6</a:t>
              </a:r>
              <a:endParaRPr/>
            </a:p>
          </p:txBody>
        </p:sp>
        <p:sp>
          <p:nvSpPr>
            <p:cNvPr id="62" name="TextBox 62"/>
            <p:cNvSpPr txBox="1"/>
            <p:nvPr/>
          </p:nvSpPr>
          <p:spPr bwMode="auto">
            <a:xfrm>
              <a:off x="5178742" y="27522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  <a:endParaRPr/>
            </a:p>
          </p:txBody>
        </p:sp>
        <p:sp>
          <p:nvSpPr>
            <p:cNvPr id="63" name="TextBox 63"/>
            <p:cNvSpPr txBox="1"/>
            <p:nvPr/>
          </p:nvSpPr>
          <p:spPr bwMode="auto">
            <a:xfrm>
              <a:off x="5893118" y="275224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target</a:t>
              </a:r>
              <a:endParaRPr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6416992" y="275224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</a:t>
              </a:r>
              <a:endParaRPr/>
            </a:p>
          </p:txBody>
        </p:sp>
        <p:sp>
          <p:nvSpPr>
            <p:cNvPr id="65" name="TextBox 65"/>
            <p:cNvSpPr txBox="1"/>
            <p:nvPr/>
          </p:nvSpPr>
          <p:spPr bwMode="auto">
            <a:xfrm>
              <a:off x="6607492" y="2752249"/>
              <a:ext cx="807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B5CEA8"/>
                  </a:solidFill>
                  <a:latin typeface="Consolas"/>
                  <a:ea typeface="Microsoft YaHei"/>
                  <a:cs typeface="Consolas"/>
                </a:rPr>
                <a:t>0xEDB88320</a:t>
              </a:r>
              <a:endParaRPr/>
            </a:p>
          </p:txBody>
        </p:sp>
        <p:sp>
          <p:nvSpPr>
            <p:cNvPr id="66" name="TextBox 66"/>
            <p:cNvSpPr txBox="1"/>
            <p:nvPr/>
          </p:nvSpPr>
          <p:spPr bwMode="auto">
            <a:xfrm>
              <a:off x="7607618" y="275224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;</a:t>
              </a:r>
              <a:endParaRPr/>
            </a:p>
          </p:txBody>
        </p:sp>
        <p:sp>
          <p:nvSpPr>
            <p:cNvPr id="67" name="TextBox 67"/>
            <p:cNvSpPr txBox="1"/>
            <p:nvPr/>
          </p:nvSpPr>
          <p:spPr bwMode="auto">
            <a:xfrm>
              <a:off x="4750118" y="2990374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7</a:t>
              </a:r>
              <a:endParaRPr/>
            </a:p>
          </p:txBody>
        </p:sp>
        <p:sp>
          <p:nvSpPr>
            <p:cNvPr id="68" name="TextBox 68"/>
            <p:cNvSpPr txBox="1"/>
            <p:nvPr/>
          </p:nvSpPr>
          <p:spPr bwMode="auto">
            <a:xfrm>
              <a:off x="5178742" y="2990374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for</a:t>
              </a:r>
              <a:endParaRPr/>
            </a:p>
          </p:txBody>
        </p:sp>
        <p:sp>
          <p:nvSpPr>
            <p:cNvPr id="69" name="TextBox 69"/>
            <p:cNvSpPr txBox="1"/>
            <p:nvPr/>
          </p:nvSpPr>
          <p:spPr bwMode="auto">
            <a:xfrm>
              <a:off x="5464492" y="2990374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</a:t>
              </a:r>
              <a:endParaRPr/>
            </a:p>
          </p:txBody>
        </p:sp>
        <p:sp>
          <p:nvSpPr>
            <p:cNvPr id="70" name="TextBox 70"/>
            <p:cNvSpPr txBox="1"/>
            <p:nvPr/>
          </p:nvSpPr>
          <p:spPr bwMode="auto">
            <a:xfrm>
              <a:off x="5559742" y="2990374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  <a:endParaRPr/>
            </a:p>
          </p:txBody>
        </p:sp>
        <p:sp>
          <p:nvSpPr>
            <p:cNvPr id="71" name="TextBox 71"/>
            <p:cNvSpPr txBox="1"/>
            <p:nvPr/>
          </p:nvSpPr>
          <p:spPr bwMode="auto">
            <a:xfrm>
              <a:off x="6274118" y="2990374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i</a:t>
              </a:r>
              <a:endParaRPr/>
            </a:p>
          </p:txBody>
        </p:sp>
        <p:sp>
          <p:nvSpPr>
            <p:cNvPr id="72" name="TextBox 72"/>
            <p:cNvSpPr txBox="1"/>
            <p:nvPr/>
          </p:nvSpPr>
          <p:spPr bwMode="auto">
            <a:xfrm>
              <a:off x="6369368" y="2990374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0; i &lt; 256; i++)</a:t>
              </a:r>
              <a:endParaRPr/>
            </a:p>
          </p:txBody>
        </p:sp>
        <p:sp>
          <p:nvSpPr>
            <p:cNvPr id="73" name="TextBox 73"/>
            <p:cNvSpPr txBox="1"/>
            <p:nvPr/>
          </p:nvSpPr>
          <p:spPr bwMode="auto">
            <a:xfrm>
              <a:off x="4750118" y="322849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8</a:t>
              </a:r>
              <a:endParaRPr/>
            </a:p>
          </p:txBody>
        </p:sp>
        <p:sp>
          <p:nvSpPr>
            <p:cNvPr id="74" name="TextBox 74"/>
            <p:cNvSpPr txBox="1"/>
            <p:nvPr/>
          </p:nvSpPr>
          <p:spPr bwMode="auto">
            <a:xfrm>
              <a:off x="5178742" y="322849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{</a:t>
              </a:r>
              <a:endParaRPr/>
            </a:p>
          </p:txBody>
        </p:sp>
        <p:sp>
          <p:nvSpPr>
            <p:cNvPr id="75" name="TextBox 75"/>
            <p:cNvSpPr txBox="1"/>
            <p:nvPr/>
          </p:nvSpPr>
          <p:spPr bwMode="auto">
            <a:xfrm>
              <a:off x="4750118" y="3466624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9</a:t>
              </a:r>
              <a:endParaRPr/>
            </a:p>
          </p:txBody>
        </p:sp>
        <p:sp>
          <p:nvSpPr>
            <p:cNvPr id="76" name="TextBox 76"/>
            <p:cNvSpPr txBox="1"/>
            <p:nvPr/>
          </p:nvSpPr>
          <p:spPr bwMode="auto">
            <a:xfrm>
              <a:off x="5321618" y="3466624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uint32_t</a:t>
              </a:r>
              <a:endParaRPr/>
            </a:p>
          </p:txBody>
        </p:sp>
        <p:sp>
          <p:nvSpPr>
            <p:cNvPr id="77" name="TextBox 77"/>
            <p:cNvSpPr txBox="1"/>
            <p:nvPr/>
          </p:nvSpPr>
          <p:spPr bwMode="auto">
            <a:xfrm>
              <a:off x="6035992" y="3466624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crc</a:t>
              </a:r>
              <a:endParaRPr/>
            </a:p>
          </p:txBody>
        </p:sp>
        <p:sp>
          <p:nvSpPr>
            <p:cNvPr id="78" name="TextBox 78"/>
            <p:cNvSpPr txBox="1"/>
            <p:nvPr/>
          </p:nvSpPr>
          <p:spPr bwMode="auto">
            <a:xfrm>
              <a:off x="6274118" y="3466624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i;</a:t>
              </a:r>
              <a:endParaRPr/>
            </a:p>
          </p:txBody>
        </p:sp>
        <p:sp>
          <p:nvSpPr>
            <p:cNvPr id="79" name="TextBox 79"/>
            <p:cNvSpPr txBox="1"/>
            <p:nvPr/>
          </p:nvSpPr>
          <p:spPr bwMode="auto">
            <a:xfrm>
              <a:off x="4750118" y="37047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10</a:t>
              </a:r>
              <a:endParaRPr/>
            </a:p>
          </p:txBody>
        </p:sp>
        <p:sp>
          <p:nvSpPr>
            <p:cNvPr id="80" name="TextBox 80"/>
            <p:cNvSpPr txBox="1"/>
            <p:nvPr/>
          </p:nvSpPr>
          <p:spPr bwMode="auto">
            <a:xfrm>
              <a:off x="5321618" y="37047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for</a:t>
              </a:r>
              <a:endParaRPr/>
            </a:p>
          </p:txBody>
        </p:sp>
        <p:sp>
          <p:nvSpPr>
            <p:cNvPr id="81" name="TextBox 81"/>
            <p:cNvSpPr txBox="1"/>
            <p:nvPr/>
          </p:nvSpPr>
          <p:spPr bwMode="auto">
            <a:xfrm>
              <a:off x="5607368" y="370474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</a:t>
              </a:r>
              <a:endParaRPr/>
            </a:p>
          </p:txBody>
        </p:sp>
        <p:sp>
          <p:nvSpPr>
            <p:cNvPr id="82" name="TextBox 82"/>
            <p:cNvSpPr txBox="1"/>
            <p:nvPr/>
          </p:nvSpPr>
          <p:spPr bwMode="auto">
            <a:xfrm>
              <a:off x="5702618" y="370474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569CD6"/>
                  </a:solidFill>
                  <a:latin typeface="Consolas"/>
                  <a:ea typeface="Microsoft YaHei"/>
                  <a:cs typeface="Consolas"/>
                </a:rPr>
                <a:t>int</a:t>
              </a:r>
              <a:endParaRPr/>
            </a:p>
          </p:txBody>
        </p:sp>
        <p:sp>
          <p:nvSpPr>
            <p:cNvPr id="83" name="TextBox 83"/>
            <p:cNvSpPr txBox="1"/>
            <p:nvPr/>
          </p:nvSpPr>
          <p:spPr bwMode="auto">
            <a:xfrm>
              <a:off x="5940742" y="3704749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j</a:t>
              </a:r>
              <a:endParaRPr/>
            </a:p>
          </p:txBody>
        </p:sp>
        <p:sp>
          <p:nvSpPr>
            <p:cNvPr id="84" name="TextBox 84"/>
            <p:cNvSpPr txBox="1"/>
            <p:nvPr/>
          </p:nvSpPr>
          <p:spPr bwMode="auto">
            <a:xfrm>
              <a:off x="6035992" y="3704749"/>
              <a:ext cx="10286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0; j &lt; 8; j++)</a:t>
              </a:r>
              <a:endParaRPr/>
            </a:p>
          </p:txBody>
        </p:sp>
        <p:sp>
          <p:nvSpPr>
            <p:cNvPr id="85" name="TextBox 85"/>
            <p:cNvSpPr txBox="1"/>
            <p:nvPr/>
          </p:nvSpPr>
          <p:spPr bwMode="auto">
            <a:xfrm>
              <a:off x="4750118" y="3942874"/>
              <a:ext cx="110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11</a:t>
              </a:r>
              <a:endParaRPr/>
            </a:p>
          </p:txBody>
        </p:sp>
        <p:sp>
          <p:nvSpPr>
            <p:cNvPr id="86" name="TextBox 86"/>
            <p:cNvSpPr txBox="1"/>
            <p:nvPr/>
          </p:nvSpPr>
          <p:spPr bwMode="auto">
            <a:xfrm>
              <a:off x="5464492" y="39428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if</a:t>
              </a:r>
              <a:endParaRPr/>
            </a:p>
          </p:txBody>
        </p:sp>
        <p:sp>
          <p:nvSpPr>
            <p:cNvPr id="87" name="TextBox 87"/>
            <p:cNvSpPr txBox="1"/>
            <p:nvPr/>
          </p:nvSpPr>
          <p:spPr bwMode="auto">
            <a:xfrm>
              <a:off x="5654992" y="39428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(crc &amp; 1)</a:t>
              </a:r>
              <a:endParaRPr/>
            </a:p>
          </p:txBody>
        </p:sp>
        <p:sp>
          <p:nvSpPr>
            <p:cNvPr id="88" name="TextBox 88"/>
            <p:cNvSpPr txBox="1"/>
            <p:nvPr/>
          </p:nvSpPr>
          <p:spPr bwMode="auto">
            <a:xfrm>
              <a:off x="4750118" y="41809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12</a:t>
              </a:r>
              <a:endParaRPr/>
            </a:p>
          </p:txBody>
        </p:sp>
        <p:sp>
          <p:nvSpPr>
            <p:cNvPr id="89" name="TextBox 89"/>
            <p:cNvSpPr txBox="1"/>
            <p:nvPr/>
          </p:nvSpPr>
          <p:spPr bwMode="auto">
            <a:xfrm>
              <a:off x="5607368" y="41809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crc</a:t>
              </a:r>
              <a:endParaRPr/>
            </a:p>
          </p:txBody>
        </p:sp>
        <p:sp>
          <p:nvSpPr>
            <p:cNvPr id="90" name="TextBox 90"/>
            <p:cNvSpPr txBox="1"/>
            <p:nvPr/>
          </p:nvSpPr>
          <p:spPr bwMode="auto">
            <a:xfrm>
              <a:off x="5845492" y="41809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= (crc &gt;&gt; 1) ^ target;</a:t>
              </a:r>
              <a:endParaRPr/>
            </a:p>
          </p:txBody>
        </p:sp>
        <p:sp>
          <p:nvSpPr>
            <p:cNvPr id="91" name="TextBox 91"/>
            <p:cNvSpPr txBox="1"/>
            <p:nvPr/>
          </p:nvSpPr>
          <p:spPr bwMode="auto">
            <a:xfrm>
              <a:off x="4750118" y="44191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13</a:t>
              </a:r>
              <a:endParaRPr/>
            </a:p>
          </p:txBody>
        </p:sp>
        <p:sp>
          <p:nvSpPr>
            <p:cNvPr id="92" name="TextBox 92"/>
            <p:cNvSpPr txBox="1"/>
            <p:nvPr/>
          </p:nvSpPr>
          <p:spPr bwMode="auto">
            <a:xfrm>
              <a:off x="5464492" y="4419124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C586C0"/>
                  </a:solidFill>
                  <a:latin typeface="Consolas"/>
                  <a:ea typeface="Microsoft YaHei"/>
                  <a:cs typeface="Consolas"/>
                </a:rPr>
                <a:t>else</a:t>
              </a:r>
              <a:endParaRPr/>
            </a:p>
          </p:txBody>
        </p:sp>
        <p:sp>
          <p:nvSpPr>
            <p:cNvPr id="93" name="TextBox 93"/>
            <p:cNvSpPr txBox="1"/>
            <p:nvPr/>
          </p:nvSpPr>
          <p:spPr bwMode="auto">
            <a:xfrm>
              <a:off x="4750118" y="46572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14</a:t>
              </a:r>
              <a:endParaRPr/>
            </a:p>
          </p:txBody>
        </p:sp>
        <p:sp>
          <p:nvSpPr>
            <p:cNvPr id="94" name="TextBox 94"/>
            <p:cNvSpPr txBox="1"/>
            <p:nvPr/>
          </p:nvSpPr>
          <p:spPr bwMode="auto">
            <a:xfrm>
              <a:off x="5607368" y="46572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9CDCFE"/>
                  </a:solidFill>
                  <a:latin typeface="Consolas"/>
                  <a:ea typeface="Microsoft YaHei"/>
                  <a:cs typeface="Consolas"/>
                </a:rPr>
                <a:t>crc</a:t>
              </a:r>
              <a:endParaRPr/>
            </a:p>
          </p:txBody>
        </p:sp>
        <p:sp>
          <p:nvSpPr>
            <p:cNvPr id="95" name="TextBox 95"/>
            <p:cNvSpPr txBox="1"/>
            <p:nvPr/>
          </p:nvSpPr>
          <p:spPr bwMode="auto">
            <a:xfrm>
              <a:off x="5845492" y="4657249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&gt;&gt;= 1;</a:t>
              </a:r>
              <a:endParaRPr/>
            </a:p>
          </p:txBody>
        </p:sp>
        <p:sp>
          <p:nvSpPr>
            <p:cNvPr id="96" name="TextBox 96"/>
            <p:cNvSpPr txBox="1"/>
            <p:nvPr/>
          </p:nvSpPr>
          <p:spPr bwMode="auto">
            <a:xfrm>
              <a:off x="4750118" y="48953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15</a:t>
              </a:r>
              <a:endParaRPr/>
            </a:p>
          </p:txBody>
        </p:sp>
        <p:sp>
          <p:nvSpPr>
            <p:cNvPr id="97" name="TextBox 97"/>
            <p:cNvSpPr txBox="1"/>
            <p:nvPr/>
          </p:nvSpPr>
          <p:spPr bwMode="auto">
            <a:xfrm>
              <a:off x="5321618" y="4895374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crc32_table[i] = crc;</a:t>
              </a:r>
              <a:endParaRPr/>
            </a:p>
          </p:txBody>
        </p:sp>
        <p:sp>
          <p:nvSpPr>
            <p:cNvPr id="98" name="TextBox 98"/>
            <p:cNvSpPr txBox="1"/>
            <p:nvPr/>
          </p:nvSpPr>
          <p:spPr bwMode="auto">
            <a:xfrm>
              <a:off x="4750118" y="5133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16</a:t>
              </a:r>
              <a:endParaRPr/>
            </a:p>
          </p:txBody>
        </p:sp>
        <p:sp>
          <p:nvSpPr>
            <p:cNvPr id="99" name="TextBox 99"/>
            <p:cNvSpPr txBox="1"/>
            <p:nvPr/>
          </p:nvSpPr>
          <p:spPr bwMode="auto">
            <a:xfrm>
              <a:off x="5178742" y="5133499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}</a:t>
              </a:r>
              <a:endParaRPr/>
            </a:p>
          </p:txBody>
        </p:sp>
        <p:sp>
          <p:nvSpPr>
            <p:cNvPr id="100" name="TextBox 100"/>
            <p:cNvSpPr txBox="1"/>
            <p:nvPr/>
          </p:nvSpPr>
          <p:spPr bwMode="auto">
            <a:xfrm>
              <a:off x="4750118" y="53716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17</a:t>
              </a:r>
              <a:endParaRPr/>
            </a:p>
          </p:txBody>
        </p:sp>
        <p:sp>
          <p:nvSpPr>
            <p:cNvPr id="101" name="TextBox 101"/>
            <p:cNvSpPr txBox="1"/>
            <p:nvPr/>
          </p:nvSpPr>
          <p:spPr bwMode="auto">
            <a:xfrm>
              <a:off x="5035868" y="5371624"/>
              <a:ext cx="1030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D4D4D4"/>
                  </a:solidFill>
                  <a:latin typeface="Consolas"/>
                  <a:ea typeface="Microsoft YaHei"/>
                  <a:cs typeface="Consolas"/>
                </a:rPr>
                <a:t>}</a:t>
              </a:r>
              <a:endParaRPr/>
            </a:p>
          </p:txBody>
        </p:sp>
        <p:sp>
          <p:nvSpPr>
            <p:cNvPr id="102" name="TextBox 102"/>
            <p:cNvSpPr txBox="1"/>
            <p:nvPr/>
          </p:nvSpPr>
          <p:spPr bwMode="auto">
            <a:xfrm>
              <a:off x="4750118" y="56097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858585"/>
                  </a:solidFill>
                  <a:latin typeface="Consolas"/>
                  <a:ea typeface="Microsoft YaHei"/>
                  <a:cs typeface="Consolas"/>
                </a:rPr>
                <a:t>18</a:t>
              </a:r>
              <a:endParaRPr/>
            </a:p>
          </p:txBody>
        </p:sp>
      </p:grpSp>
      <p:sp>
        <p:nvSpPr>
          <p:cNvPr id="939610764" name="Rectangle 104"/>
          <p:cNvSpPr/>
          <p:nvPr/>
        </p:nvSpPr>
        <p:spPr bwMode="auto">
          <a:xfrm>
            <a:off x="4476750" y="6096000"/>
            <a:ext cx="7143750" cy="333375"/>
          </a:xfrm>
          <a:prstGeom prst="roundRect">
            <a:avLst>
              <a:gd name="adj" fmla="val 17143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315741795" name="TextBox 105"/>
          <p:cNvSpPr txBox="1"/>
          <p:nvPr/>
        </p:nvSpPr>
        <p:spPr bwMode="auto">
          <a:xfrm>
            <a:off x="5833340" y="6201728"/>
            <a:ext cx="44305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 b="1">
                <a:solidFill>
                  <a:srgbClr val="1A73E8"/>
                </a:solidFill>
                <a:latin typeface="Arial"/>
                <a:ea typeface="Microsoft YaHei"/>
                <a:cs typeface="Arial"/>
              </a:rPr>
              <a:t>查表法将计算复杂度从 O(n×32) 降低到 O(n)，性能提升显著</a:t>
            </a:r>
            <a:endParaRPr/>
          </a:p>
        </p:txBody>
      </p:sp>
      <p:sp>
        <p:nvSpPr>
          <p:cNvPr id="1199064141" name="TextBox 106"/>
          <p:cNvSpPr txBox="1"/>
          <p:nvPr/>
        </p:nvSpPr>
        <p:spPr bwMode="auto"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517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48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85048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28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7728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0601" grpId="0"/>
      <p:bldP spid="1850480861" grpId="0"/>
      <p:bldP spid="3772869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699960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1117283325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787468819" name="Group 7"/>
          <p:cNvGrpSpPr/>
          <p:nvPr/>
        </p:nvGrpSpPr>
        <p:grpSpPr bwMode="auto">
          <a:xfrm>
            <a:off x="571500" y="523875"/>
            <a:ext cx="2796540" cy="590549"/>
            <a:chOff x="571500" y="523875"/>
            <a:chExt cx="2796540" cy="590549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97230" y="5353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系统演示</a:t>
              </a:r>
              <a:endParaRPr/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708660" y="870585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2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请在此处添加系统运行的实际截图</a:t>
              </a:r>
              <a:endParaRPr/>
            </a:p>
          </p:txBody>
        </p:sp>
      </p:grpSp>
      <p:sp>
        <p:nvSpPr>
          <p:cNvPr id="972948515" name="TextBox 9"/>
          <p:cNvSpPr txBox="1"/>
          <p:nvPr/>
        </p:nvSpPr>
        <p:spPr bwMode="auto">
          <a:xfrm>
            <a:off x="5295718" y="2916554"/>
            <a:ext cx="1600922" cy="3203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2100">
                <a:solidFill>
                  <a:srgbClr val="BDBDBD"/>
                </a:solidFill>
                <a:latin typeface="Georgia"/>
                <a:ea typeface="Microsoft YaHei"/>
                <a:cs typeface="Georgia"/>
              </a:rPr>
              <a:t>统运行截图</a:t>
            </a:r>
            <a:endParaRPr/>
          </a:p>
        </p:txBody>
      </p:sp>
      <p:sp>
        <p:nvSpPr>
          <p:cNvPr id="1273238530" name="TextBox 10"/>
          <p:cNvSpPr txBox="1"/>
          <p:nvPr/>
        </p:nvSpPr>
        <p:spPr bwMode="auto">
          <a:xfrm>
            <a:off x="5116830" y="3394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200">
                <a:solidFill>
                  <a:srgbClr val="BDBDBD"/>
                </a:solidFill>
                <a:latin typeface="Arial"/>
                <a:ea typeface="Microsoft YaHei"/>
                <a:cs typeface="Arial"/>
              </a:rPr>
              <a:t>请添加终端实际运行截图</a:t>
            </a:r>
            <a:endParaRPr/>
          </a:p>
        </p:txBody>
      </p:sp>
      <p:grpSp>
        <p:nvGrpSpPr>
          <p:cNvPr id="1614378275" name="Group 27"/>
          <p:cNvGrpSpPr/>
          <p:nvPr/>
        </p:nvGrpSpPr>
        <p:grpSpPr bwMode="auto">
          <a:xfrm>
            <a:off x="3143250" y="4095750"/>
            <a:ext cx="5905500" cy="819150"/>
            <a:chOff x="3143250" y="4095750"/>
            <a:chExt cx="5905500" cy="819150"/>
          </a:xfrm>
        </p:grpSpPr>
        <p:sp>
          <p:nvSpPr>
            <p:cNvPr id="11" name="Rectangle 11"/>
            <p:cNvSpPr/>
            <p:nvPr/>
          </p:nvSpPr>
          <p:spPr bwMode="auto">
            <a:xfrm>
              <a:off x="314325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1A73E8">
                <a:alpha val="10000"/>
              </a:srgbClr>
            </a:solidFill>
            <a:ln w="9525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3299460" y="42110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文件上传</a:t>
              </a:r>
              <a:endParaRPr/>
            </a:p>
          </p:txBody>
        </p:sp>
        <p:sp>
          <p:nvSpPr>
            <p:cNvPr id="13" name="Rectangle 13"/>
            <p:cNvSpPr/>
            <p:nvPr/>
          </p:nvSpPr>
          <p:spPr bwMode="auto">
            <a:xfrm>
              <a:off x="438150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4FC3F7">
                <a:alpha val="10000"/>
              </a:srgbClr>
            </a:solidFill>
            <a:ln w="9525">
              <a:solidFill>
                <a:srgbClr val="4FC3F7">
                  <a:alpha val="3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4537710" y="42110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文件下载</a:t>
              </a:r>
              <a:endParaRPr/>
            </a:p>
          </p:txBody>
        </p:sp>
        <p:sp>
          <p:nvSpPr>
            <p:cNvPr id="15" name="Rectangle 15"/>
            <p:cNvSpPr/>
            <p:nvPr/>
          </p:nvSpPr>
          <p:spPr bwMode="auto">
            <a:xfrm>
              <a:off x="561975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0D47A1">
                <a:alpha val="10000"/>
              </a:srgbClr>
            </a:solidFill>
            <a:ln w="9525">
              <a:solidFill>
                <a:srgbClr val="0D47A1">
                  <a:alpha val="3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5775960" y="42110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目录管理</a:t>
              </a:r>
              <a:endParaRPr/>
            </a:p>
          </p:txBody>
        </p:sp>
        <p:sp>
          <p:nvSpPr>
            <p:cNvPr id="17" name="Rectangle 17"/>
            <p:cNvSpPr/>
            <p:nvPr/>
          </p:nvSpPr>
          <p:spPr bwMode="auto">
            <a:xfrm>
              <a:off x="685800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FF6B35">
                <a:alpha val="10000"/>
              </a:srgbClr>
            </a:solidFill>
            <a:ln w="9525">
              <a:solidFill>
                <a:srgbClr val="FF6B35">
                  <a:alpha val="3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6937534" y="42110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文件重命名</a:t>
              </a:r>
              <a:endParaRPr/>
            </a:p>
          </p:txBody>
        </p:sp>
        <p:sp>
          <p:nvSpPr>
            <p:cNvPr id="19" name="Rectangle 19"/>
            <p:cNvSpPr/>
            <p:nvPr/>
          </p:nvSpPr>
          <p:spPr bwMode="auto">
            <a:xfrm>
              <a:off x="8096250" y="4095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4CAF50">
                <a:alpha val="10000"/>
              </a:srgbClr>
            </a:solidFill>
            <a:ln w="9525">
              <a:solidFill>
                <a:srgbClr val="4CAF50">
                  <a:alpha val="3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8175784" y="42110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进度条显示</a:t>
              </a:r>
              <a:endParaRPr/>
            </a:p>
          </p:txBody>
        </p:sp>
        <p:sp>
          <p:nvSpPr>
            <p:cNvPr id="21" name="Rectangle 21"/>
            <p:cNvSpPr/>
            <p:nvPr/>
          </p:nvSpPr>
          <p:spPr bwMode="auto">
            <a:xfrm>
              <a:off x="3810000" y="45720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>
                  <a:alpha val="30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3908108" y="46872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错误处理示例</a:t>
              </a:r>
              <a:endParaRPr/>
            </a:p>
          </p:txBody>
        </p:sp>
        <p:sp>
          <p:nvSpPr>
            <p:cNvPr id="23" name="Rectangle 23"/>
            <p:cNvSpPr/>
            <p:nvPr/>
          </p:nvSpPr>
          <p:spPr bwMode="auto">
            <a:xfrm>
              <a:off x="5334000" y="45720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9C27B0">
                <a:alpha val="10000"/>
              </a:srgbClr>
            </a:solidFill>
            <a:ln w="9525">
              <a:solidFill>
                <a:srgbClr val="9C27B0">
                  <a:alpha val="30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5432108" y="46872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9C27B0"/>
                  </a:solidFill>
                  <a:latin typeface="Arial"/>
                  <a:ea typeface="Microsoft YaHei"/>
                  <a:cs typeface="Arial"/>
                </a:rPr>
                <a:t>安全防护测试</a:t>
              </a:r>
              <a:endParaRPr/>
            </a:p>
          </p:txBody>
        </p:sp>
        <p:sp>
          <p:nvSpPr>
            <p:cNvPr id="25" name="Rectangle 25"/>
            <p:cNvSpPr/>
            <p:nvPr/>
          </p:nvSpPr>
          <p:spPr bwMode="auto">
            <a:xfrm>
              <a:off x="6858000" y="45720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A73E8">
                <a:alpha val="10000"/>
              </a:srgbClr>
            </a:solidFill>
            <a:ln w="9525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7032784" y="46872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大文件传输</a:t>
              </a:r>
              <a:endParaRPr/>
            </a:p>
          </p:txBody>
        </p:sp>
      </p:grpSp>
      <p:sp>
        <p:nvSpPr>
          <p:cNvPr id="1743069792" name="Rectangle 28"/>
          <p:cNvSpPr/>
          <p:nvPr/>
        </p:nvSpPr>
        <p:spPr bwMode="auto">
          <a:xfrm>
            <a:off x="571500" y="5715000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97651487" name="TextBox 30"/>
          <p:cNvSpPr txBox="1"/>
          <p:nvPr/>
        </p:nvSpPr>
        <p:spPr bwMode="auto">
          <a:xfrm>
            <a:off x="11326178" y="6586538"/>
            <a:ext cx="3038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14</a:t>
            </a:r>
            <a:endParaRPr/>
          </a:p>
        </p:txBody>
      </p:sp>
      <p:pic>
        <p:nvPicPr>
          <p:cNvPr id="11338736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819349"/>
            <a:ext cx="12191999" cy="315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46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8746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3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6143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7468819" grpId="0"/>
      <p:bldP spid="16143782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317564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94287269" name="Rectangle 3"/>
          <p:cNvSpPr/>
          <p:nvPr/>
        </p:nvSpPr>
        <p:spPr bwMode="auto">
          <a:xfrm>
            <a:off x="0" y="0"/>
            <a:ext cx="1219200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</p:sp>
      <p:grpSp>
        <p:nvGrpSpPr>
          <p:cNvPr id="111159064" name="Group 6"/>
          <p:cNvGrpSpPr/>
          <p:nvPr/>
        </p:nvGrpSpPr>
        <p:grpSpPr bwMode="auto">
          <a:xfrm>
            <a:off x="571500" y="523875"/>
            <a:ext cx="2111311" cy="438149"/>
            <a:chOff x="571500" y="523875"/>
            <a:chExt cx="2111311" cy="438149"/>
          </a:xfrm>
        </p:grpSpPr>
        <p:sp>
          <p:nvSpPr>
            <p:cNvPr id="4" name="Rectangle 4"/>
            <p:cNvSpPr/>
            <p:nvPr/>
          </p:nvSpPr>
          <p:spPr bwMode="auto">
            <a:xfrm>
              <a:off x="571500" y="523875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697230" y="53530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演示结果示例</a:t>
              </a:r>
              <a:endParaRPr/>
            </a:p>
          </p:txBody>
        </p:sp>
      </p:grpSp>
      <p:grpSp>
        <p:nvGrpSpPr>
          <p:cNvPr id="939708016" name="Group 18"/>
          <p:cNvGrpSpPr/>
          <p:nvPr/>
        </p:nvGrpSpPr>
        <p:grpSpPr bwMode="auto">
          <a:xfrm>
            <a:off x="571499" y="1125443"/>
            <a:ext cx="3524249" cy="4667249"/>
            <a:chOff x="0" y="0"/>
            <a:chExt cx="3524249" cy="4667249"/>
          </a:xfrm>
        </p:grpSpPr>
        <p:sp>
          <p:nvSpPr>
            <p:cNvPr id="7" name="Rectangle 7"/>
            <p:cNvSpPr/>
            <p:nvPr/>
          </p:nvSpPr>
          <p:spPr bwMode="auto">
            <a:xfrm>
              <a:off x="0" y="0"/>
              <a:ext cx="3524250" cy="4667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 bwMode="auto">
            <a:xfrm>
              <a:off x="0" y="1755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 bwMode="auto">
            <a:xfrm>
              <a:off x="285750" y="208055"/>
              <a:ext cx="285750" cy="285750"/>
            </a:xfrm>
            <a:prstGeom prst="ellipse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392286" y="294733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1</a:t>
              </a:r>
              <a:endParaRPr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649604" y="252823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35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文件上传演示</a:t>
              </a:r>
              <a:endParaRPr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827710" y="4103304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进度条 · 传输速率 · CRC校验</a:t>
              </a:r>
              <a:endParaRPr/>
            </a:p>
          </p:txBody>
        </p:sp>
      </p:grpSp>
      <p:grpSp>
        <p:nvGrpSpPr>
          <p:cNvPr id="590823218" name="Group 30"/>
          <p:cNvGrpSpPr/>
          <p:nvPr/>
        </p:nvGrpSpPr>
        <p:grpSpPr bwMode="auto">
          <a:xfrm>
            <a:off x="4333874" y="1333499"/>
            <a:ext cx="3524249" cy="4667249"/>
            <a:chOff x="0" y="0"/>
            <a:chExt cx="3524249" cy="4667249"/>
          </a:xfrm>
        </p:grpSpPr>
        <p:sp>
          <p:nvSpPr>
            <p:cNvPr id="19" name="Rectangle 19"/>
            <p:cNvSpPr/>
            <p:nvPr/>
          </p:nvSpPr>
          <p:spPr bwMode="auto">
            <a:xfrm>
              <a:off x="0" y="0"/>
              <a:ext cx="3524250" cy="4667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Rectangle 20"/>
            <p:cNvSpPr/>
            <p:nvPr/>
          </p:nvSpPr>
          <p:spPr bwMode="auto">
            <a:xfrm>
              <a:off x="0" y="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 bwMode="auto">
            <a:xfrm>
              <a:off x="285749" y="190499"/>
              <a:ext cx="285750" cy="285750"/>
            </a:xfrm>
            <a:prstGeom prst="ellipse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373117" y="277177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0D47A1"/>
                  </a:solidFill>
                  <a:latin typeface="Arial"/>
                  <a:ea typeface="Microsoft YaHei"/>
                  <a:cs typeface="Arial"/>
                </a:rPr>
                <a:t>2</a:t>
              </a: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649604" y="235267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35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目录列出演示</a:t>
              </a:r>
              <a:endParaRPr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1308735" y="2156459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200">
                  <a:solidFill>
                    <a:srgbClr val="BDBDBD"/>
                  </a:solidFill>
                  <a:latin typeface="Arial"/>
                  <a:ea typeface="Microsoft YaHei"/>
                  <a:cs typeface="Arial"/>
                </a:rPr>
                <a:t>请添加截图</a:t>
              </a: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1343905" y="2561748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list命令输出</a:t>
              </a:r>
              <a:endParaRPr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1037748" y="2799873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文件类型、大小、时间</a:t>
              </a:r>
              <a:endParaRPr/>
            </a:p>
          </p:txBody>
        </p:sp>
        <p:sp>
          <p:nvSpPr>
            <p:cNvPr id="28" name="TextBox 28"/>
            <p:cNvSpPr txBox="1"/>
            <p:nvPr/>
          </p:nvSpPr>
          <p:spPr bwMode="auto">
            <a:xfrm>
              <a:off x="1251346" y="3037998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子目录内容展示</a:t>
              </a: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802791" y="4085748"/>
              <a:ext cx="19186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文件信息 · 类型标识 · 时间戳</a:t>
              </a:r>
              <a:endParaRPr/>
            </a:p>
          </p:txBody>
        </p:sp>
      </p:grpSp>
      <p:grpSp>
        <p:nvGrpSpPr>
          <p:cNvPr id="1717747215" name="Group 42"/>
          <p:cNvGrpSpPr/>
          <p:nvPr/>
        </p:nvGrpSpPr>
        <p:grpSpPr bwMode="auto">
          <a:xfrm>
            <a:off x="8096249" y="1068293"/>
            <a:ext cx="3524249" cy="4667249"/>
            <a:chOff x="0" y="0"/>
            <a:chExt cx="3524249" cy="4667249"/>
          </a:xfrm>
        </p:grpSpPr>
        <p:sp>
          <p:nvSpPr>
            <p:cNvPr id="31" name="Rectangle 31"/>
            <p:cNvSpPr/>
            <p:nvPr/>
          </p:nvSpPr>
          <p:spPr bwMode="auto">
            <a:xfrm>
              <a:off x="0" y="0"/>
              <a:ext cx="3524250" cy="466725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2" name="Rectangle 32"/>
            <p:cNvSpPr/>
            <p:nvPr/>
          </p:nvSpPr>
          <p:spPr bwMode="auto">
            <a:xfrm>
              <a:off x="0" y="0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 bwMode="auto">
            <a:xfrm>
              <a:off x="285750" y="190499"/>
              <a:ext cx="285750" cy="285750"/>
            </a:xfrm>
            <a:prstGeom prst="ellipse">
              <a:avLst/>
            </a:prstGeom>
            <a:solidFill>
              <a:srgbClr val="FDE8E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 bwMode="auto">
            <a:xfrm>
              <a:off x="373117" y="277177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5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3</a:t>
              </a:r>
              <a:endParaRPr/>
            </a:p>
          </p:txBody>
        </p:sp>
        <p:sp>
          <p:nvSpPr>
            <p:cNvPr id="35" name="TextBox 35"/>
            <p:cNvSpPr txBox="1"/>
            <p:nvPr/>
          </p:nvSpPr>
          <p:spPr bwMode="auto">
            <a:xfrm>
              <a:off x="649604" y="235267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350" b="1">
                  <a:solidFill>
                    <a:srgbClr val="333333"/>
                  </a:solidFill>
                  <a:latin typeface="Georgia"/>
                  <a:ea typeface="Microsoft YaHei"/>
                  <a:cs typeface="Georgia"/>
                </a:rPr>
                <a:t>大文件传输演示</a:t>
              </a:r>
              <a:endParaRPr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1251346" y="2799873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实时进度和速率</a:t>
              </a:r>
              <a:endParaRPr/>
            </a:p>
          </p:txBody>
        </p:sp>
        <p:sp>
          <p:nvSpPr>
            <p:cNvPr id="40" name="TextBox 40"/>
            <p:cNvSpPr txBox="1"/>
            <p:nvPr/>
          </p:nvSpPr>
          <p:spPr bwMode="auto">
            <a:xfrm>
              <a:off x="1251346" y="3037998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完整性校验结果</a:t>
              </a:r>
              <a:endParaRPr/>
            </a:p>
          </p:txBody>
        </p:sp>
        <p:sp>
          <p:nvSpPr>
            <p:cNvPr id="41" name="TextBox 41"/>
            <p:cNvSpPr txBox="1"/>
            <p:nvPr/>
          </p:nvSpPr>
          <p:spPr bwMode="auto">
            <a:xfrm>
              <a:off x="713791" y="4085748"/>
              <a:ext cx="20966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00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2MB+文件 · 分块传输 · cmp验证</a:t>
              </a:r>
              <a:endParaRPr/>
            </a:p>
          </p:txBody>
        </p:sp>
      </p:grpSp>
      <p:sp>
        <p:nvSpPr>
          <p:cNvPr id="247836399" name="Rectangle 43"/>
          <p:cNvSpPr/>
          <p:nvPr/>
        </p:nvSpPr>
        <p:spPr bwMode="auto">
          <a:xfrm>
            <a:off x="571500" y="6096000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</p:sp>
      <p:sp>
        <p:nvSpPr>
          <p:cNvPr id="57694766" name="TextBox 44"/>
          <p:cNvSpPr txBox="1"/>
          <p:nvPr/>
        </p:nvSpPr>
        <p:spPr bwMode="auto">
          <a:xfrm>
            <a:off x="3552349" y="6230302"/>
            <a:ext cx="50873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提示：截图应展示系统实际运行状态，包含命令输入、处理过程和结果输出</a:t>
            </a:r>
            <a:endParaRPr/>
          </a:p>
        </p:txBody>
      </p:sp>
      <p:sp>
        <p:nvSpPr>
          <p:cNvPr id="2015951543" name="TextBox 45"/>
          <p:cNvSpPr txBox="1"/>
          <p:nvPr/>
        </p:nvSpPr>
        <p:spPr bwMode="auto"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14</a:t>
            </a:r>
            <a:endParaRPr/>
          </a:p>
        </p:txBody>
      </p:sp>
      <p:pic>
        <p:nvPicPr>
          <p:cNvPr id="9979644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68039" y="182468"/>
            <a:ext cx="5827827" cy="2152649"/>
          </a:xfrm>
          <a:prstGeom prst="rect">
            <a:avLst/>
          </a:prstGeom>
        </p:spPr>
      </p:pic>
      <p:pic>
        <p:nvPicPr>
          <p:cNvPr id="35460432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845550" y="4232433"/>
            <a:ext cx="8500897" cy="2276474"/>
          </a:xfrm>
          <a:prstGeom prst="rect">
            <a:avLst/>
          </a:prstGeom>
        </p:spPr>
      </p:pic>
      <p:pic>
        <p:nvPicPr>
          <p:cNvPr id="170742877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754599" y="2120806"/>
            <a:ext cx="9010649" cy="2409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5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115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70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93970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2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8" dur="400"/>
                                        <p:tgtEl>
                                          <p:spTgt spid="59082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74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71774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96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7964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97964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4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074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074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60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604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54604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159064" grpId="0"/>
      <p:bldP spid="939708016" grpId="0"/>
      <p:bldP spid="590823218" grpId="0"/>
      <p:bldP spid="17177472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588249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1552105766" name="Rectangle 3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CAF50">
                  <a:alpha val="8000"/>
                </a:srgbClr>
              </a:gs>
              <a:gs pos="100000">
                <a:srgbClr val="4CAF50">
                  <a:alpha val="0"/>
                </a:srgbClr>
              </a:gs>
            </a:gsLst>
            <a:path path="circle"/>
          </a:gradFill>
          <a:ln>
            <a:noFill/>
          </a:ln>
        </p:spPr>
      </p:sp>
      <p:grpSp>
        <p:nvGrpSpPr>
          <p:cNvPr id="2112716298" name="Group 8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Line 4"/>
            <p:cNvSpPr/>
            <p:nvPr/>
          </p:nvSpPr>
          <p:spPr bwMode="auto"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 fill="norm" stroke="1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 bwMode="auto"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 fill="norm" stroke="1" extrusionOk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 bwMode="auto">
            <a:xfrm>
              <a:off x="409575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 fill="norm" stroke="1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 bwMode="auto">
            <a:xfrm>
              <a:off x="819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 fill="norm" stroke="1" extrusionOk="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4FC3F7">
                  <a:alpha val="3000"/>
                </a:srgbClr>
              </a:solidFill>
            </a:ln>
          </p:spPr>
        </p:sp>
      </p:grpSp>
      <p:grpSp>
        <p:nvGrpSpPr>
          <p:cNvPr id="581615959" name="Group 11"/>
          <p:cNvGrpSpPr/>
          <p:nvPr/>
        </p:nvGrpSpPr>
        <p:grpSpPr bwMode="auto">
          <a:xfrm>
            <a:off x="571500" y="381000"/>
            <a:ext cx="2111311" cy="438149"/>
            <a:chOff x="571500" y="381000"/>
            <a:chExt cx="2111311" cy="438149"/>
          </a:xfrm>
        </p:grpSpPr>
        <p:sp>
          <p:nvSpPr>
            <p:cNvPr id="9" name="Rectangle 9"/>
            <p:cNvSpPr/>
            <p:nvPr/>
          </p:nvSpPr>
          <p:spPr bwMode="auto">
            <a:xfrm>
              <a:off x="571500" y="381000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697230" y="392430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21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集成测试结果</a:t>
              </a:r>
              <a:endParaRPr/>
            </a:p>
          </p:txBody>
        </p:sp>
      </p:grpSp>
      <p:grpSp>
        <p:nvGrpSpPr>
          <p:cNvPr id="760142667" name="Group 54"/>
          <p:cNvGrpSpPr/>
          <p:nvPr/>
        </p:nvGrpSpPr>
        <p:grpSpPr bwMode="auto">
          <a:xfrm>
            <a:off x="571500" y="904875"/>
            <a:ext cx="5186839" cy="2664619"/>
            <a:chOff x="571500" y="904875"/>
            <a:chExt cx="5186839" cy="2664619"/>
          </a:xfrm>
        </p:grpSpPr>
        <p:grpSp>
          <p:nvGrpSpPr>
            <p:cNvPr id="15" name="Group 15"/>
            <p:cNvGrpSpPr/>
            <p:nvPr/>
          </p:nvGrpSpPr>
          <p:grpSpPr bwMode="auto">
            <a:xfrm>
              <a:off x="571500" y="904875"/>
              <a:ext cx="1467802" cy="300037"/>
              <a:chOff x="571500" y="904875"/>
              <a:chExt cx="1467802" cy="300037"/>
            </a:xfrm>
          </p:grpSpPr>
          <p:sp>
            <p:nvSpPr>
              <p:cNvPr id="12" name="Ellipse 12"/>
              <p:cNvSpPr/>
              <p:nvPr/>
            </p:nvSpPr>
            <p:spPr bwMode="auto">
              <a:xfrm>
                <a:off x="571500" y="9048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656759" y="9915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14" name="TextBox 14"/>
              <p:cNvSpPr txBox="1"/>
              <p:nvPr/>
            </p:nvSpPr>
            <p:spPr bwMode="auto">
              <a:xfrm>
                <a:off x="939165" y="982028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mkdir 创建目录</a:t>
                </a: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 bwMode="auto">
            <a:xfrm>
              <a:off x="2952750" y="904875"/>
              <a:ext cx="1161097" cy="300037"/>
              <a:chOff x="2952750" y="904875"/>
              <a:chExt cx="1161097" cy="300037"/>
            </a:xfrm>
          </p:grpSpPr>
          <p:sp>
            <p:nvSpPr>
              <p:cNvPr id="16" name="Ellipse 16"/>
              <p:cNvSpPr/>
              <p:nvPr/>
            </p:nvSpPr>
            <p:spPr bwMode="auto">
              <a:xfrm>
                <a:off x="2952750" y="9048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 bwMode="auto">
              <a:xfrm>
                <a:off x="3038009" y="9915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 bwMode="auto">
              <a:xfrm>
                <a:off x="3320415" y="982028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单文件上传</a:t>
                </a: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 bwMode="auto">
            <a:xfrm>
              <a:off x="571500" y="1333500"/>
              <a:ext cx="1161097" cy="300038"/>
              <a:chOff x="571500" y="1333500"/>
              <a:chExt cx="1161097" cy="300038"/>
            </a:xfrm>
          </p:grpSpPr>
          <p:sp>
            <p:nvSpPr>
              <p:cNvPr id="20" name="Ellipse 20"/>
              <p:cNvSpPr/>
              <p:nvPr/>
            </p:nvSpPr>
            <p:spPr bwMode="auto">
              <a:xfrm>
                <a:off x="571500" y="133350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 bwMode="auto">
              <a:xfrm>
                <a:off x="656759" y="14201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939165" y="141065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多文件上传</a:t>
                </a: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 bwMode="auto">
            <a:xfrm>
              <a:off x="2952750" y="1333500"/>
              <a:ext cx="1007745" cy="300038"/>
              <a:chOff x="2952750" y="1333500"/>
              <a:chExt cx="1007745" cy="300038"/>
            </a:xfrm>
          </p:grpSpPr>
          <p:sp>
            <p:nvSpPr>
              <p:cNvPr id="24" name="Ellipse 24"/>
              <p:cNvSpPr/>
              <p:nvPr/>
            </p:nvSpPr>
            <p:spPr bwMode="auto">
              <a:xfrm>
                <a:off x="2952750" y="133350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3038009" y="14201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26" name="TextBox 26"/>
              <p:cNvSpPr txBox="1"/>
              <p:nvPr/>
            </p:nvSpPr>
            <p:spPr bwMode="auto">
              <a:xfrm>
                <a:off x="3320415" y="14106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文件下载</a:t>
                </a: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 bwMode="auto">
            <a:xfrm>
              <a:off x="571500" y="1762125"/>
              <a:ext cx="1007745" cy="300037"/>
              <a:chOff x="571500" y="1762125"/>
              <a:chExt cx="1007745" cy="300037"/>
            </a:xfrm>
          </p:grpSpPr>
          <p:sp>
            <p:nvSpPr>
              <p:cNvPr id="28" name="Ellipse 28"/>
              <p:cNvSpPr/>
              <p:nvPr/>
            </p:nvSpPr>
            <p:spPr bwMode="auto">
              <a:xfrm>
                <a:off x="571500" y="176212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 bwMode="auto">
              <a:xfrm>
                <a:off x="656759" y="18488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939165" y="18392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列根目录</a:t>
                </a: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 bwMode="auto">
            <a:xfrm>
              <a:off x="2952750" y="1762125"/>
              <a:ext cx="1007745" cy="300037"/>
              <a:chOff x="2952750" y="1762125"/>
              <a:chExt cx="1007745" cy="300037"/>
            </a:xfrm>
          </p:grpSpPr>
          <p:sp>
            <p:nvSpPr>
              <p:cNvPr id="32" name="Ellipse 32"/>
              <p:cNvSpPr/>
              <p:nvPr/>
            </p:nvSpPr>
            <p:spPr bwMode="auto">
              <a:xfrm>
                <a:off x="2952750" y="176212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3038009" y="18488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3320415" y="18392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列子目录</a:t>
                </a: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 bwMode="auto">
            <a:xfrm>
              <a:off x="571500" y="2190750"/>
              <a:ext cx="1161097" cy="300038"/>
              <a:chOff x="571500" y="2190750"/>
              <a:chExt cx="1161097" cy="300038"/>
            </a:xfrm>
          </p:grpSpPr>
          <p:sp>
            <p:nvSpPr>
              <p:cNvPr id="36" name="Ellipse 36"/>
              <p:cNvSpPr/>
              <p:nvPr/>
            </p:nvSpPr>
            <p:spPr bwMode="auto">
              <a:xfrm>
                <a:off x="571500" y="219075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656759" y="227742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38" name="TextBox 38"/>
              <p:cNvSpPr txBox="1"/>
              <p:nvPr/>
            </p:nvSpPr>
            <p:spPr bwMode="auto">
              <a:xfrm>
                <a:off x="939165" y="226790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文件重命名</a:t>
                </a: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 bwMode="auto">
            <a:xfrm>
              <a:off x="2952750" y="2190750"/>
              <a:ext cx="1398794" cy="300038"/>
              <a:chOff x="2952750" y="2190750"/>
              <a:chExt cx="1398794" cy="300038"/>
            </a:xfrm>
          </p:grpSpPr>
          <p:sp>
            <p:nvSpPr>
              <p:cNvPr id="40" name="Ellipse 40"/>
              <p:cNvSpPr/>
              <p:nvPr/>
            </p:nvSpPr>
            <p:spPr bwMode="auto">
              <a:xfrm>
                <a:off x="2952750" y="2190750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 bwMode="auto">
              <a:xfrm>
                <a:off x="3038009" y="227742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3320415" y="2267902"/>
                <a:ext cx="10311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删除文件/目录</a:t>
                </a: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 bwMode="auto">
            <a:xfrm>
              <a:off x="571500" y="2619375"/>
              <a:ext cx="1314450" cy="300037"/>
              <a:chOff x="571500" y="2619375"/>
              <a:chExt cx="1314450" cy="300037"/>
            </a:xfrm>
          </p:grpSpPr>
          <p:sp>
            <p:nvSpPr>
              <p:cNvPr id="44" name="Ellipse 44"/>
              <p:cNvSpPr/>
              <p:nvPr/>
            </p:nvSpPr>
            <p:spPr bwMode="auto">
              <a:xfrm>
                <a:off x="571500" y="26193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656759" y="27060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46" name="TextBox 46"/>
              <p:cNvSpPr txBox="1"/>
              <p:nvPr/>
            </p:nvSpPr>
            <p:spPr bwMode="auto">
              <a:xfrm>
                <a:off x="939165" y="2696528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路径遍历防护</a:t>
                </a: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 bwMode="auto">
            <a:xfrm>
              <a:off x="2952750" y="2619375"/>
              <a:ext cx="1659493" cy="300037"/>
              <a:chOff x="2952750" y="2619375"/>
              <a:chExt cx="1659493" cy="300037"/>
            </a:xfrm>
          </p:grpSpPr>
          <p:sp>
            <p:nvSpPr>
              <p:cNvPr id="48" name="Ellipse 48"/>
              <p:cNvSpPr/>
              <p:nvPr/>
            </p:nvSpPr>
            <p:spPr bwMode="auto">
              <a:xfrm>
                <a:off x="2952750" y="2619375"/>
                <a:ext cx="285750" cy="285750"/>
              </a:xfrm>
              <a:prstGeom prst="ellipse">
                <a:avLst/>
              </a:prstGeom>
              <a:solidFill>
                <a:srgbClr val="4CAF5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 bwMode="auto">
              <a:xfrm>
                <a:off x="3038009" y="27060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defRPr/>
                </a:pPr>
                <a:r>
                  <a:rPr lang="zh-CN" sz="1050" b="1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  <a:endParaRPr/>
              </a:p>
            </p:txBody>
          </p:sp>
          <p:sp>
            <p:nvSpPr>
              <p:cNvPr id="50" name="TextBox 50"/>
              <p:cNvSpPr txBox="1"/>
              <p:nvPr/>
            </p:nvSpPr>
            <p:spPr bwMode="auto">
              <a:xfrm>
                <a:off x="3320415" y="2696528"/>
                <a:ext cx="1291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defRPr/>
                </a:pPr>
                <a:r>
                  <a:rPr lang="zh-CN" sz="105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大文件传输 (2MB)</a:t>
                </a: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 bwMode="auto">
            <a:xfrm>
              <a:off x="749618" y="3133249"/>
              <a:ext cx="50087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测试覆盖：文件上传、下载、目录管理、重命名、删除、安全防护、大文件传输</a:t>
              </a:r>
              <a:endParaRPr/>
            </a:p>
          </p:txBody>
        </p:sp>
        <p:sp>
          <p:nvSpPr>
            <p:cNvPr id="53" name="TextBox 53"/>
            <p:cNvSpPr txBox="1"/>
            <p:nvPr/>
          </p:nvSpPr>
          <p:spPr bwMode="auto">
            <a:xfrm>
              <a:off x="749618" y="3371374"/>
              <a:ext cx="4275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0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数据完整性验证：cmp命令逐字节对比，确保传输前后内容完全一致</a:t>
              </a:r>
              <a:endParaRPr/>
            </a:p>
          </p:txBody>
        </p:sp>
      </p:grpSp>
      <p:grpSp>
        <p:nvGrpSpPr>
          <p:cNvPr id="1143880555" name="Group 61"/>
          <p:cNvGrpSpPr/>
          <p:nvPr/>
        </p:nvGrpSpPr>
        <p:grpSpPr bwMode="auto">
          <a:xfrm>
            <a:off x="5715000" y="904875"/>
            <a:ext cx="5905500" cy="2857500"/>
            <a:chOff x="5715000" y="904875"/>
            <a:chExt cx="5905500" cy="2857500"/>
          </a:xfrm>
        </p:grpSpPr>
        <p:sp>
          <p:nvSpPr>
            <p:cNvPr id="55" name="Rectangle 55"/>
            <p:cNvSpPr/>
            <p:nvPr/>
          </p:nvSpPr>
          <p:spPr bwMode="auto">
            <a:xfrm>
              <a:off x="5715000" y="904875"/>
              <a:ext cx="5905500" cy="2857500"/>
            </a:xfrm>
            <a:prstGeom prst="roundRect">
              <a:avLst>
                <a:gd name="adj" fmla="val 4000"/>
              </a:avLst>
            </a:prstGeom>
            <a:solidFill>
              <a:srgbClr val="0D47A1">
                <a:alpha val="3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 bwMode="auto">
            <a:xfrm>
              <a:off x="7887700" y="12506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65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测试结果汇总</a:t>
              </a:r>
              <a:endParaRPr/>
            </a:p>
          </p:txBody>
        </p:sp>
        <p:sp>
          <p:nvSpPr>
            <p:cNvPr id="57" name="TextBox 57"/>
            <p:cNvSpPr txBox="1"/>
            <p:nvPr/>
          </p:nvSpPr>
          <p:spPr bwMode="auto">
            <a:xfrm>
              <a:off x="7334155" y="1889760"/>
              <a:ext cx="266719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7200" b="1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10/10</a:t>
              </a:r>
              <a:endParaRPr/>
            </a:p>
          </p:txBody>
        </p:sp>
        <p:sp>
          <p:nvSpPr>
            <p:cNvPr id="58" name="TextBox 58"/>
            <p:cNvSpPr txBox="1"/>
            <p:nvPr/>
          </p:nvSpPr>
          <p:spPr bwMode="auto">
            <a:xfrm>
              <a:off x="8092821" y="294894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800" b="1">
                  <a:solidFill>
                    <a:srgbClr val="4CAF50"/>
                  </a:solidFill>
                  <a:latin typeface="Arial"/>
                  <a:ea typeface="Microsoft YaHei"/>
                  <a:cs typeface="Arial"/>
                </a:rPr>
                <a:t>全部通过</a:t>
              </a:r>
              <a:endParaRPr/>
            </a:p>
          </p:txBody>
        </p:sp>
        <p:sp>
          <p:nvSpPr>
            <p:cNvPr id="59" name="Rectangle 59"/>
            <p:cNvSpPr/>
            <p:nvPr/>
          </p:nvSpPr>
          <p:spPr bwMode="auto">
            <a:xfrm>
              <a:off x="6477000" y="3333750"/>
              <a:ext cx="4381500" cy="76200"/>
            </a:xfrm>
            <a:prstGeom prst="roundRect">
              <a:avLst>
                <a:gd name="adj" fmla="val 50000"/>
              </a:avLst>
            </a:prstGeom>
            <a:solidFill>
              <a:srgbClr val="1A3A5C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 bwMode="auto">
            <a:xfrm>
              <a:off x="6477000" y="3333750"/>
              <a:ext cx="4381500" cy="7620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</p:grpSp>
      <p:sp>
        <p:nvSpPr>
          <p:cNvPr id="2074198284" name="Rectangle 62"/>
          <p:cNvSpPr/>
          <p:nvPr/>
        </p:nvSpPr>
        <p:spPr bwMode="auto">
          <a:xfrm>
            <a:off x="571500" y="409575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0D47A1">
              <a:alpha val="30000"/>
            </a:srgbClr>
          </a:solidFill>
          <a:ln>
            <a:noFill/>
          </a:ln>
        </p:spPr>
      </p:sp>
      <p:sp>
        <p:nvSpPr>
          <p:cNvPr id="1098033288" name="TextBox 63"/>
          <p:cNvSpPr txBox="1"/>
          <p:nvPr/>
        </p:nvSpPr>
        <p:spPr bwMode="auto">
          <a:xfrm>
            <a:off x="5712714" y="42995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2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测试环境</a:t>
            </a:r>
            <a:endParaRPr/>
          </a:p>
        </p:txBody>
      </p:sp>
      <p:sp>
        <p:nvSpPr>
          <p:cNvPr id="520326218" name="TextBox 64"/>
          <p:cNvSpPr txBox="1"/>
          <p:nvPr/>
        </p:nvSpPr>
        <p:spPr bwMode="auto">
          <a:xfrm>
            <a:off x="4123587" y="4601528"/>
            <a:ext cx="3944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>
                <a:solidFill>
                  <a:srgbClr val="B0BEC5"/>
                </a:solidFill>
                <a:latin typeface="Consolas"/>
                <a:ea typeface="Microsoft YaHei"/>
                <a:cs typeface="Consolas"/>
              </a:rPr>
              <a:t>Arch Linux | GCC 16.1.1 | C11 Standard | 127.0.0.1:18888</a:t>
            </a:r>
            <a:endParaRPr/>
          </a:p>
        </p:txBody>
      </p:sp>
      <p:sp>
        <p:nvSpPr>
          <p:cNvPr id="340401154" name="Rectangle 65"/>
          <p:cNvSpPr/>
          <p:nvPr/>
        </p:nvSpPr>
        <p:spPr bwMode="auto">
          <a:xfrm>
            <a:off x="0" y="6286500"/>
            <a:ext cx="12192000" cy="571500"/>
          </a:xfrm>
          <a:prstGeom prst="rect">
            <a:avLst/>
          </a:prstGeom>
          <a:solidFill>
            <a:srgbClr val="0D47A1">
              <a:alpha val="40000"/>
            </a:srgbClr>
          </a:solidFill>
          <a:ln>
            <a:noFill/>
          </a:ln>
        </p:spPr>
      </p:sp>
      <p:sp>
        <p:nvSpPr>
          <p:cNvPr id="346513969" name="TextBox 66"/>
          <p:cNvSpPr txBox="1"/>
          <p:nvPr/>
        </p:nvSpPr>
        <p:spPr bwMode="auto">
          <a:xfrm>
            <a:off x="4549140" y="6506528"/>
            <a:ext cx="3093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0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所有测试用例通过，系统功能完整、稳定可靠</a:t>
            </a:r>
            <a:endParaRPr/>
          </a:p>
        </p:txBody>
      </p:sp>
      <p:sp>
        <p:nvSpPr>
          <p:cNvPr id="1536508228" name="TextBox 67"/>
          <p:cNvSpPr txBox="1"/>
          <p:nvPr/>
        </p:nvSpPr>
        <p:spPr bwMode="auto"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13 / 14</a:t>
            </a:r>
            <a:endParaRPr/>
          </a:p>
        </p:txBody>
      </p:sp>
      <p:pic>
        <p:nvPicPr>
          <p:cNvPr id="306439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16645" y="0"/>
            <a:ext cx="535870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1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8161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14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400"/>
                                        <p:tgtEl>
                                          <p:spTgt spid="76014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8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2" dur="400"/>
                                        <p:tgtEl>
                                          <p:spTgt spid="114388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43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30643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15959" grpId="0"/>
      <p:bldP spid="760142667" grpId="0"/>
      <p:bldP spid="11438805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42368" name="Rectangle 2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3A5C"/>
              </a:gs>
            </a:gsLst>
            <a:lin ang="2700000" scaled="1"/>
          </a:gradFill>
          <a:ln>
            <a:noFill/>
          </a:ln>
        </p:spPr>
      </p:sp>
      <p:sp>
        <p:nvSpPr>
          <p:cNvPr id="1034717692" name="Rectangle 3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0000"/>
                </a:srgbClr>
              </a:gs>
              <a:gs pos="100000">
                <a:srgbClr val="1A73E8">
                  <a:alpha val="0"/>
                </a:srgbClr>
              </a:gs>
            </a:gsLst>
            <a:path path="circle"/>
          </a:gradFill>
          <a:ln>
            <a:noFill/>
          </a:ln>
        </p:spPr>
      </p:sp>
      <p:sp>
        <p:nvSpPr>
          <p:cNvPr id="1723792699" name="Ellipse 4"/>
          <p:cNvSpPr/>
          <p:nvPr/>
        </p:nvSpPr>
        <p:spPr bwMode="auto">
          <a:xfrm>
            <a:off x="952500" y="476250"/>
            <a:ext cx="1905000" cy="1905000"/>
          </a:xfrm>
          <a:prstGeom prst="ellipse">
            <a:avLst/>
          </a:prstGeom>
          <a:noFill/>
          <a:ln w="4762">
            <a:solidFill>
              <a:srgbClr val="4FC3F7">
                <a:alpha val="10000"/>
              </a:srgbClr>
            </a:solidFill>
          </a:ln>
        </p:spPr>
      </p:sp>
      <p:sp>
        <p:nvSpPr>
          <p:cNvPr id="1986660968" name="Ellipse 5"/>
          <p:cNvSpPr/>
          <p:nvPr/>
        </p:nvSpPr>
        <p:spPr bwMode="auto">
          <a:xfrm>
            <a:off x="9525000" y="4953000"/>
            <a:ext cx="1524000" cy="1524000"/>
          </a:xfrm>
          <a:prstGeom prst="ellipse">
            <a:avLst/>
          </a:prstGeom>
          <a:noFill/>
          <a:ln w="4762">
            <a:solidFill>
              <a:srgbClr val="1A73E8">
                <a:alpha val="10000"/>
              </a:srgbClr>
            </a:solidFill>
          </a:ln>
        </p:spPr>
      </p:sp>
      <p:sp>
        <p:nvSpPr>
          <p:cNvPr id="1623242216" name="TextBox 6"/>
          <p:cNvSpPr txBox="1"/>
          <p:nvPr/>
        </p:nvSpPr>
        <p:spPr bwMode="auto">
          <a:xfrm>
            <a:off x="4819555" y="756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2700" b="1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课程设计总结</a:t>
            </a:r>
            <a:endParaRPr/>
          </a:p>
        </p:txBody>
      </p:sp>
      <p:sp>
        <p:nvSpPr>
          <p:cNvPr id="2005356044" name="Line 7"/>
          <p:cNvSpPr/>
          <p:nvPr/>
        </p:nvSpPr>
        <p:spPr bwMode="auto">
          <a:xfrm>
            <a:off x="3810000" y="11906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 fill="norm" stroke="1" extrusionOk="0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4FC3F7">
                <a:alpha val="30000"/>
              </a:srgbClr>
            </a:solidFill>
          </a:ln>
        </p:spPr>
      </p:sp>
      <p:sp>
        <p:nvSpPr>
          <p:cNvPr id="1893033628" name="TextBox 8"/>
          <p:cNvSpPr txBox="1"/>
          <p:nvPr/>
        </p:nvSpPr>
        <p:spPr bwMode="auto">
          <a:xfrm>
            <a:off x="4077605" y="1330642"/>
            <a:ext cx="40367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35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巩固理论知识 · 提升实践能力 · 培养工程思维</a:t>
            </a:r>
            <a:endParaRPr/>
          </a:p>
        </p:txBody>
      </p:sp>
      <p:grpSp>
        <p:nvGrpSpPr>
          <p:cNvPr id="2115329792" name="Group 17"/>
          <p:cNvGrpSpPr/>
          <p:nvPr/>
        </p:nvGrpSpPr>
        <p:grpSpPr bwMode="auto">
          <a:xfrm>
            <a:off x="762000" y="1905000"/>
            <a:ext cx="2571750" cy="2381250"/>
            <a:chOff x="762000" y="1905000"/>
            <a:chExt cx="2571750" cy="2381250"/>
          </a:xfrm>
        </p:grpSpPr>
        <p:sp>
          <p:nvSpPr>
            <p:cNvPr id="9" name="Rectangle 9"/>
            <p:cNvSpPr/>
            <p:nvPr/>
          </p:nvSpPr>
          <p:spPr bwMode="auto">
            <a:xfrm>
              <a:off x="76200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 bwMode="auto">
            <a:xfrm>
              <a:off x="180975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4FC3F7">
                  <a:alpha val="5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1988965" y="2231708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650" b="1">
                  <a:solidFill>
                    <a:srgbClr val="4FC3F7"/>
                  </a:solidFill>
                  <a:latin typeface="Georgia"/>
                  <a:ea typeface="Microsoft YaHei"/>
                  <a:cs typeface="Georgia"/>
                </a:rPr>
                <a:t>1</a:t>
              </a:r>
              <a:endParaRPr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156876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技术层面</a:t>
              </a:r>
              <a:endParaRPr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1034415" y="31251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网络编程与Socket API</a:t>
              </a:r>
              <a:endParaRPr/>
            </a:p>
          </p:txBody>
        </p:sp>
        <p:sp>
          <p:nvSpPr>
            <p:cNvPr id="14" name="TextBox 14"/>
            <p:cNvSpPr txBox="1"/>
            <p:nvPr/>
          </p:nvSpPr>
          <p:spPr bwMode="auto">
            <a:xfrm>
              <a:off x="1034415" y="33918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多线程并发处理</a:t>
              </a: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1034415" y="36585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二进制协议设计</a:t>
              </a:r>
              <a:endParaRPr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1034415" y="3925252"/>
              <a:ext cx="11921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CRC32数据校验</a:t>
              </a:r>
              <a:endParaRPr/>
            </a:p>
          </p:txBody>
        </p:sp>
      </p:grpSp>
      <p:grpSp>
        <p:nvGrpSpPr>
          <p:cNvPr id="1378486992" name="Group 26"/>
          <p:cNvGrpSpPr/>
          <p:nvPr/>
        </p:nvGrpSpPr>
        <p:grpSpPr bwMode="auto">
          <a:xfrm>
            <a:off x="3524250" y="1905000"/>
            <a:ext cx="2571750" cy="2381250"/>
            <a:chOff x="3524250" y="1905000"/>
            <a:chExt cx="2571750" cy="2381250"/>
          </a:xfrm>
        </p:grpSpPr>
        <p:sp>
          <p:nvSpPr>
            <p:cNvPr id="18" name="Rectangle 18"/>
            <p:cNvSpPr/>
            <p:nvPr/>
          </p:nvSpPr>
          <p:spPr bwMode="auto">
            <a:xfrm>
              <a:off x="352425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 bwMode="auto">
            <a:xfrm>
              <a:off x="457200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4719586" y="22317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650" b="1">
                  <a:solidFill>
                    <a:srgbClr val="1A73E8"/>
                  </a:solidFill>
                  <a:latin typeface="Georgia"/>
                  <a:ea typeface="Microsoft YaHei"/>
                  <a:cs typeface="Georgia"/>
                </a:rPr>
                <a:t>2</a:t>
              </a:r>
              <a:endParaRPr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433101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工程层面</a:t>
              </a:r>
              <a:endParaRPr/>
            </a:p>
          </p:txBody>
        </p:sp>
        <p:sp>
          <p:nvSpPr>
            <p:cNvPr id="22" name="TextBox 22"/>
            <p:cNvSpPr txBox="1"/>
            <p:nvPr/>
          </p:nvSpPr>
          <p:spPr bwMode="auto">
            <a:xfrm>
              <a:off x="379666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模块化代码组织</a:t>
              </a: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3796665" y="33918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测试自动化执行</a:t>
              </a:r>
              <a:endParaRPr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3796665" y="36585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编译期断言验证</a:t>
              </a:r>
              <a:endParaRPr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3796665" y="39252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接口设计规范</a:t>
              </a:r>
              <a:endParaRPr/>
            </a:p>
          </p:txBody>
        </p:sp>
      </p:grpSp>
      <p:grpSp>
        <p:nvGrpSpPr>
          <p:cNvPr id="1098084075" name="Group 35"/>
          <p:cNvGrpSpPr/>
          <p:nvPr/>
        </p:nvGrpSpPr>
        <p:grpSpPr bwMode="auto">
          <a:xfrm>
            <a:off x="6286500" y="1905000"/>
            <a:ext cx="2571750" cy="2381250"/>
            <a:chOff x="6286500" y="1905000"/>
            <a:chExt cx="2571750" cy="2381250"/>
          </a:xfrm>
        </p:grpSpPr>
        <p:sp>
          <p:nvSpPr>
            <p:cNvPr id="27" name="Rectangle 27"/>
            <p:cNvSpPr/>
            <p:nvPr/>
          </p:nvSpPr>
          <p:spPr bwMode="auto">
            <a:xfrm>
              <a:off x="628650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 bwMode="auto">
            <a:xfrm>
              <a:off x="733425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FF6B35">
                  <a:alpha val="5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 bwMode="auto">
            <a:xfrm>
              <a:off x="7481836" y="22317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650" b="1">
                  <a:solidFill>
                    <a:srgbClr val="FF6B35"/>
                  </a:solidFill>
                  <a:latin typeface="Georgia"/>
                  <a:ea typeface="Microsoft YaHei"/>
                  <a:cs typeface="Georgia"/>
                </a:rPr>
                <a:t>3</a:t>
              </a:r>
              <a:endParaRPr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09326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安全层面</a:t>
              </a:r>
              <a:endParaRPr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655891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输入验证与防护</a:t>
              </a: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6558915" y="33918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路径遍历攻击防护</a:t>
              </a:r>
              <a:endParaRPr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6558915" y="36585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文件操作权限控制</a:t>
              </a:r>
              <a:endParaRPr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6558915" y="39252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数据完整性保障</a:t>
              </a:r>
              <a:endParaRPr/>
            </a:p>
          </p:txBody>
        </p:sp>
      </p:grpSp>
      <p:grpSp>
        <p:nvGrpSpPr>
          <p:cNvPr id="486947583" name="Group 44"/>
          <p:cNvGrpSpPr/>
          <p:nvPr/>
        </p:nvGrpSpPr>
        <p:grpSpPr bwMode="auto">
          <a:xfrm>
            <a:off x="9048750" y="1905000"/>
            <a:ext cx="2571750" cy="2381250"/>
            <a:chOff x="9048750" y="1905000"/>
            <a:chExt cx="2571750" cy="2381250"/>
          </a:xfrm>
        </p:grpSpPr>
        <p:sp>
          <p:nvSpPr>
            <p:cNvPr id="36" name="Rectangle 36"/>
            <p:cNvSpPr/>
            <p:nvPr/>
          </p:nvSpPr>
          <p:spPr bwMode="auto">
            <a:xfrm>
              <a:off x="9048750" y="1905000"/>
              <a:ext cx="2571750" cy="238125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 bwMode="auto">
            <a:xfrm>
              <a:off x="10096500" y="2095500"/>
              <a:ext cx="476250" cy="476250"/>
            </a:xfrm>
            <a:prstGeom prst="ellipse">
              <a:avLst/>
            </a:prstGeom>
            <a:noFill/>
            <a:ln w="19050">
              <a:solidFill>
                <a:srgbClr val="4CAF50">
                  <a:alpha val="5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10244086" y="223170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650" b="1">
                  <a:solidFill>
                    <a:srgbClr val="4CAF50"/>
                  </a:solidFill>
                  <a:latin typeface="Georgia"/>
                  <a:ea typeface="Microsoft YaHei"/>
                  <a:cs typeface="Georgia"/>
                </a:rPr>
                <a:t>4</a:t>
              </a:r>
              <a:endParaRPr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9855518" y="2695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500" b="1">
                  <a:solidFill>
                    <a:srgbClr val="FFFFFF"/>
                  </a:solidFill>
                  <a:latin typeface="Georgia"/>
                  <a:ea typeface="Microsoft YaHei"/>
                  <a:cs typeface="Georgia"/>
                </a:rPr>
                <a:t>实践收获</a:t>
              </a:r>
              <a:endParaRPr/>
            </a:p>
          </p:txBody>
        </p:sp>
        <p:sp>
          <p:nvSpPr>
            <p:cNvPr id="40" name="TextBox 40"/>
            <p:cNvSpPr txBox="1"/>
            <p:nvPr/>
          </p:nvSpPr>
          <p:spPr bwMode="auto">
            <a:xfrm>
              <a:off x="9321165" y="31251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调试能力提升</a:t>
              </a:r>
              <a:endParaRPr/>
            </a:p>
          </p:txBody>
        </p:sp>
        <p:sp>
          <p:nvSpPr>
            <p:cNvPr id="41" name="TextBox 41"/>
            <p:cNvSpPr txBox="1"/>
            <p:nvPr/>
          </p:nvSpPr>
          <p:spPr bwMode="auto">
            <a:xfrm>
              <a:off x="9321165" y="33918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问题解决经验</a:t>
              </a:r>
              <a:endParaRPr/>
            </a:p>
          </p:txBody>
        </p:sp>
        <p:sp>
          <p:nvSpPr>
            <p:cNvPr id="42" name="TextBox 42"/>
            <p:cNvSpPr txBox="1"/>
            <p:nvPr/>
          </p:nvSpPr>
          <p:spPr bwMode="auto">
            <a:xfrm>
              <a:off x="9321165" y="365855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工程思维培养</a:t>
              </a:r>
              <a:endParaRPr/>
            </a:p>
          </p:txBody>
        </p:sp>
        <p:sp>
          <p:nvSpPr>
            <p:cNvPr id="43" name="TextBox 43"/>
            <p:cNvSpPr txBox="1"/>
            <p:nvPr/>
          </p:nvSpPr>
          <p:spPr bwMode="auto">
            <a:xfrm>
              <a:off x="9321165" y="3925252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defRPr/>
              </a:pPr>
              <a:r>
                <a:rPr lang="zh-CN" sz="1050">
                  <a:solidFill>
                    <a:srgbClr val="B0BEC5"/>
                  </a:solidFill>
                  <a:latin typeface="Arial"/>
                  <a:ea typeface="Microsoft YaHei"/>
                  <a:cs typeface="Arial"/>
                </a:rPr>
                <a:t>- SIGPIPE等实战经验</a:t>
              </a:r>
              <a:endParaRPr/>
            </a:p>
          </p:txBody>
        </p:sp>
      </p:grpSp>
      <p:sp>
        <p:nvSpPr>
          <p:cNvPr id="1788422736" name="Rectangle 45"/>
          <p:cNvSpPr/>
          <p:nvPr/>
        </p:nvSpPr>
        <p:spPr bwMode="auto">
          <a:xfrm>
            <a:off x="762000" y="4572000"/>
            <a:ext cx="10858500" cy="952500"/>
          </a:xfrm>
          <a:prstGeom prst="roundRect">
            <a:avLst>
              <a:gd name="adj" fmla="val 10000"/>
            </a:avLst>
          </a:prstGeom>
          <a:solidFill>
            <a:srgbClr val="1A73E8">
              <a:alpha val="15000"/>
            </a:srgbClr>
          </a:solidFill>
          <a:ln>
            <a:noFill/>
          </a:ln>
        </p:spPr>
      </p:sp>
      <p:sp>
        <p:nvSpPr>
          <p:cNvPr id="1328879096" name="TextBox 46"/>
          <p:cNvSpPr txBox="1"/>
          <p:nvPr/>
        </p:nvSpPr>
        <p:spPr bwMode="auto">
          <a:xfrm>
            <a:off x="5712142" y="47434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500" b="1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关键收获</a:t>
            </a:r>
            <a:endParaRPr/>
          </a:p>
        </p:txBody>
      </p:sp>
      <p:sp>
        <p:nvSpPr>
          <p:cNvPr id="1729944286" name="TextBox 47"/>
          <p:cNvSpPr txBox="1"/>
          <p:nvPr/>
        </p:nvSpPr>
        <p:spPr bwMode="auto">
          <a:xfrm>
            <a:off x="3342680" y="5117306"/>
            <a:ext cx="56971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1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从协议设计到功能实现的完整开发经历 · 深入理解TCP/IP协议栈和Socket编程</a:t>
            </a:r>
            <a:endParaRPr/>
          </a:p>
        </p:txBody>
      </p:sp>
      <p:sp>
        <p:nvSpPr>
          <p:cNvPr id="1802533799" name="TextBox 48"/>
          <p:cNvSpPr txBox="1"/>
          <p:nvPr/>
        </p:nvSpPr>
        <p:spPr bwMode="auto">
          <a:xfrm>
            <a:off x="3794522" y="5326856"/>
            <a:ext cx="47934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1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积累实践经验：SIGPIPE、内存泄漏、TCP粘包等问题的调试与解决</a:t>
            </a:r>
            <a:endParaRPr/>
          </a:p>
        </p:txBody>
      </p:sp>
      <p:sp>
        <p:nvSpPr>
          <p:cNvPr id="286195157" name="Rectangle 49"/>
          <p:cNvSpPr/>
          <p:nvPr/>
        </p:nvSpPr>
        <p:spPr bwMode="auto">
          <a:xfrm>
            <a:off x="762000" y="5810250"/>
            <a:ext cx="10858500" cy="476250"/>
          </a:xfrm>
          <a:prstGeom prst="roundRect">
            <a:avLst>
              <a:gd name="adj" fmla="val 16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554003721" name="TextBox 50"/>
          <p:cNvSpPr txBox="1"/>
          <p:nvPr/>
        </p:nvSpPr>
        <p:spPr bwMode="auto">
          <a:xfrm>
            <a:off x="5712142" y="59531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500" b="1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谢谢老师</a:t>
            </a:r>
            <a:endParaRPr/>
          </a:p>
        </p:txBody>
      </p:sp>
      <p:sp>
        <p:nvSpPr>
          <p:cNvPr id="1871322603" name="TextBox 51"/>
          <p:cNvSpPr txBox="1"/>
          <p:nvPr/>
        </p:nvSpPr>
        <p:spPr bwMode="auto">
          <a:xfrm>
            <a:off x="10695908" y="6458902"/>
            <a:ext cx="747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1050">
                <a:solidFill>
                  <a:srgbClr val="4FC3F7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Thank You</a:t>
            </a:r>
            <a:endParaRPr/>
          </a:p>
        </p:txBody>
      </p:sp>
      <p:sp>
        <p:nvSpPr>
          <p:cNvPr id="550957087" name="TextBox 52"/>
          <p:cNvSpPr txBox="1"/>
          <p:nvPr/>
        </p:nvSpPr>
        <p:spPr bwMode="auto"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>
              <a:defRPr/>
            </a:pPr>
            <a:r>
              <a:rPr lang="zh-CN" sz="750">
                <a:solidFill>
                  <a:srgbClr val="B0BEC5"/>
                </a:solidFill>
                <a:latin typeface="Arial"/>
                <a:ea typeface="Microsoft YaHei"/>
                <a:cs typeface="Arial"/>
              </a:rPr>
              <a:t>14 / 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4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32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15329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8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7848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08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09808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94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8694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5329792" grpId="0"/>
      <p:bldP spid="1378486992" grpId="0"/>
      <p:bldP spid="1098084075" grpId="0"/>
      <p:bldP spid="486947583" grpId="0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2026-05-20T01:03:53Z</dcterms:modified>
  <cp:category/>
</cp:coreProperties>
</file>